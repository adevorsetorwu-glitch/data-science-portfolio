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4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torwu Yaa Adevor" userId="38181861c5210dd7" providerId="LiveId" clId="{C2BBD660-7BCD-405B-8C52-7BFFBB4B26B5}"/>
    <pc:docChg chg="custSel modSld">
      <pc:chgData name="Setorwu Yaa Adevor" userId="38181861c5210dd7" providerId="LiveId" clId="{C2BBD660-7BCD-405B-8C52-7BFFBB4B26B5}" dt="2026-06-08T22:28:21.097" v="1" actId="14100"/>
      <pc:docMkLst>
        <pc:docMk/>
      </pc:docMkLst>
      <pc:sldChg chg="modSp mod">
        <pc:chgData name="Setorwu Yaa Adevor" userId="38181861c5210dd7" providerId="LiveId" clId="{C2BBD660-7BCD-405B-8C52-7BFFBB4B26B5}" dt="2026-06-08T22:25:42.152" v="0" actId="26606"/>
        <pc:sldMkLst>
          <pc:docMk/>
          <pc:sldMk cId="0" sldId="259"/>
        </pc:sldMkLst>
        <pc:spChg chg="mod">
          <ac:chgData name="Setorwu Yaa Adevor" userId="38181861c5210dd7" providerId="LiveId" clId="{C2BBD660-7BCD-405B-8C52-7BFFBB4B26B5}" dt="2026-06-08T22:25:42.152" v="0" actId="26606"/>
          <ac:spMkLst>
            <pc:docMk/>
            <pc:sldMk cId="0" sldId="259"/>
            <ac:spMk id="28" creationId="{00000000-0000-0000-0000-000000000000}"/>
          </ac:spMkLst>
        </pc:spChg>
        <pc:spChg chg="mod">
          <ac:chgData name="Setorwu Yaa Adevor" userId="38181861c5210dd7" providerId="LiveId" clId="{C2BBD660-7BCD-405B-8C52-7BFFBB4B26B5}" dt="2026-06-08T22:25:42.152" v="0" actId="26606"/>
          <ac:spMkLst>
            <pc:docMk/>
            <pc:sldMk cId="0" sldId="259"/>
            <ac:spMk id="33" creationId="{00000000-0000-0000-0000-000000000000}"/>
          </ac:spMkLst>
        </pc:spChg>
      </pc:sldChg>
      <pc:sldChg chg="modSp mod">
        <pc:chgData name="Setorwu Yaa Adevor" userId="38181861c5210dd7" providerId="LiveId" clId="{C2BBD660-7BCD-405B-8C52-7BFFBB4B26B5}" dt="2026-06-08T22:25:42.152" v="0" actId="26606"/>
        <pc:sldMkLst>
          <pc:docMk/>
          <pc:sldMk cId="0" sldId="260"/>
        </pc:sldMkLst>
        <pc:spChg chg="mod">
          <ac:chgData name="Setorwu Yaa Adevor" userId="38181861c5210dd7" providerId="LiveId" clId="{C2BBD660-7BCD-405B-8C52-7BFFBB4B26B5}" dt="2026-06-08T22:25:42.152" v="0" actId="2660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Setorwu Yaa Adevor" userId="38181861c5210dd7" providerId="LiveId" clId="{C2BBD660-7BCD-405B-8C52-7BFFBB4B26B5}" dt="2026-06-08T22:25:42.152" v="0" actId="26606"/>
          <ac:spMkLst>
            <pc:docMk/>
            <pc:sldMk cId="0" sldId="260"/>
            <ac:spMk id="17" creationId="{00000000-0000-0000-0000-000000000000}"/>
          </ac:spMkLst>
        </pc:spChg>
      </pc:sldChg>
      <pc:sldChg chg="modSp mod">
        <pc:chgData name="Setorwu Yaa Adevor" userId="38181861c5210dd7" providerId="LiveId" clId="{C2BBD660-7BCD-405B-8C52-7BFFBB4B26B5}" dt="2026-06-08T22:25:42.152" v="0" actId="26606"/>
        <pc:sldMkLst>
          <pc:docMk/>
          <pc:sldMk cId="0" sldId="261"/>
        </pc:sldMkLst>
        <pc:spChg chg="mod">
          <ac:chgData name="Setorwu Yaa Adevor" userId="38181861c5210dd7" providerId="LiveId" clId="{C2BBD660-7BCD-405B-8C52-7BFFBB4B26B5}" dt="2026-06-08T22:25:42.152" v="0" actId="2660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Setorwu Yaa Adevor" userId="38181861c5210dd7" providerId="LiveId" clId="{C2BBD660-7BCD-405B-8C52-7BFFBB4B26B5}" dt="2026-06-08T22:25:42.152" v="0" actId="26606"/>
          <ac:spMkLst>
            <pc:docMk/>
            <pc:sldMk cId="0" sldId="261"/>
            <ac:spMk id="17" creationId="{00000000-0000-0000-0000-000000000000}"/>
          </ac:spMkLst>
        </pc:spChg>
      </pc:sldChg>
      <pc:sldChg chg="modSp mod">
        <pc:chgData name="Setorwu Yaa Adevor" userId="38181861c5210dd7" providerId="LiveId" clId="{C2BBD660-7BCD-405B-8C52-7BFFBB4B26B5}" dt="2026-06-08T22:25:42.152" v="0" actId="26606"/>
        <pc:sldMkLst>
          <pc:docMk/>
          <pc:sldMk cId="0" sldId="262"/>
        </pc:sldMkLst>
        <pc:spChg chg="mod">
          <ac:chgData name="Setorwu Yaa Adevor" userId="38181861c5210dd7" providerId="LiveId" clId="{C2BBD660-7BCD-405B-8C52-7BFFBB4B26B5}" dt="2026-06-08T22:25:42.152" v="0" actId="2660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Setorwu Yaa Adevor" userId="38181861c5210dd7" providerId="LiveId" clId="{C2BBD660-7BCD-405B-8C52-7BFFBB4B26B5}" dt="2026-06-08T22:25:42.152" v="0" actId="26606"/>
          <ac:spMkLst>
            <pc:docMk/>
            <pc:sldMk cId="0" sldId="262"/>
            <ac:spMk id="17" creationId="{00000000-0000-0000-0000-000000000000}"/>
          </ac:spMkLst>
        </pc:spChg>
      </pc:sldChg>
      <pc:sldChg chg="modSp mod">
        <pc:chgData name="Setorwu Yaa Adevor" userId="38181861c5210dd7" providerId="LiveId" clId="{C2BBD660-7BCD-405B-8C52-7BFFBB4B26B5}" dt="2026-06-08T22:25:42.152" v="0" actId="26606"/>
        <pc:sldMkLst>
          <pc:docMk/>
          <pc:sldMk cId="0" sldId="263"/>
        </pc:sldMkLst>
        <pc:spChg chg="mod">
          <ac:chgData name="Setorwu Yaa Adevor" userId="38181861c5210dd7" providerId="LiveId" clId="{C2BBD660-7BCD-405B-8C52-7BFFBB4B26B5}" dt="2026-06-08T22:25:42.152" v="0" actId="26606"/>
          <ac:spMkLst>
            <pc:docMk/>
            <pc:sldMk cId="0" sldId="263"/>
            <ac:spMk id="12" creationId="{00000000-0000-0000-0000-000000000000}"/>
          </ac:spMkLst>
        </pc:spChg>
        <pc:spChg chg="mod">
          <ac:chgData name="Setorwu Yaa Adevor" userId="38181861c5210dd7" providerId="LiveId" clId="{C2BBD660-7BCD-405B-8C52-7BFFBB4B26B5}" dt="2026-06-08T22:25:42.152" v="0" actId="26606"/>
          <ac:spMkLst>
            <pc:docMk/>
            <pc:sldMk cId="0" sldId="263"/>
            <ac:spMk id="17" creationId="{00000000-0000-0000-0000-000000000000}"/>
          </ac:spMkLst>
        </pc:spChg>
        <pc:spChg chg="mod">
          <ac:chgData name="Setorwu Yaa Adevor" userId="38181861c5210dd7" providerId="LiveId" clId="{C2BBD660-7BCD-405B-8C52-7BFFBB4B26B5}" dt="2026-06-08T22:25:42.152" v="0" actId="26606"/>
          <ac:spMkLst>
            <pc:docMk/>
            <pc:sldMk cId="0" sldId="263"/>
            <ac:spMk id="19" creationId="{00000000-0000-0000-0000-000000000000}"/>
          </ac:spMkLst>
        </pc:spChg>
        <pc:spChg chg="mod">
          <ac:chgData name="Setorwu Yaa Adevor" userId="38181861c5210dd7" providerId="LiveId" clId="{C2BBD660-7BCD-405B-8C52-7BFFBB4B26B5}" dt="2026-06-08T22:25:42.152" v="0" actId="26606"/>
          <ac:spMkLst>
            <pc:docMk/>
            <pc:sldMk cId="0" sldId="263"/>
            <ac:spMk id="24" creationId="{00000000-0000-0000-0000-000000000000}"/>
          </ac:spMkLst>
        </pc:spChg>
      </pc:sldChg>
      <pc:sldChg chg="modSp mod">
        <pc:chgData name="Setorwu Yaa Adevor" userId="38181861c5210dd7" providerId="LiveId" clId="{C2BBD660-7BCD-405B-8C52-7BFFBB4B26B5}" dt="2026-06-08T22:28:21.097" v="1" actId="14100"/>
        <pc:sldMkLst>
          <pc:docMk/>
          <pc:sldMk cId="0" sldId="264"/>
        </pc:sldMkLst>
        <pc:spChg chg="mod">
          <ac:chgData name="Setorwu Yaa Adevor" userId="38181861c5210dd7" providerId="LiveId" clId="{C2BBD660-7BCD-405B-8C52-7BFFBB4B26B5}" dt="2026-06-08T22:28:21.097" v="1" actId="14100"/>
          <ac:spMkLst>
            <pc:docMk/>
            <pc:sldMk cId="0" sldId="264"/>
            <ac:spMk id="12" creationId="{00000000-0000-0000-0000-000000000000}"/>
          </ac:spMkLst>
        </pc:spChg>
        <pc:spChg chg="mod">
          <ac:chgData name="Setorwu Yaa Adevor" userId="38181861c5210dd7" providerId="LiveId" clId="{C2BBD660-7BCD-405B-8C52-7BFFBB4B26B5}" dt="2026-06-08T22:25:42.152" v="0" actId="26606"/>
          <ac:spMkLst>
            <pc:docMk/>
            <pc:sldMk cId="0" sldId="264"/>
            <ac:spMk id="17" creationId="{00000000-0000-0000-0000-000000000000}"/>
          </ac:spMkLst>
        </pc:spChg>
        <pc:spChg chg="mod">
          <ac:chgData name="Setorwu Yaa Adevor" userId="38181861c5210dd7" providerId="LiveId" clId="{C2BBD660-7BCD-405B-8C52-7BFFBB4B26B5}" dt="2026-06-08T22:25:42.152" v="0" actId="26606"/>
          <ac:spMkLst>
            <pc:docMk/>
            <pc:sldMk cId="0" sldId="264"/>
            <ac:spMk id="19" creationId="{00000000-0000-0000-0000-000000000000}"/>
          </ac:spMkLst>
        </pc:spChg>
        <pc:spChg chg="mod">
          <ac:chgData name="Setorwu Yaa Adevor" userId="38181861c5210dd7" providerId="LiveId" clId="{C2BBD660-7BCD-405B-8C52-7BFFBB4B26B5}" dt="2026-06-08T22:25:42.152" v="0" actId="26606"/>
          <ac:spMkLst>
            <pc:docMk/>
            <pc:sldMk cId="0" sldId="264"/>
            <ac:spMk id="24" creationId="{00000000-0000-0000-0000-000000000000}"/>
          </ac:spMkLst>
        </pc:spChg>
      </pc:sldChg>
      <pc:sldChg chg="modSp mod">
        <pc:chgData name="Setorwu Yaa Adevor" userId="38181861c5210dd7" providerId="LiveId" clId="{C2BBD660-7BCD-405B-8C52-7BFFBB4B26B5}" dt="2026-06-08T22:25:42.152" v="0" actId="26606"/>
        <pc:sldMkLst>
          <pc:docMk/>
          <pc:sldMk cId="0" sldId="265"/>
        </pc:sldMkLst>
        <pc:spChg chg="mod">
          <ac:chgData name="Setorwu Yaa Adevor" userId="38181861c5210dd7" providerId="LiveId" clId="{C2BBD660-7BCD-405B-8C52-7BFFBB4B26B5}" dt="2026-06-08T22:25:42.152" v="0" actId="26606"/>
          <ac:spMkLst>
            <pc:docMk/>
            <pc:sldMk cId="0" sldId="265"/>
            <ac:spMk id="12" creationId="{00000000-0000-0000-0000-000000000000}"/>
          </ac:spMkLst>
        </pc:spChg>
        <pc:spChg chg="mod">
          <ac:chgData name="Setorwu Yaa Adevor" userId="38181861c5210dd7" providerId="LiveId" clId="{C2BBD660-7BCD-405B-8C52-7BFFBB4B26B5}" dt="2026-06-08T22:25:42.152" v="0" actId="26606"/>
          <ac:spMkLst>
            <pc:docMk/>
            <pc:sldMk cId="0" sldId="265"/>
            <ac:spMk id="17" creationId="{00000000-0000-0000-0000-000000000000}"/>
          </ac:spMkLst>
        </pc:spChg>
        <pc:spChg chg="mod">
          <ac:chgData name="Setorwu Yaa Adevor" userId="38181861c5210dd7" providerId="LiveId" clId="{C2BBD660-7BCD-405B-8C52-7BFFBB4B26B5}" dt="2026-06-08T22:25:42.152" v="0" actId="26606"/>
          <ac:spMkLst>
            <pc:docMk/>
            <pc:sldMk cId="0" sldId="265"/>
            <ac:spMk id="19" creationId="{00000000-0000-0000-0000-000000000000}"/>
          </ac:spMkLst>
        </pc:spChg>
        <pc:spChg chg="mod">
          <ac:chgData name="Setorwu Yaa Adevor" userId="38181861c5210dd7" providerId="LiveId" clId="{C2BBD660-7BCD-405B-8C52-7BFFBB4B26B5}" dt="2026-06-08T22:25:42.152" v="0" actId="26606"/>
          <ac:spMkLst>
            <pc:docMk/>
            <pc:sldMk cId="0" sldId="265"/>
            <ac:spMk id="24" creationId="{00000000-0000-0000-0000-000000000000}"/>
          </ac:spMkLst>
        </pc:spChg>
      </pc:sldChg>
      <pc:sldChg chg="modSp mod">
        <pc:chgData name="Setorwu Yaa Adevor" userId="38181861c5210dd7" providerId="LiveId" clId="{C2BBD660-7BCD-405B-8C52-7BFFBB4B26B5}" dt="2026-06-08T22:25:42.152" v="0" actId="26606"/>
        <pc:sldMkLst>
          <pc:docMk/>
          <pc:sldMk cId="0" sldId="266"/>
        </pc:sldMkLst>
        <pc:spChg chg="mod">
          <ac:chgData name="Setorwu Yaa Adevor" userId="38181861c5210dd7" providerId="LiveId" clId="{C2BBD660-7BCD-405B-8C52-7BFFBB4B26B5}" dt="2026-06-08T22:25:42.152" v="0" actId="26606"/>
          <ac:spMkLst>
            <pc:docMk/>
            <pc:sldMk cId="0" sldId="266"/>
            <ac:spMk id="12" creationId="{00000000-0000-0000-0000-000000000000}"/>
          </ac:spMkLst>
        </pc:spChg>
        <pc:spChg chg="mod">
          <ac:chgData name="Setorwu Yaa Adevor" userId="38181861c5210dd7" providerId="LiveId" clId="{C2BBD660-7BCD-405B-8C52-7BFFBB4B26B5}" dt="2026-06-08T22:25:42.152" v="0" actId="26606"/>
          <ac:spMkLst>
            <pc:docMk/>
            <pc:sldMk cId="0" sldId="266"/>
            <ac:spMk id="17" creationId="{00000000-0000-0000-0000-000000000000}"/>
          </ac:spMkLst>
        </pc:spChg>
      </pc:sldChg>
      <pc:sldChg chg="modSp mod">
        <pc:chgData name="Setorwu Yaa Adevor" userId="38181861c5210dd7" providerId="LiveId" clId="{C2BBD660-7BCD-405B-8C52-7BFFBB4B26B5}" dt="2026-06-08T22:25:42.152" v="0" actId="26606"/>
        <pc:sldMkLst>
          <pc:docMk/>
          <pc:sldMk cId="0" sldId="267"/>
        </pc:sldMkLst>
        <pc:spChg chg="mod">
          <ac:chgData name="Setorwu Yaa Adevor" userId="38181861c5210dd7" providerId="LiveId" clId="{C2BBD660-7BCD-405B-8C52-7BFFBB4B26B5}" dt="2026-06-08T22:25:42.152" v="0" actId="26606"/>
          <ac:spMkLst>
            <pc:docMk/>
            <pc:sldMk cId="0" sldId="267"/>
            <ac:spMk id="12" creationId="{00000000-0000-0000-0000-000000000000}"/>
          </ac:spMkLst>
        </pc:spChg>
        <pc:spChg chg="mod">
          <ac:chgData name="Setorwu Yaa Adevor" userId="38181861c5210dd7" providerId="LiveId" clId="{C2BBD660-7BCD-405B-8C52-7BFFBB4B26B5}" dt="2026-06-08T22:25:42.152" v="0" actId="26606"/>
          <ac:spMkLst>
            <pc:docMk/>
            <pc:sldMk cId="0" sldId="267"/>
            <ac:spMk id="17" creationId="{00000000-0000-0000-0000-000000000000}"/>
          </ac:spMkLst>
        </pc:spChg>
      </pc:sldChg>
      <pc:sldChg chg="modSp mod">
        <pc:chgData name="Setorwu Yaa Adevor" userId="38181861c5210dd7" providerId="LiveId" clId="{C2BBD660-7BCD-405B-8C52-7BFFBB4B26B5}" dt="2026-06-08T22:25:42.152" v="0" actId="26606"/>
        <pc:sldMkLst>
          <pc:docMk/>
          <pc:sldMk cId="0" sldId="268"/>
        </pc:sldMkLst>
        <pc:spChg chg="mod">
          <ac:chgData name="Setorwu Yaa Adevor" userId="38181861c5210dd7" providerId="LiveId" clId="{C2BBD660-7BCD-405B-8C52-7BFFBB4B26B5}" dt="2026-06-08T22:25:42.152" v="0" actId="26606"/>
          <ac:spMkLst>
            <pc:docMk/>
            <pc:sldMk cId="0" sldId="268"/>
            <ac:spMk id="12" creationId="{00000000-0000-0000-0000-000000000000}"/>
          </ac:spMkLst>
        </pc:spChg>
        <pc:spChg chg="mod">
          <ac:chgData name="Setorwu Yaa Adevor" userId="38181861c5210dd7" providerId="LiveId" clId="{C2BBD660-7BCD-405B-8C52-7BFFBB4B26B5}" dt="2026-06-08T22:25:42.152" v="0" actId="26606"/>
          <ac:spMkLst>
            <pc:docMk/>
            <pc:sldMk cId="0" sldId="268"/>
            <ac:spMk id="17" creationId="{00000000-0000-0000-0000-000000000000}"/>
          </ac:spMkLst>
        </pc:spChg>
      </pc:sldChg>
      <pc:sldChg chg="modSp mod">
        <pc:chgData name="Setorwu Yaa Adevor" userId="38181861c5210dd7" providerId="LiveId" clId="{C2BBD660-7BCD-405B-8C52-7BFFBB4B26B5}" dt="2026-06-08T22:25:42.152" v="0" actId="26606"/>
        <pc:sldMkLst>
          <pc:docMk/>
          <pc:sldMk cId="0" sldId="269"/>
        </pc:sldMkLst>
        <pc:spChg chg="mod">
          <ac:chgData name="Setorwu Yaa Adevor" userId="38181861c5210dd7" providerId="LiveId" clId="{C2BBD660-7BCD-405B-8C52-7BFFBB4B26B5}" dt="2026-06-08T22:25:42.152" v="0" actId="26606"/>
          <ac:spMkLst>
            <pc:docMk/>
            <pc:sldMk cId="0" sldId="269"/>
            <ac:spMk id="12" creationId="{00000000-0000-0000-0000-000000000000}"/>
          </ac:spMkLst>
        </pc:spChg>
        <pc:spChg chg="mod">
          <ac:chgData name="Setorwu Yaa Adevor" userId="38181861c5210dd7" providerId="LiveId" clId="{C2BBD660-7BCD-405B-8C52-7BFFBB4B26B5}" dt="2026-06-08T22:25:42.152" v="0" actId="26606"/>
          <ac:spMkLst>
            <pc:docMk/>
            <pc:sldMk cId="0" sldId="269"/>
            <ac:spMk id="17" creationId="{00000000-0000-0000-0000-000000000000}"/>
          </ac:spMkLst>
        </pc:spChg>
      </pc:sldChg>
      <pc:sldChg chg="modSp mod">
        <pc:chgData name="Setorwu Yaa Adevor" userId="38181861c5210dd7" providerId="LiveId" clId="{C2BBD660-7BCD-405B-8C52-7BFFBB4B26B5}" dt="2026-06-08T22:25:42.152" v="0" actId="26606"/>
        <pc:sldMkLst>
          <pc:docMk/>
          <pc:sldMk cId="0" sldId="270"/>
        </pc:sldMkLst>
        <pc:spChg chg="mod">
          <ac:chgData name="Setorwu Yaa Adevor" userId="38181861c5210dd7" providerId="LiveId" clId="{C2BBD660-7BCD-405B-8C52-7BFFBB4B26B5}" dt="2026-06-08T22:25:42.152" v="0" actId="26606"/>
          <ac:spMkLst>
            <pc:docMk/>
            <pc:sldMk cId="0" sldId="270"/>
            <ac:spMk id="12" creationId="{00000000-0000-0000-0000-000000000000}"/>
          </ac:spMkLst>
        </pc:spChg>
        <pc:spChg chg="mod">
          <ac:chgData name="Setorwu Yaa Adevor" userId="38181861c5210dd7" providerId="LiveId" clId="{C2BBD660-7BCD-405B-8C52-7BFFBB4B26B5}" dt="2026-06-08T22:25:42.152" v="0" actId="26606"/>
          <ac:spMkLst>
            <pc:docMk/>
            <pc:sldMk cId="0" sldId="270"/>
            <ac:spMk id="17" creationId="{00000000-0000-0000-0000-000000000000}"/>
          </ac:spMkLst>
        </pc:spChg>
        <pc:spChg chg="mod">
          <ac:chgData name="Setorwu Yaa Adevor" userId="38181861c5210dd7" providerId="LiveId" clId="{C2BBD660-7BCD-405B-8C52-7BFFBB4B26B5}" dt="2026-06-08T22:25:42.152" v="0" actId="26606"/>
          <ac:spMkLst>
            <pc:docMk/>
            <pc:sldMk cId="0" sldId="270"/>
            <ac:spMk id="19" creationId="{00000000-0000-0000-0000-000000000000}"/>
          </ac:spMkLst>
        </pc:spChg>
        <pc:spChg chg="mod">
          <ac:chgData name="Setorwu Yaa Adevor" userId="38181861c5210dd7" providerId="LiveId" clId="{C2BBD660-7BCD-405B-8C52-7BFFBB4B26B5}" dt="2026-06-08T22:25:42.152" v="0" actId="26606"/>
          <ac:spMkLst>
            <pc:docMk/>
            <pc:sldMk cId="0" sldId="270"/>
            <ac:spMk id="2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5029200"/>
            <a:ext cx="4114800" cy="4114800"/>
          </a:xfrm>
          <a:prstGeom prst="ellipse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09728" cy="146304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MetroCar SQL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Project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D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Performance  •  Customer Behavior  •  Revenue Analysis  •  Service Optimization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5029200"/>
            <a:ext cx="3657600" cy="0"/>
          </a:xfrm>
          <a:prstGeom prst="line">
            <a:avLst/>
          </a:prstGeom>
          <a:noFill/>
          <a:ln w="12700">
            <a:solidFill>
              <a:srgbClr val="E0A8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5120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5349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Setorwu Yaa Adevor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5120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0" y="5349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 |  pgAdmin 4  |  SQL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92608"/>
            <a:ext cx="12191695" cy="4572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MetroCar SQL Data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0" y="6583680"/>
            <a:ext cx="4873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20095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INTRODUCTION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1536192"/>
            <a:ext cx="457200" cy="54864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6858000" cy="4389120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1828800"/>
            <a:ext cx="73152" cy="4389120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2011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METROCAR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237744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MetroCar is a ride-hailing company seeking to improve customer acquisition, operational efficiency, revenue generation, and customer satisfaction.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77240" y="4023360"/>
            <a:ext cx="6217920" cy="0"/>
          </a:xfrm>
          <a:prstGeom prst="line">
            <a:avLst/>
          </a:prstGeom>
          <a:noFill/>
          <a:ln w="952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4160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452628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uses SQL to analyze customer behavior, ride operations, transactions, and customer feedback to generate actionable business insights and recommendations.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589520" y="1828800"/>
            <a:ext cx="41148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589520" y="1828800"/>
            <a:ext cx="73152" cy="137160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818120" y="1965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818120" y="221284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818120" y="28803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operational tables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589520" y="3337560"/>
            <a:ext cx="41148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589520" y="3337560"/>
            <a:ext cx="73152" cy="137160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818120" y="3474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QUESTIONS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818120" y="37216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818120" y="43891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 answered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589520" y="4846320"/>
            <a:ext cx="41148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589520" y="4846320"/>
            <a:ext cx="73152" cy="137160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818120" y="4983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FOCUS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818120" y="52303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818120" y="58978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· Operations · Revenue · CX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92608"/>
            <a:ext cx="12191695" cy="4572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MetroCar SQL Data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0" y="6583680"/>
            <a:ext cx="4873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20095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OBJECTIVES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1536192"/>
            <a:ext cx="457200" cy="54864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3657600" cy="1325880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" y="2103120"/>
            <a:ext cx="457200" cy="457200"/>
          </a:xfrm>
          <a:prstGeom prst="ellipse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210312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conversion from app downloads to user signups.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51960" y="1920240"/>
            <a:ext cx="3657600" cy="1325880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434840" y="2103120"/>
            <a:ext cx="457200" cy="457200"/>
          </a:xfrm>
          <a:prstGeom prst="ellipse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4348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210312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customer funnel drop-off points.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0" y="1920240"/>
            <a:ext cx="3657600" cy="1325880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29600" y="2103120"/>
            <a:ext cx="457200" cy="457200"/>
          </a:xfrm>
          <a:prstGeom prst="ellipse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823960" y="210312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ride cancellations and incomplete trips.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429000"/>
            <a:ext cx="3657600" cy="1325880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40080" y="3611880"/>
            <a:ext cx="457200" cy="457200"/>
          </a:xfrm>
          <a:prstGeom prst="ellipse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34440" y="361188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peak demand periods.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251960" y="3429000"/>
            <a:ext cx="3657600" cy="1325880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434840" y="3611880"/>
            <a:ext cx="457200" cy="457200"/>
          </a:xfrm>
          <a:prstGeom prst="ellipse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4348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0" y="361188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ride completion performance.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046720" y="3429000"/>
            <a:ext cx="3657600" cy="1325880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229600" y="3611880"/>
            <a:ext cx="457200" cy="457200"/>
          </a:xfrm>
          <a:prstGeom prst="ellipse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2296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823960" y="361188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revenue generation and revenue trends.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" y="4937760"/>
            <a:ext cx="3657600" cy="1325880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40080" y="5120640"/>
            <a:ext cx="457200" cy="457200"/>
          </a:xfrm>
          <a:prstGeom prst="ellipse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008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234440" y="512064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customer ratings and reviews.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251960" y="4937760"/>
            <a:ext cx="3657600" cy="1325880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434840" y="5120640"/>
            <a:ext cx="457200" cy="457200"/>
          </a:xfrm>
          <a:prstGeom prst="ellipse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43484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029200" y="512064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drivers of customer satisfaction.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8046720" y="4937760"/>
            <a:ext cx="3657600" cy="1325880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229600" y="5120640"/>
            <a:ext cx="457200" cy="457200"/>
          </a:xfrm>
          <a:prstGeom prst="ellipse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22960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823960" y="512064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actionable business recommendations.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92608"/>
            <a:ext cx="12191695" cy="4572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MetroCar SQL Data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0" y="6583680"/>
            <a:ext cx="4873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Structure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20095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DATA FOUNDATION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Structure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1536192"/>
            <a:ext cx="457200" cy="54864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USED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5486400" cy="548640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73152" cy="54864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22402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▣  app_downloads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5486400" cy="548640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73152" cy="54864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2926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▣  signups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5486400" cy="548640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611880"/>
            <a:ext cx="73152" cy="54864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" y="36118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▣  ride_requests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4297680"/>
            <a:ext cx="5486400" cy="548640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4297680"/>
            <a:ext cx="73152" cy="54864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" y="4297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▣  transactions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" y="4983480"/>
            <a:ext cx="5486400" cy="548640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4983480"/>
            <a:ext cx="73152" cy="54864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5800" y="49834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▣  reviews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VERIFICATION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0" y="2240280"/>
            <a:ext cx="5590895" cy="125576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537960" y="2359152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675120" y="2359152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812280" y="2359152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817352" y="231343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B9A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629400" y="2606040"/>
            <a:ext cx="5225135" cy="6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40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</a:t>
            </a:r>
            <a:endParaRPr lang="en-US" sz="1400"/>
          </a:p>
          <a:p>
            <a:pPr marL="0" indent="0">
              <a:buNone/>
            </a:pPr>
            <a:r>
              <a:rPr lang="en-US" sz="1400" b="1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table_name</a:t>
            </a:r>
            <a:endParaRPr lang="en-US" sz="1400"/>
          </a:p>
          <a:p>
            <a:pPr marL="0" indent="0">
              <a:buNone/>
            </a:pPr>
            <a:r>
              <a:rPr lang="en-US" sz="1400" b="1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r>
              <a:rPr lang="en-US" sz="140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F5A9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40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/>
          </a:p>
        </p:txBody>
      </p:sp>
      <p:sp>
        <p:nvSpPr>
          <p:cNvPr id="34" name="Text 32"/>
          <p:cNvSpPr/>
          <p:nvPr/>
        </p:nvSpPr>
        <p:spPr>
          <a:xfrm>
            <a:off x="6400800" y="4251960"/>
            <a:ext cx="5330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table was inspected with a sample query to confirm schema, data types, and row availability before deeper analysis.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92608"/>
            <a:ext cx="12191695" cy="4572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MetroCar SQL Data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0" y="6583680"/>
            <a:ext cx="4873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Signup Conversion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20095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Downloads → User Signups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1536192"/>
            <a:ext cx="457200" cy="54864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057400"/>
            <a:ext cx="6900000" cy="240576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4360" y="2176272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" y="2176272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68680" y="2176272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0" y="21305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B9A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2423160"/>
            <a:ext cx="6534240" cy="18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(*)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signups)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total_signups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(*)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app_downloads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total_downloads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(*)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signups) * </a:t>
            </a:r>
            <a:r>
              <a:rPr lang="en-US" sz="1400" dirty="0">
                <a:solidFill>
                  <a:srgbClr val="F5A9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100.0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(*)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app_downloads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5A9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signup_conversion_rate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60920" y="1783080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60920" y="2103120"/>
            <a:ext cx="4370832" cy="1426464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60920" y="2103120"/>
            <a:ext cx="54864" cy="1426464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543800" y="2267712"/>
            <a:ext cx="26224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Downloads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764878" y="2267712"/>
            <a:ext cx="1788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23,608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543800" y="2651760"/>
            <a:ext cx="26224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Signups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764878" y="2651760"/>
            <a:ext cx="1788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17,623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543800" y="3035808"/>
            <a:ext cx="26224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764878" y="3035808"/>
            <a:ext cx="1788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74.65%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360920" y="3712464"/>
            <a:ext cx="4370832" cy="850392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360920" y="3712464"/>
            <a:ext cx="54864" cy="850392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543800" y="3803904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543800" y="4032504"/>
            <a:ext cx="40965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Approximately 74.65% of users who downloaded the app completed registration.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60920" y="4608576"/>
            <a:ext cx="4370832" cy="850392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360920" y="4608576"/>
            <a:ext cx="54864" cy="85039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543800" y="4700016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543800" y="4928616"/>
            <a:ext cx="40965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onboarding process is performing well and demonstrates strong customer interest.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360920" y="5504688"/>
            <a:ext cx="4370832" cy="850392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360920" y="5504688"/>
            <a:ext cx="54864" cy="850392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543800" y="5596128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543800" y="5824728"/>
            <a:ext cx="40965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optimizing signup and onboarding experiences to improve conversion further.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92608"/>
            <a:ext cx="12191695" cy="4572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MetroCar SQL Data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0" y="6583680"/>
            <a:ext cx="4873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Customer Funnel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20095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Funnel Drop-off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1536192"/>
            <a:ext cx="457200" cy="54864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057400"/>
            <a:ext cx="6900000" cy="194576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4360" y="2176272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" y="2176272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68680" y="2176272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0" y="21305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B9A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2423160"/>
            <a:ext cx="6534240" cy="1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(*)            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requested_rides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accept_ts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accepted_rides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pickup_ts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picked_up_rides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dropoff_ts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completed_rides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ride_requests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60920" y="1783080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60920" y="2103120"/>
            <a:ext cx="4370832" cy="1810512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60920" y="2103120"/>
            <a:ext cx="54864" cy="1810512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543800" y="2267712"/>
            <a:ext cx="26224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 Rides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764878" y="2267712"/>
            <a:ext cx="1788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48,700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543800" y="2651760"/>
            <a:ext cx="26224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Rides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764878" y="2651760"/>
            <a:ext cx="1788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31,452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543800" y="3035808"/>
            <a:ext cx="26224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Picked-Up Rides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764878" y="3035808"/>
            <a:ext cx="1788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28,416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543800" y="3419856"/>
            <a:ext cx="26224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Rides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764878" y="3419856"/>
            <a:ext cx="1788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28,416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360920" y="4096512"/>
            <a:ext cx="4370832" cy="722376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360920" y="4096512"/>
            <a:ext cx="54864" cy="722376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543800" y="4187952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43800" y="4416552"/>
            <a:ext cx="40965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drop-off occurs between ride request and ride acceptance.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360920" y="4864608"/>
            <a:ext cx="4370832" cy="722376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360920" y="4864608"/>
            <a:ext cx="54864" cy="722376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543800" y="4956048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543800" y="5184648"/>
            <a:ext cx="40965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availability and ride matching appear to be major bottlenecks.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360920" y="5632704"/>
            <a:ext cx="4370832" cy="722376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360920" y="5632704"/>
            <a:ext cx="54864" cy="722376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543800" y="5724144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543800" y="5952744"/>
            <a:ext cx="40965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dispatch efficiency and increase driver supply.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92608"/>
            <a:ext cx="12191695" cy="4572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MetroCar SQL Data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0" y="6583680"/>
            <a:ext cx="4873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Cancellations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20095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03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Cancellations &amp; Incomplete Trips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1536192"/>
            <a:ext cx="457200" cy="54864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057400"/>
            <a:ext cx="6900000" cy="240576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4360" y="2176272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" y="2176272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68680" y="2176272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0" y="21305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B9A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2423160"/>
            <a:ext cx="6534240" cy="18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(*)           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total_requests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cancel_ts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cancelled_rides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cancel_ts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* </a:t>
            </a:r>
            <a:r>
              <a:rPr lang="en-US" sz="1400" dirty="0">
                <a:solidFill>
                  <a:srgbClr val="F5A9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100.0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(*),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5A9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cancellation_rate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ride_requests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60920" y="1783080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60920" y="2103120"/>
            <a:ext cx="4370832" cy="1426464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60920" y="2103120"/>
            <a:ext cx="54864" cy="1426464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543800" y="2267712"/>
            <a:ext cx="26224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Requests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764878" y="2267712"/>
            <a:ext cx="1788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48,700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543800" y="2651760"/>
            <a:ext cx="26224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Rides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764878" y="2651760"/>
            <a:ext cx="1788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20,284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543800" y="3035808"/>
            <a:ext cx="26224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764878" y="3035808"/>
            <a:ext cx="1788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41.65%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360920" y="3712464"/>
            <a:ext cx="4370832" cy="850392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360920" y="3712464"/>
            <a:ext cx="54864" cy="850392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543800" y="3803904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543800" y="4032504"/>
            <a:ext cx="40965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cancellations account for a substantial proportion of ride requests.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60920" y="4608576"/>
            <a:ext cx="4370832" cy="850392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360920" y="4608576"/>
            <a:ext cx="54864" cy="85039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543800" y="4700016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543800" y="4928616"/>
            <a:ext cx="40965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cancellation levels may negatively impact customer experience and revenue.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360920" y="5504688"/>
            <a:ext cx="4370832" cy="850392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360920" y="5504688"/>
            <a:ext cx="54864" cy="850392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543800" y="5596128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543800" y="5824728"/>
            <a:ext cx="40965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root causes of cancellations and strengthen driver allocation processes.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92608"/>
            <a:ext cx="12191695" cy="4572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MetroCar SQL Data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0" y="6583680"/>
            <a:ext cx="4873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· Peak Demand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20095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04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Ride Demand Periods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1536192"/>
            <a:ext cx="457200" cy="54864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 · PEAK HOURS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057400"/>
            <a:ext cx="6900000" cy="194576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4360" y="2176272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" y="2176272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68680" y="2176272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0" y="21305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B9A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2423160"/>
            <a:ext cx="6534240" cy="1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HOUR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request_ts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request_hour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(*)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total_requests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ride_requests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request_hour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total_requests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16052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B · PEAK DAYS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434840"/>
            <a:ext cx="6900000" cy="148576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94360" y="4553712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31520" y="4553712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68680" y="4553712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17920" y="450799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B9A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" y="4800600"/>
            <a:ext cx="6534240" cy="9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TO_CHAR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request_ts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'Day'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day_of_week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(*)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total_requests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ride_requests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day_of_week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total_requests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60920" y="1783080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60920" y="2103120"/>
            <a:ext cx="4370832" cy="2194560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360920" y="2103120"/>
            <a:ext cx="54864" cy="219456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543800" y="2267712"/>
            <a:ext cx="26224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764878" y="2267712"/>
            <a:ext cx="1788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7,663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543800" y="2651760"/>
            <a:ext cx="26224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764878" y="2651760"/>
            <a:ext cx="1788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7,579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543800" y="3035808"/>
            <a:ext cx="26224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764878" y="3035808"/>
            <a:ext cx="1788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7,435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543800" y="3419856"/>
            <a:ext cx="26224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764878" y="3419856"/>
            <a:ext cx="1788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7,022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543800" y="3803904"/>
            <a:ext cx="26224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764878" y="3803904"/>
            <a:ext cx="1788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7,014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360920" y="4480560"/>
            <a:ext cx="4370832" cy="914400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360920" y="4480560"/>
            <a:ext cx="54864" cy="914400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543800" y="4572000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543800" y="4800600"/>
            <a:ext cx="4096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peaks during commuting hours and remains consistently high throughout the week.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360920" y="5440680"/>
            <a:ext cx="4370832" cy="914400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360920" y="5440680"/>
            <a:ext cx="54864" cy="91440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543800" y="5532120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543800" y="5760720"/>
            <a:ext cx="4096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driver scheduling with peak demand periods.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92608"/>
            <a:ext cx="12191695" cy="4572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MetroCar SQL Data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0" y="6583680"/>
            <a:ext cx="4873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· Completion &amp; Revenue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20095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05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Completion Rate &amp; Revenue Impact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1536192"/>
            <a:ext cx="457200" cy="54864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 · COMPLETION RATE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057400"/>
            <a:ext cx="6900000" cy="201168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4360" y="2176272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" y="2176272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68680" y="2176272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0" y="21305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B9A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2423160"/>
            <a:ext cx="6534240" cy="16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(*)           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total_requests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dropoff_ts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completed_rides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dropoff_ts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* </a:t>
            </a:r>
            <a:r>
              <a:rPr lang="en-US" sz="1400" dirty="0">
                <a:solidFill>
                  <a:srgbClr val="F5A9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100.0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(*), </a:t>
            </a:r>
            <a:r>
              <a:rPr lang="en-US" sz="1400" dirty="0">
                <a:solidFill>
                  <a:srgbClr val="F5A9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completion_rate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ride_requests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0690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B · REVENUE FROM COMPLETED RIDES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343400"/>
            <a:ext cx="6900000" cy="148576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94360" y="4462272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31520" y="4462272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68680" y="4462272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17920" y="44165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B9A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" y="4709160"/>
            <a:ext cx="6534240" cy="9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DISTINCT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r.ride_id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completed_rides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t.purchase_amount_usd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)::numeric, </a:t>
            </a:r>
            <a:r>
              <a:rPr lang="en-US" sz="1400" dirty="0">
                <a:solidFill>
                  <a:srgbClr val="F5A9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revenue_generated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ride_requests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transactions t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r.ride_id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t.ride_id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r.dropoff_ts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t.charge_status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'Approved'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60920" y="1783080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60920" y="2103120"/>
            <a:ext cx="4370832" cy="1426464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360920" y="2103120"/>
            <a:ext cx="54864" cy="1426464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543800" y="2267712"/>
            <a:ext cx="26224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764878" y="2267712"/>
            <a:ext cx="1788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58.35%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543800" y="2651760"/>
            <a:ext cx="26224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Rides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764878" y="2651760"/>
            <a:ext cx="1788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28,416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543800" y="3035808"/>
            <a:ext cx="26224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Source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764878" y="3035808"/>
            <a:ext cx="1788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360920" y="3712464"/>
            <a:ext cx="4370832" cy="850392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360920" y="3712464"/>
            <a:ext cx="54864" cy="850392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543800" y="3803904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543800" y="4032504"/>
            <a:ext cx="40965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completed rides generate revenue.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360920" y="4608576"/>
            <a:ext cx="4370832" cy="850392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360920" y="4608576"/>
            <a:ext cx="54864" cy="85039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543800" y="4700016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543800" y="4928616"/>
            <a:ext cx="40965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completion rates directly increases revenue potential.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360920" y="5504688"/>
            <a:ext cx="4370832" cy="850392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360920" y="5504688"/>
            <a:ext cx="54864" cy="850392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543800" y="5596128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543800" y="5824728"/>
            <a:ext cx="40965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cancellations and incomplete trips.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92608"/>
            <a:ext cx="12191695" cy="4572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MetroCar SQL Data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0" y="6583680"/>
            <a:ext cx="4873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· Customer Ratings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20095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06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Ratings &amp; Service Quality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1536192"/>
            <a:ext cx="457200" cy="54864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 · AVERAGE RATING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057400"/>
            <a:ext cx="6900000" cy="125576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4360" y="2176272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" y="2176272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68680" y="2176272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0" y="21305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B9A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2423160"/>
            <a:ext cx="6534240" cy="6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(rating), </a:t>
            </a:r>
            <a:r>
              <a:rPr lang="en-US" sz="1400" dirty="0">
                <a:solidFill>
                  <a:srgbClr val="F5A9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average_rating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reviews;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52044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B · RATING DISTRIBUTION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6900000" cy="148576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94360" y="3913632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31520" y="3913632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68680" y="3913632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17920" y="38679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B9A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" y="4160520"/>
            <a:ext cx="6534240" cy="9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rating, 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(*)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total_reviews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reviews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rating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rating;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60920" y="1783080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60920" y="2103120"/>
            <a:ext cx="4370832" cy="1042416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360920" y="2103120"/>
            <a:ext cx="54864" cy="1042416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543800" y="2267712"/>
            <a:ext cx="26224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764878" y="2267712"/>
            <a:ext cx="1788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3.05 / 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543800" y="2651760"/>
            <a:ext cx="26224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764878" y="2651760"/>
            <a:ext cx="1788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5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360920" y="3328416"/>
            <a:ext cx="4370832" cy="1490472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360920" y="3328416"/>
            <a:ext cx="54864" cy="1490472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543800" y="3419856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543800" y="3648456"/>
            <a:ext cx="409651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experiences are mixed, with both high and low ratings appearing frequently.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360920" y="4864608"/>
            <a:ext cx="4370832" cy="1490472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360920" y="4864608"/>
            <a:ext cx="54864" cy="1490472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543800" y="4956048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543800" y="5184648"/>
            <a:ext cx="409651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service consistency.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92608"/>
            <a:ext cx="12191695" cy="4572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MetroCar SQL Data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0" y="6583680"/>
            <a:ext cx="4873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· Satisfaction Drivers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20095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07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Linked to Lower Satisfaction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1536192"/>
            <a:ext cx="457200" cy="54864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057400"/>
            <a:ext cx="6900000" cy="286576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4360" y="2176272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" y="2176272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68680" y="2176272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0" y="21305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B9A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2423160"/>
            <a:ext cx="6534240" cy="2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r.cancel_ts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'Cancelled'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r.dropoff_ts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'Completed'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'Incomplete'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ride_status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rv.rating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</a:t>
            </a:r>
            <a:r>
              <a:rPr lang="en-US" sz="1400" dirty="0">
                <a:solidFill>
                  <a:srgbClr val="F5A9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avg_rating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ride_requests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reviews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rv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r.ride_id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rv.ride_id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ride_status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60920" y="1783080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60920" y="2103120"/>
            <a:ext cx="4370832" cy="1042416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60920" y="2103120"/>
            <a:ext cx="54864" cy="1042416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543800" y="2267712"/>
            <a:ext cx="26224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Rides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764878" y="2267712"/>
            <a:ext cx="1788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543800" y="2651760"/>
            <a:ext cx="26224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Avg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764878" y="2651760"/>
            <a:ext cx="1788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3.05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60920" y="3328416"/>
            <a:ext cx="4370832" cy="1490472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360920" y="3328416"/>
            <a:ext cx="54864" cy="1490472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543800" y="3419856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543800" y="3648456"/>
            <a:ext cx="409651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quality remains moderate even among completed rides.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60920" y="4864608"/>
            <a:ext cx="4370832" cy="1490472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360920" y="4864608"/>
            <a:ext cx="54864" cy="1490472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543800" y="4956048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43800" y="5184648"/>
            <a:ext cx="409651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reliability and customer experience improvements.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92608"/>
            <a:ext cx="12191695" cy="4572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MetroCar SQL Data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0" y="6583680"/>
            <a:ext cx="4873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· Revenue Trends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20095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08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Revenue Trends Over Time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1536192"/>
            <a:ext cx="457200" cy="54864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057400"/>
            <a:ext cx="6900000" cy="217576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4360" y="2176272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" y="2176272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68680" y="2176272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0" y="21305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B9A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2423160"/>
            <a:ext cx="6534240" cy="16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DATE_TRUNC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'month'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transaction_ts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purchase_amount_usd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)::numeric, </a:t>
            </a:r>
            <a:r>
              <a:rPr lang="en-US" sz="1400" dirty="0">
                <a:solidFill>
                  <a:srgbClr val="F5A9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revenue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transactions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charge_status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'Approved'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60920" y="1783080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60920" y="2103120"/>
            <a:ext cx="4370832" cy="1426464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60920" y="2103120"/>
            <a:ext cx="54864" cy="1426464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543800" y="2267712"/>
            <a:ext cx="26224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Grain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764878" y="2267712"/>
            <a:ext cx="1788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543800" y="2651760"/>
            <a:ext cx="26224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764878" y="2651760"/>
            <a:ext cx="1788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543800" y="3035808"/>
            <a:ext cx="26224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764878" y="3035808"/>
            <a:ext cx="1788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Upward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360920" y="3712464"/>
            <a:ext cx="4370832" cy="1298448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360920" y="3712464"/>
            <a:ext cx="54864" cy="1298448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543800" y="3803904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543800" y="4032504"/>
            <a:ext cx="40965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shows overall business growth over time.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60920" y="5056632"/>
            <a:ext cx="4370832" cy="1298448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360920" y="5056632"/>
            <a:ext cx="54864" cy="1298448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543800" y="5148072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543800" y="5376672"/>
            <a:ext cx="40965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customer acquisition and retention efforts.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92608"/>
            <a:ext cx="12191695" cy="4572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MetroCar SQL Data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0" y="6583680"/>
            <a:ext cx="4873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· Platform Downloads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20095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09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by Platform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1536192"/>
            <a:ext cx="457200" cy="54864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057400"/>
            <a:ext cx="6900000" cy="194576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4360" y="2176272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" y="2176272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68680" y="2176272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0" y="21305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B9A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2423160"/>
            <a:ext cx="6534240" cy="1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platform,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(*)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total_downloads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app_downloads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platform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total_downloads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60920" y="1783080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60920" y="2103120"/>
            <a:ext cx="4370832" cy="1426464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60920" y="2103120"/>
            <a:ext cx="54864" cy="1426464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543800" y="2267712"/>
            <a:ext cx="26224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764878" y="2267712"/>
            <a:ext cx="1788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14,290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543800" y="2651760"/>
            <a:ext cx="26224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764878" y="2651760"/>
            <a:ext cx="1788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6,935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543800" y="3035808"/>
            <a:ext cx="26224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764878" y="3035808"/>
            <a:ext cx="1788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2,383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360920" y="3712464"/>
            <a:ext cx="4370832" cy="1298448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360920" y="3712464"/>
            <a:ext cx="54864" cy="1298448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543800" y="3803904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543800" y="4032504"/>
            <a:ext cx="40965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generates the highest number of downloads.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60920" y="5056632"/>
            <a:ext cx="4370832" cy="1298448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360920" y="5056632"/>
            <a:ext cx="54864" cy="1298448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543800" y="5148072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543800" y="5376672"/>
            <a:ext cx="40965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investment in the iOS user experience.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92608"/>
            <a:ext cx="12191695" cy="4572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MetroCar SQL Data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0" y="6583680"/>
            <a:ext cx="4873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 · Signups by Age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20095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Signups by Age Group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1536192"/>
            <a:ext cx="457200" cy="54864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057400"/>
            <a:ext cx="6900000" cy="194576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4360" y="2176272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" y="2176272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68680" y="2176272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0" y="21305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B9A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2423160"/>
            <a:ext cx="6534240" cy="1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age_range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(*)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total_signups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signups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age_range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total_signups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60920" y="1783080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60920" y="2103120"/>
            <a:ext cx="4370832" cy="1810512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60920" y="2103120"/>
            <a:ext cx="54864" cy="1810512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543800" y="2267712"/>
            <a:ext cx="26224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– 44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764878" y="2267712"/>
            <a:ext cx="1788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5,181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543800" y="2651760"/>
            <a:ext cx="26224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– 34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764878" y="2651760"/>
            <a:ext cx="1788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3,447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543800" y="3035808"/>
            <a:ext cx="26224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– 24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764878" y="3035808"/>
            <a:ext cx="1788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1,865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543800" y="3419856"/>
            <a:ext cx="26224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– 54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764878" y="3419856"/>
            <a:ext cx="1788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1,826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360920" y="4096512"/>
            <a:ext cx="4370832" cy="1106424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360920" y="4096512"/>
            <a:ext cx="54864" cy="1106424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543800" y="4187952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43800" y="4416552"/>
            <a:ext cx="409651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aged 35–44 represent the largest signup segment.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360920" y="5248656"/>
            <a:ext cx="4370832" cy="1106424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360920" y="5248656"/>
            <a:ext cx="54864" cy="1106424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543800" y="5340096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543800" y="5568696"/>
            <a:ext cx="409651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marketing campaigns toward this demographic.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92608"/>
            <a:ext cx="12191695" cy="4572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MetroCar SQL Data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0" y="6583680"/>
            <a:ext cx="4873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· Engagement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20095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ANALYSIS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Engagement — Reviews on Completed Rides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1536192"/>
            <a:ext cx="457200" cy="54864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 · RIDES WITH REVIEWS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057400"/>
            <a:ext cx="6900000" cy="125576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4360" y="2176272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" y="2176272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68680" y="2176272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0" y="21305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B9A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2423160"/>
            <a:ext cx="6534240" cy="6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DISTINCT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rv.ride_id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rides_with_reviews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reviews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rv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6118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B · REVIEW PARTICIPATION RATE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6900000" cy="217576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94360" y="4005072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31520" y="4005072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68680" y="4005072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17920" y="39593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B9A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" y="4251960"/>
            <a:ext cx="6534240" cy="16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DISTINCT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rv.ride_id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* </a:t>
            </a:r>
            <a:r>
              <a:rPr lang="en-US" sz="1400" dirty="0">
                <a:solidFill>
                  <a:srgbClr val="F5A9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100.0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r>
              <a:rPr lang="en-US" sz="1400" b="1" dirty="0">
                <a:solidFill>
                  <a:srgbClr val="E8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DISTINCT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r.ride_id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</a:t>
            </a:r>
            <a:r>
              <a:rPr lang="en-US" sz="1400" dirty="0">
                <a:solidFill>
                  <a:srgbClr val="F5A9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)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review_rate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ride_requests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reviews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rv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r.ride_id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rv.ride_id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r.dropoff_ts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>
                <a:solidFill>
                  <a:srgbClr val="6FB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40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60920" y="1783080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60920" y="2103120"/>
            <a:ext cx="4370832" cy="1042416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360920" y="2103120"/>
            <a:ext cx="54864" cy="1042416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543800" y="2267712"/>
            <a:ext cx="26224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Rate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764878" y="2267712"/>
            <a:ext cx="1788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69.90%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543800" y="2651760"/>
            <a:ext cx="26224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764878" y="2651760"/>
            <a:ext cx="1788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360920" y="3328416"/>
            <a:ext cx="4370832" cy="1490472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360920" y="3328416"/>
            <a:ext cx="54864" cy="1490472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543800" y="3419856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543800" y="3648456"/>
            <a:ext cx="409651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70% of completed rides generated customer feedback.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360920" y="4864608"/>
            <a:ext cx="4370832" cy="1490472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360920" y="4864608"/>
            <a:ext cx="54864" cy="1490472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543800" y="4956048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543800" y="5184648"/>
            <a:ext cx="409651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reviews through reminders and incentives.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92608"/>
            <a:ext cx="12191695" cy="4572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MetroCar SQL Data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0" y="6583680"/>
            <a:ext cx="4873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Key Findings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20095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Key Findings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1536192"/>
            <a:ext cx="457200" cy="54864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5128" y="2103120"/>
            <a:ext cx="2194560" cy="1828800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5128" y="2103120"/>
            <a:ext cx="54864" cy="182880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8008" y="24688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74.65%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8008" y="32004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conversion rate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66848" y="2103120"/>
            <a:ext cx="2194560" cy="1828800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666848" y="2103120"/>
            <a:ext cx="54864" cy="182880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849728" y="24688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→ Accept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849728" y="32004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funnel drop-off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98568" y="2103120"/>
            <a:ext cx="2194560" cy="1828800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998568" y="2103120"/>
            <a:ext cx="54864" cy="182880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81448" y="24688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41.65%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181448" y="32004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30288" y="2103120"/>
            <a:ext cx="2194560" cy="1828800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330288" y="2103120"/>
            <a:ext cx="54864" cy="182880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513168" y="24688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58.35%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513168" y="32004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completion rate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662008" y="2103120"/>
            <a:ext cx="2194560" cy="1828800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662008" y="2103120"/>
            <a:ext cx="54864" cy="182880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844888" y="24688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Commute hrs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844888" y="32004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demand window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5128" y="4160520"/>
            <a:ext cx="2194560" cy="1828800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35128" y="4160520"/>
            <a:ext cx="54864" cy="182880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18008" y="4526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Upward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18008" y="52578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 over time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666848" y="4160520"/>
            <a:ext cx="2194560" cy="1828800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666848" y="4160520"/>
            <a:ext cx="54864" cy="182880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849728" y="4526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3.05 / 5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2849728" y="52578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customer rating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998568" y="4160520"/>
            <a:ext cx="2194560" cy="1828800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998568" y="4160520"/>
            <a:ext cx="54864" cy="182880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181448" y="4526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181448" y="52578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Highest-download platform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330288" y="4160520"/>
            <a:ext cx="2194560" cy="1828800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7330288" y="4160520"/>
            <a:ext cx="54864" cy="182880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513168" y="4526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– 44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7513168" y="52578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signup segment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662008" y="4160520"/>
            <a:ext cx="2194560" cy="1828800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9662008" y="4160520"/>
            <a:ext cx="54864" cy="182880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844888" y="4526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69.90%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9844888" y="52578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rides reviewed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92608"/>
            <a:ext cx="12191695" cy="4572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MetroCar SQL Data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0" y="6583680"/>
            <a:ext cx="4873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Recommendations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20095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Recommendations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1536192"/>
            <a:ext cx="457200" cy="54864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5577840" cy="1051560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85800" y="2103120"/>
            <a:ext cx="502920" cy="502920"/>
          </a:xfrm>
          <a:prstGeom prst="ellipse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19202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driver availability.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63640" y="1828800"/>
            <a:ext cx="5577840" cy="1051560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92240" y="2103120"/>
            <a:ext cx="502920" cy="502920"/>
          </a:xfrm>
          <a:prstGeom prst="ellipse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922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32320" y="19202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ride cancellations.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5577840" cy="1051560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5800" y="3291840"/>
            <a:ext cx="502920" cy="502920"/>
          </a:xfrm>
          <a:prstGeom prst="ellipse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31089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ride matching.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63640" y="3017520"/>
            <a:ext cx="5577840" cy="1051560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492240" y="3291840"/>
            <a:ext cx="502920" cy="502920"/>
          </a:xfrm>
          <a:prstGeom prst="ellipse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9224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32320" y="31089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ride completion rates.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57200" y="4206240"/>
            <a:ext cx="5577840" cy="1051560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85800" y="4480560"/>
            <a:ext cx="502920" cy="502920"/>
          </a:xfrm>
          <a:prstGeom prst="ellipse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580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325880" y="42976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customer reviews.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263640" y="4206240"/>
            <a:ext cx="5577840" cy="1051560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492240" y="4480560"/>
            <a:ext cx="502920" cy="502920"/>
          </a:xfrm>
          <a:prstGeom prst="ellipse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9224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132320" y="42976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service quality consistency.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457200" y="5394960"/>
            <a:ext cx="5577840" cy="1051560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85800" y="5669280"/>
            <a:ext cx="502920" cy="502920"/>
          </a:xfrm>
          <a:prstGeom prst="ellipse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85800" y="5669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325880" y="54864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high-performing customer segments.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263640" y="5394960"/>
            <a:ext cx="5577840" cy="1051560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492240" y="5669280"/>
            <a:ext cx="502920" cy="502920"/>
          </a:xfrm>
          <a:prstGeom prst="ellipse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92240" y="5669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132320" y="54864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data-driven decision making.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0" y="4114800"/>
            <a:ext cx="4572000" cy="457200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828800" y="-1371600"/>
            <a:ext cx="3657600" cy="3657600"/>
          </a:xfrm>
          <a:prstGeom prst="ellipse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457200" cy="54864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Insights into Action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identified opportunities to improve customer acquisition, ride completion, operational efficiency, revenue generation, and customer satisfaction.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implementing the recommended actions, MetroCar can strengthen customer experience, improve operational performance, and support long-term business growth.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5852160"/>
            <a:ext cx="3657600" cy="0"/>
          </a:xfrm>
          <a:prstGeom prst="line">
            <a:avLst/>
          </a:prstGeom>
          <a:noFill/>
          <a:ln w="12700">
            <a:solidFill>
              <a:srgbClr val="E0A8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5943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Setorwu Yaa Adevor  ·  PostgreSQL · pgAdmin 4 · SQL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</TotalTime>
  <Words>1783</Words>
  <Application>Microsoft Office PowerPoint</Application>
  <PresentationFormat>Widescreen</PresentationFormat>
  <Paragraphs>441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Setorwu Yaa Adevor</dc:creator>
  <cp:lastModifiedBy>Setorwu Yaa Adevor</cp:lastModifiedBy>
  <cp:revision>1</cp:revision>
  <dcterms:created xsi:type="dcterms:W3CDTF">2026-06-08T15:37:10Z</dcterms:created>
  <dcterms:modified xsi:type="dcterms:W3CDTF">2026-06-08T22:57:05Z</dcterms:modified>
</cp:coreProperties>
</file>