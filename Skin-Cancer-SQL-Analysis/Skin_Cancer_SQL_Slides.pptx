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4" r:id="rId28"/>
    <p:sldId id="285" r:id="rId29"/>
    <p:sldId id="286" r:id="rId30"/>
    <p:sldId id="287" r:id="rId31"/>
    <p:sldId id="282" r:id="rId32"/>
    <p:sldId id="283"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torwu Yaa Adevor" userId="38181861c5210dd7" providerId="LiveId" clId="{C2BBD660-7BCD-405B-8C52-7BFFBB4B26B5}"/>
    <pc:docChg chg="undo custSel modSld">
      <pc:chgData name="Setorwu Yaa Adevor" userId="38181861c5210dd7" providerId="LiveId" clId="{C2BBD660-7BCD-405B-8C52-7BFFBB4B26B5}" dt="2026-06-09T23:00:42.944" v="1" actId="20577"/>
      <pc:docMkLst>
        <pc:docMk/>
      </pc:docMkLst>
      <pc:sldChg chg="modSp mod">
        <pc:chgData name="Setorwu Yaa Adevor" userId="38181861c5210dd7" providerId="LiveId" clId="{C2BBD660-7BCD-405B-8C52-7BFFBB4B26B5}" dt="2026-06-09T23:00:42.944" v="1" actId="20577"/>
        <pc:sldMkLst>
          <pc:docMk/>
          <pc:sldMk cId="0" sldId="268"/>
        </pc:sldMkLst>
        <pc:spChg chg="mod">
          <ac:chgData name="Setorwu Yaa Adevor" userId="38181861c5210dd7" providerId="LiveId" clId="{C2BBD660-7BCD-405B-8C52-7BFFBB4B26B5}" dt="2026-06-09T23:00:42.944" v="1" actId="20577"/>
          <ac:spMkLst>
            <pc:docMk/>
            <pc:sldMk cId="0" sldId="268"/>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p:spPr>
        <p:txBody>
          <a:bodyPr/>
          <a:lstStyle/>
          <a:p>
            <a:endParaRPr lang="en-US"/>
          </a:p>
        </p:txBody>
      </p:sp>
      <p:sp>
        <p:nvSpPr>
          <p:cNvPr id="3" name="Shape 1"/>
          <p:cNvSpPr/>
          <p:nvPr/>
        </p:nvSpPr>
        <p:spPr>
          <a:xfrm>
            <a:off x="5669280" y="274320"/>
            <a:ext cx="457200" cy="457200"/>
          </a:xfrm>
          <a:prstGeom prst="rect">
            <a:avLst/>
          </a:prstGeom>
          <a:solidFill>
            <a:srgbClr val="E8740C">
              <a:alpha val="15000"/>
            </a:srgbClr>
          </a:solidFill>
          <a:ln/>
        </p:spPr>
        <p:txBody>
          <a:bodyPr/>
          <a:lstStyle/>
          <a:p>
            <a:endParaRPr lang="en-US"/>
          </a:p>
        </p:txBody>
      </p:sp>
      <p:sp>
        <p:nvSpPr>
          <p:cNvPr id="4" name="Shape 2"/>
          <p:cNvSpPr/>
          <p:nvPr/>
        </p:nvSpPr>
        <p:spPr>
          <a:xfrm>
            <a:off x="6309360" y="731520"/>
            <a:ext cx="457200" cy="457200"/>
          </a:xfrm>
          <a:prstGeom prst="rect">
            <a:avLst/>
          </a:prstGeom>
          <a:solidFill>
            <a:srgbClr val="E8740C">
              <a:alpha val="15000"/>
            </a:srgbClr>
          </a:solidFill>
          <a:ln/>
        </p:spPr>
        <p:txBody>
          <a:bodyPr/>
          <a:lstStyle/>
          <a:p>
            <a:endParaRPr lang="en-US"/>
          </a:p>
        </p:txBody>
      </p:sp>
      <p:sp>
        <p:nvSpPr>
          <p:cNvPr id="5" name="Shape 3"/>
          <p:cNvSpPr/>
          <p:nvPr/>
        </p:nvSpPr>
        <p:spPr>
          <a:xfrm>
            <a:off x="6949440" y="1188720"/>
            <a:ext cx="457200" cy="457200"/>
          </a:xfrm>
          <a:prstGeom prst="rect">
            <a:avLst/>
          </a:prstGeom>
          <a:solidFill>
            <a:srgbClr val="E8740C">
              <a:alpha val="15000"/>
            </a:srgbClr>
          </a:solidFill>
          <a:ln/>
        </p:spPr>
        <p:txBody>
          <a:bodyPr/>
          <a:lstStyle/>
          <a:p>
            <a:endParaRPr lang="en-US"/>
          </a:p>
        </p:txBody>
      </p:sp>
      <p:sp>
        <p:nvSpPr>
          <p:cNvPr id="6" name="Shape 4"/>
          <p:cNvSpPr/>
          <p:nvPr/>
        </p:nvSpPr>
        <p:spPr>
          <a:xfrm>
            <a:off x="7589520" y="1645920"/>
            <a:ext cx="457200" cy="457200"/>
          </a:xfrm>
          <a:prstGeom prst="rect">
            <a:avLst/>
          </a:prstGeom>
          <a:solidFill>
            <a:srgbClr val="E8740C">
              <a:alpha val="15000"/>
            </a:srgbClr>
          </a:solidFill>
          <a:ln/>
        </p:spPr>
        <p:txBody>
          <a:bodyPr/>
          <a:lstStyle/>
          <a:p>
            <a:endParaRPr lang="en-US"/>
          </a:p>
        </p:txBody>
      </p:sp>
      <p:sp>
        <p:nvSpPr>
          <p:cNvPr id="7" name="Shape 5"/>
          <p:cNvSpPr/>
          <p:nvPr/>
        </p:nvSpPr>
        <p:spPr>
          <a:xfrm>
            <a:off x="8229600" y="2103120"/>
            <a:ext cx="457200" cy="457200"/>
          </a:xfrm>
          <a:prstGeom prst="rect">
            <a:avLst/>
          </a:prstGeom>
          <a:solidFill>
            <a:srgbClr val="E8740C">
              <a:alpha val="15000"/>
            </a:srgbClr>
          </a:solidFill>
          <a:ln/>
        </p:spPr>
        <p:txBody>
          <a:bodyPr/>
          <a:lstStyle/>
          <a:p>
            <a:endParaRPr lang="en-US"/>
          </a:p>
        </p:txBody>
      </p:sp>
      <p:sp>
        <p:nvSpPr>
          <p:cNvPr id="8" name="Text 6"/>
          <p:cNvSpPr/>
          <p:nvPr/>
        </p:nvSpPr>
        <p:spPr>
          <a:xfrm>
            <a:off x="731520" y="914400"/>
            <a:ext cx="7680960" cy="1645920"/>
          </a:xfrm>
          <a:prstGeom prst="rect">
            <a:avLst/>
          </a:prstGeom>
          <a:noFill/>
          <a:ln/>
        </p:spPr>
        <p:txBody>
          <a:bodyPr wrap="square" lIns="0" tIns="0" rIns="0" bIns="0" rtlCol="0" anchor="ctr"/>
          <a:lstStyle/>
          <a:p>
            <a:pPr marL="0" indent="0">
              <a:lnSpc>
                <a:spcPct val="110000"/>
              </a:lnSpc>
              <a:buNone/>
            </a:pPr>
            <a:r>
              <a:rPr lang="en-US" sz="3600" b="1" dirty="0">
                <a:solidFill>
                  <a:srgbClr val="FFFFFF"/>
                </a:solidFill>
                <a:latin typeface="Arial Black" pitchFamily="34" charset="0"/>
                <a:ea typeface="Arial Black" pitchFamily="34" charset="-122"/>
                <a:cs typeface="Arial Black" pitchFamily="34" charset="-120"/>
              </a:rPr>
              <a:t>SQL-Based Analysis of</a:t>
            </a:r>
            <a:endParaRPr lang="en-US" sz="3600" dirty="0"/>
          </a:p>
          <a:p>
            <a:pPr marL="0" indent="0">
              <a:lnSpc>
                <a:spcPct val="110000"/>
              </a:lnSpc>
              <a:buNone/>
            </a:pPr>
            <a:r>
              <a:rPr lang="en-US" sz="3600" b="1" dirty="0">
                <a:solidFill>
                  <a:srgbClr val="FFFFFF"/>
                </a:solidFill>
                <a:latin typeface="Arial Black" pitchFamily="34" charset="0"/>
                <a:ea typeface="Arial Black" pitchFamily="34" charset="-122"/>
                <a:cs typeface="Arial Black" pitchFamily="34" charset="-120"/>
              </a:rPr>
              <a:t>Skin Cancer Lesions</a:t>
            </a:r>
            <a:endParaRPr lang="en-US" sz="3600" dirty="0"/>
          </a:p>
        </p:txBody>
      </p:sp>
      <p:sp>
        <p:nvSpPr>
          <p:cNvPr id="9" name="Text 7"/>
          <p:cNvSpPr/>
          <p:nvPr/>
        </p:nvSpPr>
        <p:spPr>
          <a:xfrm>
            <a:off x="731520" y="2606040"/>
            <a:ext cx="7680960" cy="457200"/>
          </a:xfrm>
          <a:prstGeom prst="rect">
            <a:avLst/>
          </a:prstGeom>
          <a:noFill/>
          <a:ln/>
        </p:spPr>
        <p:txBody>
          <a:bodyPr wrap="square" lIns="0" tIns="0" rIns="0" bIns="0" rtlCol="0" anchor="ctr"/>
          <a:lstStyle/>
          <a:p>
            <a:pPr marL="0" indent="0">
              <a:buNone/>
            </a:pPr>
            <a:r>
              <a:rPr lang="en-US" dirty="0">
                <a:solidFill>
                  <a:srgbClr val="E8740C"/>
                </a:solidFill>
                <a:latin typeface="Calibri" pitchFamily="34" charset="0"/>
                <a:ea typeface="Calibri" pitchFamily="34" charset="-122"/>
                <a:cs typeface="Calibri" pitchFamily="34" charset="-120"/>
              </a:rPr>
              <a:t>10ALYTICS DATA SCIENCE PROGRAM </a:t>
            </a:r>
            <a:endParaRPr lang="en-US" sz="1800" dirty="0"/>
          </a:p>
        </p:txBody>
      </p:sp>
      <p:sp>
        <p:nvSpPr>
          <p:cNvPr id="10" name="Shape 8"/>
          <p:cNvSpPr/>
          <p:nvPr/>
        </p:nvSpPr>
        <p:spPr>
          <a:xfrm>
            <a:off x="731520" y="3246120"/>
            <a:ext cx="2286000" cy="36576"/>
          </a:xfrm>
          <a:prstGeom prst="rect">
            <a:avLst/>
          </a:prstGeom>
          <a:solidFill>
            <a:srgbClr val="E8740C"/>
          </a:solidFill>
          <a:ln/>
        </p:spPr>
        <p:txBody>
          <a:bodyPr/>
          <a:lstStyle/>
          <a:p>
            <a:endParaRPr lang="en-US"/>
          </a:p>
        </p:txBody>
      </p:sp>
      <p:sp>
        <p:nvSpPr>
          <p:cNvPr id="11" name="Text 9"/>
          <p:cNvSpPr/>
          <p:nvPr/>
        </p:nvSpPr>
        <p:spPr>
          <a:xfrm>
            <a:off x="731520" y="347472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Pod Polaris</a:t>
            </a:r>
            <a:endParaRPr lang="en-US" sz="1600" dirty="0"/>
          </a:p>
        </p:txBody>
      </p:sp>
      <p:sp>
        <p:nvSpPr>
          <p:cNvPr id="12" name="Text 10"/>
          <p:cNvSpPr/>
          <p:nvPr/>
        </p:nvSpPr>
        <p:spPr>
          <a:xfrm>
            <a:off x="731520" y="3840480"/>
            <a:ext cx="4572000" cy="320040"/>
          </a:xfrm>
          <a:prstGeom prst="rect">
            <a:avLst/>
          </a:prstGeom>
          <a:noFill/>
          <a:ln/>
        </p:spPr>
        <p:txBody>
          <a:bodyPr wrap="square" lIns="0" tIns="0" rIns="0" bIns="0" rtlCol="0" anchor="ctr"/>
          <a:lstStyle/>
          <a:p>
            <a:pPr marL="0" indent="0">
              <a:buNone/>
            </a:pPr>
            <a:endParaRPr lang="en-US" sz="1300" dirty="0"/>
          </a:p>
        </p:txBody>
      </p:sp>
      <p:sp>
        <p:nvSpPr>
          <p:cNvPr id="14" name="Shape 12"/>
          <p:cNvSpPr/>
          <p:nvPr/>
        </p:nvSpPr>
        <p:spPr>
          <a:xfrm>
            <a:off x="0" y="5070348"/>
            <a:ext cx="9144000" cy="73152"/>
          </a:xfrm>
          <a:prstGeom prst="rect">
            <a:avLst/>
          </a:prstGeom>
          <a:solidFill>
            <a:srgbClr val="E8740C"/>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a:solidFill>
                  <a:srgbClr val="FFFFFF"/>
                </a:solidFill>
                <a:latin typeface="Arial Black" pitchFamily="34" charset="0"/>
                <a:ea typeface="Arial Black" pitchFamily="34" charset="-122"/>
                <a:cs typeface="Arial Black" pitchFamily="34" charset="-120"/>
              </a:rPr>
              <a:t>PROJECT OVERVIEW</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a:solidFill>
                  <a:srgbClr val="E8740C"/>
                </a:solidFill>
                <a:latin typeface="Calibri" pitchFamily="34" charset="0"/>
                <a:ea typeface="Calibri" pitchFamily="34" charset="-122"/>
                <a:cs typeface="Calibri" pitchFamily="34" charset="-120"/>
              </a:rPr>
              <a:t>Background, Business Problem &amp; Objectives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257300"/>
            <a:ext cx="2468880" cy="3543300"/>
          </a:xfrm>
          <a:prstGeom prst="rect">
            <a:avLst/>
          </a:prstGeom>
          <a:solidFill>
            <a:srgbClr val="F7F7F7"/>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668654" y="1236999"/>
            <a:ext cx="320040" cy="320040"/>
          </a:xfrm>
          <a:prstGeom prst="rect">
            <a:avLst/>
          </a:prstGeom>
        </p:spPr>
      </p:pic>
      <p:sp>
        <p:nvSpPr>
          <p:cNvPr id="10" name="Text 7"/>
          <p:cNvSpPr/>
          <p:nvPr/>
        </p:nvSpPr>
        <p:spPr>
          <a:xfrm>
            <a:off x="1091564" y="1236999"/>
            <a:ext cx="1737360" cy="32004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ea typeface="Arial Black" pitchFamily="34" charset="-122"/>
                <a:cs typeface="Arial Black" pitchFamily="34" charset="-120"/>
              </a:rPr>
              <a:t>BACKGROUND</a:t>
            </a:r>
            <a:endParaRPr lang="en-US" sz="1200" dirty="0"/>
          </a:p>
        </p:txBody>
      </p:sp>
      <p:sp>
        <p:nvSpPr>
          <p:cNvPr id="11" name="Text 8"/>
          <p:cNvSpPr/>
          <p:nvPr/>
        </p:nvSpPr>
        <p:spPr>
          <a:xfrm>
            <a:off x="685800" y="1965960"/>
            <a:ext cx="2194560" cy="2377440"/>
          </a:xfrm>
          <a:prstGeom prst="rect">
            <a:avLst/>
          </a:prstGeom>
          <a:noFill/>
          <a:ln/>
        </p:spPr>
        <p:txBody>
          <a:bodyPr wrap="square" lIns="0" tIns="0" rIns="0" bIns="0" rtlCol="0" anchor="t"/>
          <a:lstStyle/>
          <a:p>
            <a:pPr marL="0" indent="0">
              <a:lnSpc>
                <a:spcPct val="130000"/>
              </a:lnSpc>
              <a:spcAft>
                <a:spcPts val="800"/>
              </a:spcAft>
              <a:buNone/>
            </a:pPr>
            <a:r>
              <a:rPr lang="en-US" sz="1050" dirty="0">
                <a:solidFill>
                  <a:srgbClr val="333333"/>
                </a:solidFill>
                <a:latin typeface="Calibri" pitchFamily="34" charset="0"/>
                <a:ea typeface="Calibri" pitchFamily="34" charset="-122"/>
                <a:cs typeface="Calibri" pitchFamily="34" charset="-120"/>
              </a:rPr>
              <a:t>Skin cancer is one of the most common cancers globally. Early detection through data-driven diagnostics can significantly improve patient outcomes.</a:t>
            </a:r>
            <a:endParaRPr lang="en-US" sz="1050" dirty="0"/>
          </a:p>
          <a:p>
            <a:pPr marL="0" indent="0">
              <a:lnSpc>
                <a:spcPct val="130000"/>
              </a:lnSpc>
              <a:buNone/>
            </a:pPr>
            <a:r>
              <a:rPr lang="en-US" sz="1050" dirty="0">
                <a:solidFill>
                  <a:srgbClr val="333333"/>
                </a:solidFill>
                <a:latin typeface="Calibri" pitchFamily="34" charset="0"/>
                <a:ea typeface="Calibri" pitchFamily="34" charset="-122"/>
                <a:cs typeface="Calibri" pitchFamily="34" charset="-120"/>
              </a:rPr>
              <a:t>The DermAI Diagnostics dataset provides clinical patient records and lesion data for analysis using structured SQL queries.</a:t>
            </a:r>
            <a:endParaRPr lang="en-US" sz="1050" dirty="0"/>
          </a:p>
        </p:txBody>
      </p:sp>
      <p:sp>
        <p:nvSpPr>
          <p:cNvPr id="12" name="Shape 9"/>
          <p:cNvSpPr/>
          <p:nvPr/>
        </p:nvSpPr>
        <p:spPr>
          <a:xfrm>
            <a:off x="3337560" y="1275588"/>
            <a:ext cx="2468880" cy="3525012"/>
          </a:xfrm>
          <a:prstGeom prst="rect">
            <a:avLst/>
          </a:prstGeom>
          <a:solidFill>
            <a:srgbClr val="F7F7F7"/>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440429" y="1323867"/>
            <a:ext cx="320040" cy="320040"/>
          </a:xfrm>
          <a:prstGeom prst="rect">
            <a:avLst/>
          </a:prstGeom>
        </p:spPr>
      </p:pic>
      <p:sp>
        <p:nvSpPr>
          <p:cNvPr id="14" name="Text 10"/>
          <p:cNvSpPr/>
          <p:nvPr/>
        </p:nvSpPr>
        <p:spPr>
          <a:xfrm>
            <a:off x="3914774" y="1324328"/>
            <a:ext cx="1737360" cy="32004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ea typeface="Arial Black" pitchFamily="34" charset="-122"/>
                <a:cs typeface="Arial Black" pitchFamily="34" charset="-120"/>
              </a:rPr>
              <a:t>BUSINESS PROBLEM</a:t>
            </a:r>
            <a:endParaRPr lang="en-US" sz="1200" dirty="0"/>
          </a:p>
        </p:txBody>
      </p:sp>
      <p:sp>
        <p:nvSpPr>
          <p:cNvPr id="15" name="Text 11"/>
          <p:cNvSpPr/>
          <p:nvPr/>
        </p:nvSpPr>
        <p:spPr>
          <a:xfrm>
            <a:off x="3474720" y="1965960"/>
            <a:ext cx="2194560" cy="2377440"/>
          </a:xfrm>
          <a:prstGeom prst="rect">
            <a:avLst/>
          </a:prstGeom>
          <a:noFill/>
          <a:ln/>
        </p:spPr>
        <p:txBody>
          <a:bodyPr wrap="square" lIns="0" tIns="0" rIns="0" bIns="0" rtlCol="0" anchor="t"/>
          <a:lstStyle/>
          <a:p>
            <a:pPr marL="0" indent="0">
              <a:lnSpc>
                <a:spcPct val="130000"/>
              </a:lnSpc>
              <a:spcAft>
                <a:spcPts val="800"/>
              </a:spcAft>
              <a:buNone/>
            </a:pPr>
            <a:r>
              <a:rPr lang="en-US" sz="1050" dirty="0">
                <a:solidFill>
                  <a:srgbClr val="333333"/>
                </a:solidFill>
                <a:latin typeface="Calibri" pitchFamily="34" charset="0"/>
                <a:ea typeface="Calibri" pitchFamily="34" charset="-122"/>
                <a:cs typeface="Calibri" pitchFamily="34" charset="-120"/>
              </a:rPr>
              <a:t>Healthcare providers lack structured insights into skin lesion prevalence, demographic risk factors, and diagnostic patterns.</a:t>
            </a:r>
            <a:endParaRPr lang="en-US" sz="1050" dirty="0"/>
          </a:p>
          <a:p>
            <a:pPr marL="0" indent="0">
              <a:lnSpc>
                <a:spcPct val="130000"/>
              </a:lnSpc>
              <a:buNone/>
            </a:pPr>
            <a:r>
              <a:rPr lang="en-US" sz="1050" dirty="0">
                <a:solidFill>
                  <a:srgbClr val="333333"/>
                </a:solidFill>
                <a:latin typeface="Calibri" pitchFamily="34" charset="0"/>
                <a:ea typeface="Calibri" pitchFamily="34" charset="-122"/>
                <a:cs typeface="Calibri" pitchFamily="34" charset="-120"/>
              </a:rPr>
              <a:t>Without data analysis, clinical decisions rely on anecdotal evidence rather than evidence-based patterns derived from patient data.</a:t>
            </a:r>
            <a:endParaRPr lang="en-US" sz="1050" dirty="0"/>
          </a:p>
        </p:txBody>
      </p:sp>
      <p:sp>
        <p:nvSpPr>
          <p:cNvPr id="16" name="Shape 12"/>
          <p:cNvSpPr/>
          <p:nvPr/>
        </p:nvSpPr>
        <p:spPr>
          <a:xfrm>
            <a:off x="6126480" y="1257300"/>
            <a:ext cx="2468880" cy="3543300"/>
          </a:xfrm>
          <a:prstGeom prst="rect">
            <a:avLst/>
          </a:prstGeom>
          <a:solidFill>
            <a:srgbClr val="F7F7F7"/>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6229350" y="1275588"/>
            <a:ext cx="320040" cy="320040"/>
          </a:xfrm>
          <a:prstGeom prst="rect">
            <a:avLst/>
          </a:prstGeom>
        </p:spPr>
      </p:pic>
      <p:sp>
        <p:nvSpPr>
          <p:cNvPr id="18" name="Text 13"/>
          <p:cNvSpPr/>
          <p:nvPr/>
        </p:nvSpPr>
        <p:spPr>
          <a:xfrm>
            <a:off x="6652260" y="1229868"/>
            <a:ext cx="1737360" cy="32004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ea typeface="Arial Black" pitchFamily="34" charset="-122"/>
                <a:cs typeface="Arial Black" pitchFamily="34" charset="-120"/>
              </a:rPr>
              <a:t>OBJECTIVES</a:t>
            </a:r>
            <a:endParaRPr lang="en-US" sz="1200" dirty="0"/>
          </a:p>
        </p:txBody>
      </p:sp>
      <p:sp>
        <p:nvSpPr>
          <p:cNvPr id="19" name="Text 14"/>
          <p:cNvSpPr/>
          <p:nvPr/>
        </p:nvSpPr>
        <p:spPr>
          <a:xfrm>
            <a:off x="6195478" y="1577340"/>
            <a:ext cx="2262721" cy="2377440"/>
          </a:xfrm>
          <a:prstGeom prst="rect">
            <a:avLst/>
          </a:prstGeom>
          <a:noFill/>
          <a:ln/>
        </p:spPr>
        <p:txBody>
          <a:bodyPr wrap="square" lIns="0" tIns="0" rIns="0" bIns="0" rtlCol="0" anchor="t"/>
          <a:lstStyle/>
          <a:p>
            <a:pPr marL="228600" indent="-228600">
              <a:lnSpc>
                <a:spcPct val="115000"/>
              </a:lnSpc>
              <a:spcAft>
                <a:spcPts val="400"/>
              </a:spcAft>
              <a:buClr>
                <a:srgbClr val="E8740C"/>
              </a:buClr>
              <a:buSzPct val="100000"/>
              <a:buChar char="•"/>
            </a:pPr>
            <a:r>
              <a:rPr lang="en-US" sz="1050" dirty="0">
                <a:solidFill>
                  <a:srgbClr val="333333"/>
                </a:solidFill>
                <a:latin typeface="Calibri" pitchFamily="34" charset="0"/>
                <a:ea typeface="Calibri" pitchFamily="34" charset="-122"/>
                <a:cs typeface="Calibri" pitchFamily="34" charset="-120"/>
              </a:rPr>
              <a:t>Develop a relational SQL database for skin cancer analysis.</a:t>
            </a:r>
            <a:endParaRPr lang="en-US" sz="1050" dirty="0"/>
          </a:p>
          <a:p>
            <a:pPr marL="228600" indent="-228600">
              <a:lnSpc>
                <a:spcPct val="115000"/>
              </a:lnSpc>
              <a:spcAft>
                <a:spcPts val="400"/>
              </a:spcAft>
              <a:buClr>
                <a:srgbClr val="E8740C"/>
              </a:buClr>
              <a:buSzPct val="100000"/>
              <a:buChar char="•"/>
            </a:pPr>
            <a:r>
              <a:rPr lang="en-US" sz="1050" dirty="0">
                <a:solidFill>
                  <a:srgbClr val="333333"/>
                </a:solidFill>
                <a:latin typeface="Calibri" pitchFamily="34" charset="0"/>
                <a:ea typeface="Calibri" pitchFamily="34" charset="-122"/>
                <a:cs typeface="Calibri" pitchFamily="34" charset="-120"/>
              </a:rPr>
              <a:t>Examine demographic and environmental factors associated with skin lesion diagnoses.</a:t>
            </a:r>
            <a:endParaRPr lang="en-US" sz="1050" dirty="0"/>
          </a:p>
          <a:p>
            <a:pPr marL="228600" indent="-228600">
              <a:lnSpc>
                <a:spcPct val="115000"/>
              </a:lnSpc>
              <a:spcAft>
                <a:spcPts val="400"/>
              </a:spcAft>
              <a:buClr>
                <a:srgbClr val="E8740C"/>
              </a:buClr>
              <a:buSzPct val="100000"/>
              <a:buChar char="•"/>
            </a:pPr>
            <a:r>
              <a:rPr lang="en-US" sz="1050" dirty="0">
                <a:solidFill>
                  <a:srgbClr val="333333"/>
                </a:solidFill>
                <a:latin typeface="Calibri" pitchFamily="34" charset="0"/>
                <a:ea typeface="Calibri" pitchFamily="34" charset="-122"/>
                <a:cs typeface="Calibri" pitchFamily="34" charset="-120"/>
              </a:rPr>
              <a:t>Analyze lesion characteristics to identify clinically relevant patterns within the dataset.</a:t>
            </a:r>
            <a:endParaRPr lang="en-US" sz="1050" dirty="0"/>
          </a:p>
          <a:p>
            <a:pPr marL="228600" indent="-228600">
              <a:lnSpc>
                <a:spcPct val="115000"/>
              </a:lnSpc>
              <a:spcAft>
                <a:spcPts val="400"/>
              </a:spcAft>
              <a:buClr>
                <a:srgbClr val="E8740C"/>
              </a:buClr>
              <a:buSzPct val="100000"/>
              <a:buChar char="•"/>
            </a:pPr>
            <a:r>
              <a:rPr lang="en-US" sz="1050" dirty="0">
                <a:solidFill>
                  <a:srgbClr val="333333"/>
                </a:solidFill>
                <a:latin typeface="Calibri" pitchFamily="34" charset="0"/>
                <a:ea typeface="Calibri" pitchFamily="34" charset="-122"/>
                <a:cs typeface="Calibri" pitchFamily="34" charset="-120"/>
              </a:rPr>
              <a:t>Create a machine-learning-ready dataset by integrating patient and lesion information into a unified structure.</a:t>
            </a:r>
            <a:endParaRPr lang="en-US" sz="1050" dirty="0"/>
          </a:p>
          <a:p>
            <a:pPr marL="228600" indent="-228600">
              <a:lnSpc>
                <a:spcPct val="115000"/>
              </a:lnSpc>
              <a:spcAft>
                <a:spcPts val="400"/>
              </a:spcAft>
              <a:buClr>
                <a:srgbClr val="E8740C"/>
              </a:buClr>
              <a:buSzPct val="100000"/>
              <a:buChar char="•"/>
            </a:pPr>
            <a:r>
              <a:rPr lang="en-US" sz="1050" dirty="0">
                <a:solidFill>
                  <a:srgbClr val="333333"/>
                </a:solidFill>
                <a:latin typeface="Calibri" pitchFamily="34" charset="0"/>
                <a:ea typeface="Calibri" pitchFamily="34" charset="-122"/>
                <a:cs typeface="Calibri" pitchFamily="34" charset="-120"/>
              </a:rPr>
              <a:t>Explore the potential application of the dataset for artificial intelligence, predictive analytics, and dermatological research.</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DATASET OVERVIEW</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DermAI Diagnostics Database Schema</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3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280160"/>
            <a:ext cx="3749040" cy="3291840"/>
          </a:xfrm>
          <a:prstGeom prst="rect">
            <a:avLst/>
          </a:prstGeom>
          <a:solidFill>
            <a:srgbClr val="F7F7F7"/>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685800" y="1417320"/>
            <a:ext cx="274320" cy="274320"/>
          </a:xfrm>
          <a:prstGeom prst="rect">
            <a:avLst/>
          </a:prstGeom>
        </p:spPr>
      </p:pic>
      <p:sp>
        <p:nvSpPr>
          <p:cNvPr id="10" name="Text 7"/>
          <p:cNvSpPr/>
          <p:nvPr/>
        </p:nvSpPr>
        <p:spPr>
          <a:xfrm>
            <a:off x="1051560" y="1417320"/>
            <a:ext cx="2743200" cy="274320"/>
          </a:xfrm>
          <a:prstGeom prst="rect">
            <a:avLst/>
          </a:prstGeom>
          <a:noFill/>
          <a:ln/>
        </p:spPr>
        <p:txBody>
          <a:bodyPr wrap="square" lIns="0" tIns="0" rIns="0" bIns="0" rtlCol="0" anchor="ctr"/>
          <a:lstStyle/>
          <a:p>
            <a:pPr marL="0" indent="0">
              <a:buNone/>
            </a:pPr>
            <a:r>
              <a:rPr lang="en-US" sz="1400" b="1" dirty="0">
                <a:solidFill>
                  <a:srgbClr val="1A1A1A"/>
                </a:solidFill>
                <a:latin typeface="Consolas" pitchFamily="34" charset="0"/>
                <a:ea typeface="Consolas" pitchFamily="34" charset="-122"/>
                <a:cs typeface="Consolas" pitchFamily="34" charset="-120"/>
              </a:rPr>
              <a:t>patient_info</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828800"/>
          <a:ext cx="3474720" cy="1536192"/>
        </p:xfrm>
        <a:graphic>
          <a:graphicData uri="http://schemas.openxmlformats.org/drawingml/2006/table">
            <a:tbl>
              <a:tblPr/>
              <a:tblGrid>
                <a:gridCol w="13716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Column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patient_id</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Unique patient identifier (PK)</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age</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Patient age at diagnosis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gender</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Male / Female</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smoking</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Smoking status (boolean)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pesticide</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Pesticide exposure (boolean)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Shape 8"/>
          <p:cNvSpPr/>
          <p:nvPr/>
        </p:nvSpPr>
        <p:spPr>
          <a:xfrm>
            <a:off x="4846320" y="1280160"/>
            <a:ext cx="3749040" cy="3291840"/>
          </a:xfrm>
          <a:prstGeom prst="rect">
            <a:avLst/>
          </a:prstGeom>
          <a:solidFill>
            <a:srgbClr val="F7F7F7"/>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83480" y="1417320"/>
            <a:ext cx="274320" cy="274320"/>
          </a:xfrm>
          <a:prstGeom prst="rect">
            <a:avLst/>
          </a:prstGeom>
        </p:spPr>
      </p:pic>
      <p:sp>
        <p:nvSpPr>
          <p:cNvPr id="14" name="Text 9"/>
          <p:cNvSpPr/>
          <p:nvPr/>
        </p:nvSpPr>
        <p:spPr>
          <a:xfrm>
            <a:off x="5349240" y="1417320"/>
            <a:ext cx="2743200" cy="274320"/>
          </a:xfrm>
          <a:prstGeom prst="rect">
            <a:avLst/>
          </a:prstGeom>
          <a:noFill/>
          <a:ln/>
        </p:spPr>
        <p:txBody>
          <a:bodyPr wrap="square" lIns="0" tIns="0" rIns="0" bIns="0" rtlCol="0" anchor="ctr"/>
          <a:lstStyle/>
          <a:p>
            <a:pPr marL="0" indent="0">
              <a:buNone/>
            </a:pPr>
            <a:r>
              <a:rPr lang="en-US" sz="1400" b="1" dirty="0">
                <a:solidFill>
                  <a:srgbClr val="1A1A1A"/>
                </a:solidFill>
                <a:latin typeface="Consolas" pitchFamily="34" charset="0"/>
                <a:ea typeface="Consolas" pitchFamily="34" charset="-122"/>
                <a:cs typeface="Consolas" pitchFamily="34" charset="-120"/>
              </a:rPr>
              <a:t>lesion_info</a:t>
            </a:r>
            <a:endParaRPr lang="en-US" sz="14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983480" y="1828800"/>
          <a:ext cx="3474720" cy="1792224"/>
        </p:xfrm>
        <a:graphic>
          <a:graphicData uri="http://schemas.openxmlformats.org/drawingml/2006/table">
            <a:tbl>
              <a:tblPr/>
              <a:tblGrid>
                <a:gridCol w="14630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Column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0"/>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lesion_id</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Unique lesion identifier (PK)</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patient_id</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Foreign key to patient_info</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diagnostic</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Lesion type / diagnosis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region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Body region of lesion</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dx_length / dx_width</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Lesion dimensions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256032">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biopsied</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Biopsy confirmation status</a:t>
                      </a:r>
                      <a:endParaRPr lang="en-US" sz="10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6" name="Shape 10"/>
          <p:cNvSpPr/>
          <p:nvPr/>
        </p:nvSpPr>
        <p:spPr>
          <a:xfrm>
            <a:off x="3200400" y="4572000"/>
            <a:ext cx="2743200" cy="320040"/>
          </a:xfrm>
          <a:prstGeom prst="rect">
            <a:avLst/>
          </a:prstGeom>
          <a:solidFill>
            <a:srgbClr val="FFF3E6"/>
          </a:solidFill>
          <a:ln/>
        </p:spPr>
        <p:txBody>
          <a:bodyPr/>
          <a:lstStyle/>
          <a:p>
            <a:endParaRPr lang="en-US"/>
          </a:p>
        </p:txBody>
      </p:sp>
      <p:sp>
        <p:nvSpPr>
          <p:cNvPr id="17" name="Text 11"/>
          <p:cNvSpPr/>
          <p:nvPr/>
        </p:nvSpPr>
        <p:spPr>
          <a:xfrm>
            <a:off x="3200400" y="4572000"/>
            <a:ext cx="2743200" cy="320040"/>
          </a:xfrm>
          <a:prstGeom prst="rect">
            <a:avLst/>
          </a:prstGeom>
          <a:noFill/>
          <a:ln/>
        </p:spPr>
        <p:txBody>
          <a:bodyPr wrap="square" lIns="0" tIns="0" rIns="0" bIns="0" rtlCol="0" anchor="ctr"/>
          <a:lstStyle/>
          <a:p>
            <a:pPr marL="0" indent="0" algn="ctr">
              <a:buNone/>
            </a:pPr>
            <a:r>
              <a:rPr lang="en-US" sz="950" dirty="0">
                <a:solidFill>
                  <a:srgbClr val="C45F00"/>
                </a:solidFill>
                <a:latin typeface="Calibri" pitchFamily="34" charset="0"/>
                <a:ea typeface="Calibri" pitchFamily="34" charset="-122"/>
                <a:cs typeface="Calibri" pitchFamily="34" charset="-120"/>
              </a:rPr>
              <a:t>patient_id  is the linking key between tables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DATA PREPARATION</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Renaming Tables for Clarity</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4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325880"/>
            <a:ext cx="5029200" cy="777240"/>
          </a:xfrm>
          <a:prstGeom prst="rect">
            <a:avLst/>
          </a:prstGeom>
          <a:solidFill>
            <a:srgbClr val="1E1E1E"/>
          </a:solidFill>
          <a:ln/>
        </p:spPr>
        <p:txBody>
          <a:bodyPr/>
          <a:lstStyle/>
          <a:p>
            <a:endParaRPr lang="en-US"/>
          </a:p>
        </p:txBody>
      </p:sp>
      <p:sp>
        <p:nvSpPr>
          <p:cNvPr id="9" name="Text 7"/>
          <p:cNvSpPr/>
          <p:nvPr/>
        </p:nvSpPr>
        <p:spPr>
          <a:xfrm>
            <a:off x="685800" y="1417320"/>
            <a:ext cx="4754880" cy="59436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ALTER TABLE table1 RENAME TO patient_info;</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ALTER TABLE table2 RENAME TO lesion_info;</a:t>
            </a:r>
            <a:endParaRPr lang="en-US" sz="1000" dirty="0"/>
          </a:p>
        </p:txBody>
      </p:sp>
      <p:sp>
        <p:nvSpPr>
          <p:cNvPr id="10" name="Text 8"/>
          <p:cNvSpPr/>
          <p:nvPr/>
        </p:nvSpPr>
        <p:spPr>
          <a:xfrm>
            <a:off x="548640" y="2377440"/>
            <a:ext cx="4572000" cy="320040"/>
          </a:xfrm>
          <a:prstGeom prst="rect">
            <a:avLst/>
          </a:prstGeom>
          <a:noFill/>
          <a:ln/>
        </p:spPr>
        <p:txBody>
          <a:bodyPr wrap="square" lIns="0" tIns="0" rIns="0" bIns="0" rtlCol="0" anchor="ctr"/>
          <a:lstStyle/>
          <a:p>
            <a:pPr marL="0" indent="0">
              <a:buNone/>
            </a:pPr>
            <a:r>
              <a:rPr lang="en-US" sz="1300" b="1" dirty="0">
                <a:solidFill>
                  <a:srgbClr val="1A1A1A"/>
                </a:solidFill>
                <a:latin typeface="Arial Black" pitchFamily="34" charset="0"/>
                <a:ea typeface="Arial Black" pitchFamily="34" charset="-122"/>
                <a:cs typeface="Arial Black" pitchFamily="34" charset="-120"/>
              </a:rPr>
              <a:t>WHY RENAME?</a:t>
            </a:r>
            <a:endParaRPr lang="en-US" sz="1300" dirty="0"/>
          </a:p>
        </p:txBody>
      </p:sp>
      <p:sp>
        <p:nvSpPr>
          <p:cNvPr id="11" name="Text 9"/>
          <p:cNvSpPr/>
          <p:nvPr/>
        </p:nvSpPr>
        <p:spPr>
          <a:xfrm>
            <a:off x="548640" y="2697480"/>
            <a:ext cx="5029200" cy="1371600"/>
          </a:xfrm>
          <a:prstGeom prst="rect">
            <a:avLst/>
          </a:prstGeom>
          <a:noFill/>
          <a:ln/>
        </p:spPr>
        <p:txBody>
          <a:bodyPr wrap="square" lIns="0" tIns="0" rIns="0" bIns="0" rtlCol="0" anchor="ctr"/>
          <a:lstStyle/>
          <a:p>
            <a:pPr marL="342900" indent="-342900">
              <a:lnSpc>
                <a:spcPct val="140000"/>
              </a:lnSpc>
              <a:buSzPct val="100000"/>
              <a:buChar char="•"/>
            </a:pPr>
            <a:r>
              <a:rPr lang="en-US" sz="1100" dirty="0">
                <a:solidFill>
                  <a:srgbClr val="333333"/>
                </a:solidFill>
                <a:latin typeface="Calibri" pitchFamily="34" charset="0"/>
                <a:ea typeface="Calibri" pitchFamily="34" charset="-122"/>
                <a:cs typeface="Calibri" pitchFamily="34" charset="-120"/>
              </a:rPr>
              <a:t>Renamed generic table names to meaningful business names</a:t>
            </a:r>
            <a:endParaRPr lang="en-US" sz="1100" dirty="0"/>
          </a:p>
          <a:p>
            <a:pPr marL="342900" indent="-342900">
              <a:lnSpc>
                <a:spcPct val="140000"/>
              </a:lnSpc>
              <a:buSzPct val="100000"/>
              <a:buChar char="•"/>
            </a:pPr>
            <a:r>
              <a:rPr lang="en-US" sz="1100" dirty="0">
                <a:solidFill>
                  <a:srgbClr val="333333"/>
                </a:solidFill>
                <a:latin typeface="Calibri" pitchFamily="34" charset="0"/>
                <a:ea typeface="Calibri" pitchFamily="34" charset="-122"/>
                <a:cs typeface="Calibri" pitchFamily="34" charset="-120"/>
              </a:rPr>
              <a:t>Improves code readability and maintainability</a:t>
            </a:r>
            <a:endParaRPr lang="en-US" sz="1100" dirty="0"/>
          </a:p>
          <a:p>
            <a:pPr marL="342900" indent="-342900">
              <a:lnSpc>
                <a:spcPct val="140000"/>
              </a:lnSpc>
              <a:buSzPct val="100000"/>
              <a:buChar char="•"/>
            </a:pPr>
            <a:r>
              <a:rPr lang="en-US" sz="1100" dirty="0">
                <a:solidFill>
                  <a:srgbClr val="333333"/>
                </a:solidFill>
                <a:latin typeface="Calibri" pitchFamily="34" charset="0"/>
                <a:ea typeface="Calibri" pitchFamily="34" charset="-122"/>
                <a:cs typeface="Calibri" pitchFamily="34" charset="-120"/>
              </a:rPr>
              <a:t>Aligns database objects with domain terminology</a:t>
            </a:r>
            <a:endParaRPr lang="en-US" sz="1100" dirty="0"/>
          </a:p>
          <a:p>
            <a:pPr marL="342900" indent="-342900">
              <a:lnSpc>
                <a:spcPct val="140000"/>
              </a:lnSpc>
              <a:buSzPct val="100000"/>
              <a:buChar char="•"/>
            </a:pPr>
            <a:r>
              <a:rPr lang="en-US" sz="1100" dirty="0">
                <a:solidFill>
                  <a:srgbClr val="333333"/>
                </a:solidFill>
                <a:latin typeface="Calibri" pitchFamily="34" charset="0"/>
                <a:ea typeface="Calibri" pitchFamily="34" charset="-122"/>
                <a:cs typeface="Calibri" pitchFamily="34" charset="-120"/>
              </a:rPr>
              <a:t>Makes SQL queries self-documenting for team collaboration</a:t>
            </a:r>
            <a:endParaRPr lang="en-US" sz="1100" dirty="0"/>
          </a:p>
        </p:txBody>
      </p:sp>
      <p:sp>
        <p:nvSpPr>
          <p:cNvPr id="12" name="Shape 10"/>
          <p:cNvSpPr/>
          <p:nvPr/>
        </p:nvSpPr>
        <p:spPr>
          <a:xfrm>
            <a:off x="6217920" y="1325880"/>
            <a:ext cx="2377440" cy="1188720"/>
          </a:xfrm>
          <a:prstGeom prst="rect">
            <a:avLst/>
          </a:prstGeom>
          <a:solidFill>
            <a:srgbClr val="F7F7F7"/>
          </a:solidFill>
          <a:ln/>
        </p:spPr>
        <p:txBody>
          <a:bodyPr/>
          <a:lstStyle/>
          <a:p>
            <a:endParaRPr lang="en-US"/>
          </a:p>
        </p:txBody>
      </p:sp>
      <p:sp>
        <p:nvSpPr>
          <p:cNvPr id="13" name="Text 11"/>
          <p:cNvSpPr/>
          <p:nvPr/>
        </p:nvSpPr>
        <p:spPr>
          <a:xfrm>
            <a:off x="6217920" y="1371600"/>
            <a:ext cx="237744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Arial Black" pitchFamily="34" charset="0"/>
                <a:ea typeface="Arial Black" pitchFamily="34" charset="-122"/>
                <a:cs typeface="Arial Black" pitchFamily="34" charset="-120"/>
              </a:rPr>
              <a:t>BEFORE</a:t>
            </a:r>
            <a:endParaRPr lang="en-US" sz="1000" dirty="0"/>
          </a:p>
        </p:txBody>
      </p:sp>
      <p:sp>
        <p:nvSpPr>
          <p:cNvPr id="14" name="Text 12"/>
          <p:cNvSpPr/>
          <p:nvPr/>
        </p:nvSpPr>
        <p:spPr>
          <a:xfrm>
            <a:off x="6217920" y="1645920"/>
            <a:ext cx="2377440" cy="731520"/>
          </a:xfrm>
          <a:prstGeom prst="rect">
            <a:avLst/>
          </a:prstGeom>
          <a:noFill/>
          <a:ln/>
        </p:spPr>
        <p:txBody>
          <a:bodyPr wrap="square" lIns="0" tIns="0" rIns="0" bIns="0" rtlCol="0" anchor="ctr"/>
          <a:lstStyle/>
          <a:p>
            <a:pPr marL="0" indent="0" algn="ctr">
              <a:buNone/>
            </a:pPr>
            <a:r>
              <a:rPr lang="en-US" sz="1200" dirty="0">
                <a:solidFill>
                  <a:srgbClr val="666666"/>
                </a:solidFill>
                <a:latin typeface="Consolas" pitchFamily="34" charset="0"/>
                <a:ea typeface="Consolas" pitchFamily="34" charset="-122"/>
                <a:cs typeface="Consolas" pitchFamily="34" charset="-120"/>
              </a:rPr>
              <a:t>table1</a:t>
            </a:r>
            <a:endParaRPr lang="en-US" sz="1200" dirty="0"/>
          </a:p>
          <a:p>
            <a:pPr marL="0" indent="0" algn="ctr">
              <a:buNone/>
            </a:pPr>
            <a:r>
              <a:rPr lang="en-US" sz="1200" dirty="0">
                <a:solidFill>
                  <a:srgbClr val="666666"/>
                </a:solidFill>
                <a:latin typeface="Consolas" pitchFamily="34" charset="0"/>
                <a:ea typeface="Consolas" pitchFamily="34" charset="-122"/>
                <a:cs typeface="Consolas" pitchFamily="34" charset="-120"/>
              </a:rPr>
              <a:t>table2</a:t>
            </a:r>
            <a:endParaRPr lang="en-US" sz="1200" dirty="0"/>
          </a:p>
        </p:txBody>
      </p:sp>
      <p:sp>
        <p:nvSpPr>
          <p:cNvPr id="15" name="Shape 13"/>
          <p:cNvSpPr/>
          <p:nvPr/>
        </p:nvSpPr>
        <p:spPr>
          <a:xfrm>
            <a:off x="6217920" y="2743200"/>
            <a:ext cx="2377440" cy="1188720"/>
          </a:xfrm>
          <a:prstGeom prst="rect">
            <a:avLst/>
          </a:prstGeom>
          <a:solidFill>
            <a:srgbClr val="FFF3E6"/>
          </a:solidFill>
          <a:ln/>
        </p:spPr>
        <p:txBody>
          <a:bodyPr/>
          <a:lstStyle/>
          <a:p>
            <a:endParaRPr lang="en-US"/>
          </a:p>
        </p:txBody>
      </p:sp>
      <p:sp>
        <p:nvSpPr>
          <p:cNvPr id="16" name="Text 14"/>
          <p:cNvSpPr/>
          <p:nvPr/>
        </p:nvSpPr>
        <p:spPr>
          <a:xfrm>
            <a:off x="6217920" y="2788920"/>
            <a:ext cx="2377440" cy="274320"/>
          </a:xfrm>
          <a:prstGeom prst="rect">
            <a:avLst/>
          </a:prstGeom>
          <a:noFill/>
          <a:ln/>
        </p:spPr>
        <p:txBody>
          <a:bodyPr wrap="square" lIns="0" tIns="0" rIns="0" bIns="0" rtlCol="0" anchor="ctr"/>
          <a:lstStyle/>
          <a:p>
            <a:pPr marL="0" indent="0" algn="ctr">
              <a:buNone/>
            </a:pPr>
            <a:r>
              <a:rPr lang="en-US" sz="1000" dirty="0">
                <a:solidFill>
                  <a:srgbClr val="C45F00"/>
                </a:solidFill>
                <a:latin typeface="Arial Black" pitchFamily="34" charset="0"/>
                <a:ea typeface="Arial Black" pitchFamily="34" charset="-122"/>
                <a:cs typeface="Arial Black" pitchFamily="34" charset="-120"/>
              </a:rPr>
              <a:t>AFTER</a:t>
            </a:r>
            <a:endParaRPr lang="en-US" sz="1000" dirty="0"/>
          </a:p>
        </p:txBody>
      </p:sp>
      <p:sp>
        <p:nvSpPr>
          <p:cNvPr id="17" name="Text 15"/>
          <p:cNvSpPr/>
          <p:nvPr/>
        </p:nvSpPr>
        <p:spPr>
          <a:xfrm>
            <a:off x="6217920" y="3063240"/>
            <a:ext cx="2377440" cy="731520"/>
          </a:xfrm>
          <a:prstGeom prst="rect">
            <a:avLst/>
          </a:prstGeom>
          <a:noFill/>
          <a:ln/>
        </p:spPr>
        <p:txBody>
          <a:bodyPr wrap="square" lIns="0" tIns="0" rIns="0" bIns="0" rtlCol="0" anchor="ctr"/>
          <a:lstStyle/>
          <a:p>
            <a:pPr marL="0" indent="0" algn="ctr">
              <a:buNone/>
            </a:pPr>
            <a:r>
              <a:rPr lang="en-US" sz="1200" b="1" dirty="0">
                <a:solidFill>
                  <a:srgbClr val="C45F00"/>
                </a:solidFill>
                <a:latin typeface="Consolas" pitchFamily="34" charset="0"/>
                <a:ea typeface="Consolas" pitchFamily="34" charset="-122"/>
                <a:cs typeface="Consolas" pitchFamily="34" charset="-120"/>
              </a:rPr>
              <a:t>patient_info</a:t>
            </a:r>
            <a:endParaRPr lang="en-US" sz="1200" dirty="0"/>
          </a:p>
          <a:p>
            <a:pPr marL="0" indent="0" algn="ctr">
              <a:buNone/>
            </a:pPr>
            <a:r>
              <a:rPr lang="en-US" sz="1200" b="1" dirty="0">
                <a:solidFill>
                  <a:srgbClr val="C45F00"/>
                </a:solidFill>
                <a:latin typeface="Consolas" pitchFamily="34" charset="0"/>
                <a:ea typeface="Consolas" pitchFamily="34" charset="-122"/>
                <a:cs typeface="Consolas" pitchFamily="34" charset="-120"/>
              </a:rPr>
              <a:t>lesion_info</a:t>
            </a:r>
            <a:endParaRPr lang="en-US" sz="1200" dirty="0"/>
          </a:p>
        </p:txBody>
      </p:sp>
      <p:sp>
        <p:nvSpPr>
          <p:cNvPr id="18" name="Shape 16"/>
          <p:cNvSpPr/>
          <p:nvPr/>
        </p:nvSpPr>
        <p:spPr>
          <a:xfrm>
            <a:off x="548640" y="4041648"/>
            <a:ext cx="8046720" cy="731520"/>
          </a:xfrm>
          <a:prstGeom prst="rect">
            <a:avLst/>
          </a:prstGeom>
          <a:solidFill>
            <a:srgbClr val="FFF3E6"/>
          </a:solidFill>
          <a:ln/>
        </p:spPr>
        <p:txBody>
          <a:bodyPr/>
          <a:lstStyle/>
          <a:p>
            <a:endParaRPr lang="en-US" dirty="0"/>
          </a:p>
        </p:txBody>
      </p:sp>
      <p:pic>
        <p:nvPicPr>
          <p:cNvPr id="19" name="Image 0" descr="preencoded.png"/>
          <p:cNvPicPr>
            <a:picLocks noChangeAspect="1"/>
          </p:cNvPicPr>
          <p:nvPr/>
        </p:nvPicPr>
        <p:blipFill>
          <a:blip r:embed="rId3"/>
          <a:stretch>
            <a:fillRect/>
          </a:stretch>
        </p:blipFill>
        <p:spPr>
          <a:xfrm>
            <a:off x="607363" y="4054861"/>
            <a:ext cx="274320" cy="274320"/>
          </a:xfrm>
          <a:prstGeom prst="rect">
            <a:avLst/>
          </a:prstGeom>
        </p:spPr>
      </p:pic>
      <p:sp>
        <p:nvSpPr>
          <p:cNvPr id="20" name="Text 17"/>
          <p:cNvSpPr/>
          <p:nvPr/>
        </p:nvSpPr>
        <p:spPr>
          <a:xfrm>
            <a:off x="940406" y="4054861"/>
            <a:ext cx="740664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rPr>
              <a:t>RATIONALE</a:t>
            </a:r>
            <a:endParaRPr lang="en-US" sz="1100" dirty="0"/>
          </a:p>
        </p:txBody>
      </p:sp>
      <p:sp>
        <p:nvSpPr>
          <p:cNvPr id="21" name="Text 18"/>
          <p:cNvSpPr/>
          <p:nvPr/>
        </p:nvSpPr>
        <p:spPr>
          <a:xfrm>
            <a:off x="940406" y="4329181"/>
            <a:ext cx="7406640" cy="91440"/>
          </a:xfrm>
          <a:prstGeom prst="rect">
            <a:avLst/>
          </a:prstGeom>
          <a:noFill/>
          <a:ln/>
        </p:spPr>
        <p:txBody>
          <a:bodyPr wrap="square" lIns="0" tIns="0" rIns="0" bIns="0" rtlCol="0" anchor="t"/>
          <a:lstStyle/>
          <a:p>
            <a:r>
              <a:rPr lang="en-US" sz="1000" dirty="0"/>
              <a:t>Renaming generic table names to meaningful business names improves readability, simplifies query development, and enhances database maintainability.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VERIFYING TABLES</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Confirming Database Objects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5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234440"/>
            <a:ext cx="5029200" cy="868680"/>
          </a:xfrm>
          <a:prstGeom prst="rect">
            <a:avLst/>
          </a:prstGeom>
          <a:solidFill>
            <a:srgbClr val="1E1E1E"/>
          </a:solidFill>
          <a:ln/>
        </p:spPr>
        <p:txBody>
          <a:bodyPr/>
          <a:lstStyle/>
          <a:p>
            <a:endParaRPr lang="en-US"/>
          </a:p>
        </p:txBody>
      </p:sp>
      <p:sp>
        <p:nvSpPr>
          <p:cNvPr id="9" name="Text 7"/>
          <p:cNvSpPr/>
          <p:nvPr/>
        </p:nvSpPr>
        <p:spPr>
          <a:xfrm>
            <a:off x="685800" y="1325880"/>
            <a:ext cx="4754880" cy="68580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SELECT table_name</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FROM information_schema.tables</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WHERE table_schema = 'public';</a:t>
            </a:r>
            <a:endParaRPr lang="en-US" sz="1000" dirty="0"/>
          </a:p>
        </p:txBody>
      </p:sp>
      <p:sp>
        <p:nvSpPr>
          <p:cNvPr id="30" name="Text 30"/>
          <p:cNvSpPr/>
          <p:nvPr/>
        </p:nvSpPr>
        <p:spPr>
          <a:xfrm>
            <a:off x="548640" y="2340000"/>
            <a:ext cx="5029200" cy="274320"/>
          </a:xfrm>
          <a:prstGeom prst="rect">
            <a:avLst/>
          </a:prstGeom>
          <a:noFill/>
          <a:ln/>
        </p:spPr>
        <p:txBody>
          <a:bodyPr wrap="square" lIns="0" tIns="0" rIns="0" bIns="0" rtlCol="0" anchor="ctr"/>
          <a:lstStyle/>
          <a:p>
            <a:pPr marL="0" indent="0">
              <a:buNone/>
            </a:pPr>
            <a:r>
              <a:rPr lang="en-US" sz="1200" b="1">
                <a:solidFill>
                  <a:srgbClr val="1A1A1A"/>
                </a:solidFill>
                <a:latin typeface="Arial Black" pitchFamily="34" charset="0"/>
                <a:ea typeface="Arial Black" pitchFamily="34" charset="-122"/>
                <a:cs typeface="Arial Black" pitchFamily="34" charset="-120"/>
              </a:rPr>
              <a:t>QUERY PURPOSE</a:t>
            </a:r>
            <a:endParaRPr lang="en-US" sz="1200"/>
          </a:p>
        </p:txBody>
      </p:sp>
      <p:sp>
        <p:nvSpPr>
          <p:cNvPr id="31" name="Shape 31"/>
          <p:cNvSpPr/>
          <p:nvPr/>
        </p:nvSpPr>
        <p:spPr>
          <a:xfrm>
            <a:off x="548640" y="2614320"/>
            <a:ext cx="548640" cy="27432"/>
          </a:xfrm>
          <a:prstGeom prst="rect">
            <a:avLst/>
          </a:prstGeom>
          <a:solidFill>
            <a:srgbClr val="E8740C"/>
          </a:solidFill>
          <a:ln>
            <a:noFill/>
          </a:ln>
        </p:spPr>
        <p:txBody>
          <a:bodyPr/>
          <a:lstStyle/>
          <a:p>
            <a:endParaRPr lang="en-US"/>
          </a:p>
        </p:txBody>
      </p:sp>
      <p:sp>
        <p:nvSpPr>
          <p:cNvPr id="32" name="Text 32"/>
          <p:cNvSpPr/>
          <p:nvPr/>
        </p:nvSpPr>
        <p:spPr>
          <a:xfrm>
            <a:off x="548640" y="2700000"/>
            <a:ext cx="5029200" cy="500000"/>
          </a:xfrm>
          <a:prstGeom prst="rect">
            <a:avLst/>
          </a:prstGeom>
          <a:noFill/>
          <a:ln/>
        </p:spPr>
        <p:txBody>
          <a:bodyPr wrap="square" lIns="0" tIns="0" rIns="0" bIns="0" rtlCol="0" anchor="t"/>
          <a:lstStyle/>
          <a:p>
            <a:pPr marL="0" indent="0">
              <a:buNone/>
            </a:pPr>
            <a:r>
              <a:rPr lang="en-US" sz="1000">
                <a:solidFill>
                  <a:srgbClr val="444444"/>
                </a:solidFill>
                <a:latin typeface="Calibri" pitchFamily="34" charset="0"/>
                <a:ea typeface="Calibri" pitchFamily="34" charset="-122"/>
                <a:cs typeface="Calibri" pitchFamily="34" charset="-120"/>
              </a:rPr>
              <a:t>This query was used to verify that the renamed tables (patient_info and lesion_info) were successfully created and exist within the public schema of the PostgreSQL database before analysis began.</a:t>
            </a:r>
            <a:endParaRPr lang="en-US" sz="1000"/>
          </a:p>
        </p:txBody>
      </p:sp>
      <p:sp>
        <p:nvSpPr>
          <p:cNvPr id="33" name="Text 33"/>
          <p:cNvSpPr/>
          <p:nvPr/>
        </p:nvSpPr>
        <p:spPr>
          <a:xfrm>
            <a:off x="548640" y="3380000"/>
            <a:ext cx="5029200" cy="274320"/>
          </a:xfrm>
          <a:prstGeom prst="rect">
            <a:avLst/>
          </a:prstGeom>
          <a:noFill/>
          <a:ln/>
        </p:spPr>
        <p:txBody>
          <a:bodyPr wrap="square" lIns="0" tIns="0" rIns="0" bIns="0" rtlCol="0" anchor="ctr"/>
          <a:lstStyle/>
          <a:p>
            <a:pPr marL="0" indent="0">
              <a:buNone/>
            </a:pPr>
            <a:r>
              <a:rPr lang="en-US" sz="1200" b="1">
                <a:solidFill>
                  <a:srgbClr val="1A1A1A"/>
                </a:solidFill>
                <a:latin typeface="Arial Black" pitchFamily="34" charset="0"/>
                <a:ea typeface="Arial Black" pitchFamily="34" charset="-122"/>
                <a:cs typeface="Arial Black" pitchFamily="34" charset="-120"/>
              </a:rPr>
              <a:t>WHY THIS STEP MATTERS</a:t>
            </a:r>
            <a:endParaRPr lang="en-US" sz="1200"/>
          </a:p>
        </p:txBody>
      </p:sp>
      <p:sp>
        <p:nvSpPr>
          <p:cNvPr id="34" name="Shape 34"/>
          <p:cNvSpPr/>
          <p:nvPr/>
        </p:nvSpPr>
        <p:spPr>
          <a:xfrm>
            <a:off x="548640" y="3654320"/>
            <a:ext cx="548640" cy="27432"/>
          </a:xfrm>
          <a:prstGeom prst="rect">
            <a:avLst/>
          </a:prstGeom>
          <a:solidFill>
            <a:srgbClr val="E8740C"/>
          </a:solidFill>
          <a:ln>
            <a:noFill/>
          </a:ln>
        </p:spPr>
        <p:txBody>
          <a:bodyPr/>
          <a:lstStyle/>
          <a:p>
            <a:endParaRPr lang="en-US"/>
          </a:p>
        </p:txBody>
      </p:sp>
      <p:sp>
        <p:nvSpPr>
          <p:cNvPr id="35" name="Text 35"/>
          <p:cNvSpPr/>
          <p:nvPr/>
        </p:nvSpPr>
        <p:spPr>
          <a:xfrm>
            <a:off x="548640" y="3740000"/>
            <a:ext cx="5029200" cy="500000"/>
          </a:xfrm>
          <a:prstGeom prst="rect">
            <a:avLst/>
          </a:prstGeom>
          <a:noFill/>
          <a:ln/>
        </p:spPr>
        <p:txBody>
          <a:bodyPr wrap="square" lIns="0" tIns="0" rIns="0" bIns="0" rtlCol="0" anchor="t"/>
          <a:lstStyle/>
          <a:p>
            <a:pPr marL="0" indent="0">
              <a:buNone/>
            </a:pPr>
            <a:r>
              <a:rPr lang="en-US" sz="1000">
                <a:solidFill>
                  <a:srgbClr val="444444"/>
                </a:solidFill>
                <a:latin typeface="Calibri" pitchFamily="34" charset="0"/>
                <a:ea typeface="Calibri" pitchFamily="34" charset="-122"/>
                <a:cs typeface="Calibri" pitchFamily="34" charset="-120"/>
              </a:rPr>
              <a:t>Verifying database objects before running analysis ensures that all required tables exist and are correctly named. This reduces the risk of query failures and improves the reliability of the analytical results.</a:t>
            </a:r>
            <a:endParaRPr lang="en-US" sz="1000"/>
          </a:p>
        </p:txBody>
      </p:sp>
      <p:sp>
        <p:nvSpPr>
          <p:cNvPr id="17" name="Shape 15"/>
          <p:cNvSpPr/>
          <p:nvPr/>
        </p:nvSpPr>
        <p:spPr>
          <a:xfrm>
            <a:off x="6217920" y="1234440"/>
            <a:ext cx="2377440" cy="2103120"/>
          </a:xfrm>
          <a:prstGeom prst="rect">
            <a:avLst/>
          </a:prstGeom>
          <a:solidFill>
            <a:srgbClr val="F7F7F7"/>
          </a:solidFill>
          <a:ln/>
        </p:spPr>
        <p:txBody>
          <a:bodyPr/>
          <a:lstStyle/>
          <a:p>
            <a:endParaRPr lang="en-US"/>
          </a:p>
        </p:txBody>
      </p:sp>
      <p:sp>
        <p:nvSpPr>
          <p:cNvPr id="18" name="Text 16"/>
          <p:cNvSpPr/>
          <p:nvPr/>
        </p:nvSpPr>
        <p:spPr>
          <a:xfrm>
            <a:off x="6217920" y="1325880"/>
            <a:ext cx="2377440" cy="274320"/>
          </a:xfrm>
          <a:prstGeom prst="rect">
            <a:avLst/>
          </a:prstGeom>
          <a:noFill/>
          <a:ln/>
        </p:spPr>
        <p:txBody>
          <a:bodyPr wrap="square" lIns="0" tIns="0" rIns="0" bIns="0" rtlCol="0" anchor="ctr"/>
          <a:lstStyle/>
          <a:p>
            <a:pPr marL="0" indent="0" algn="ctr">
              <a:buNone/>
            </a:pPr>
            <a:r>
              <a:rPr lang="en-US" sz="1100" dirty="0">
                <a:solidFill>
                  <a:srgbClr val="1A1A1A"/>
                </a:solidFill>
                <a:latin typeface="Arial Black" pitchFamily="34" charset="0"/>
                <a:ea typeface="Arial Black" pitchFamily="34" charset="-122"/>
                <a:cs typeface="Arial Black" pitchFamily="34" charset="-120"/>
              </a:rPr>
              <a:t>RESULT</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46520" y="1828800"/>
          <a:ext cx="1920240" cy="822960"/>
        </p:xfrm>
        <a:graphic>
          <a:graphicData uri="http://schemas.openxmlformats.org/drawingml/2006/table">
            <a:tbl>
              <a:tblPr/>
              <a:tblGrid>
                <a:gridCol w="1920240">
                  <a:extLst>
                    <a:ext uri="{9D8B030D-6E8A-4147-A177-3AD203B41FA5}">
                      <a16:colId xmlns:a16="http://schemas.microsoft.com/office/drawing/2014/main" val="20000"/>
                    </a:ext>
                  </a:extLst>
                </a:gridCol>
              </a:tblGrid>
              <a:tr h="274320">
                <a:tc>
                  <a:txBody>
                    <a:bodyPr/>
                    <a:lstStyle/>
                    <a:p>
                      <a:pPr marL="0" indent="0">
                        <a:buNone/>
                      </a:pPr>
                      <a:r>
                        <a:rPr lang="en-US" sz="1000" b="1" dirty="0">
                          <a:solidFill>
                            <a:srgbClr val="FFFFFF"/>
                          </a:solidFill>
                        </a:rPr>
                        <a:t>table_name</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274320">
                <a:tc>
                  <a:txBody>
                    <a:bodyPr/>
                    <a:lstStyle/>
                    <a:p>
                      <a:pPr marL="0" indent="0">
                        <a:buNone/>
                      </a:pPr>
                      <a:r>
                        <a:rPr lang="en-US" sz="1000" dirty="0">
                          <a:solidFill>
                            <a:srgbClr val="333333"/>
                          </a:solidFill>
                        </a:rPr>
                        <a:t>patient_info</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000" dirty="0">
                          <a:solidFill>
                            <a:srgbClr val="333333"/>
                          </a:solidFill>
                        </a:rPr>
                        <a:t>lesion_info</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20" name="Image 0" descr="preencoded.png"/>
          <p:cNvPicPr>
            <a:picLocks noChangeAspect="1"/>
          </p:cNvPicPr>
          <p:nvPr/>
        </p:nvPicPr>
        <p:blipFill>
          <a:blip r:embed="rId3"/>
          <a:stretch>
            <a:fillRect/>
          </a:stretch>
        </p:blipFill>
        <p:spPr>
          <a:xfrm>
            <a:off x="6903720" y="2834640"/>
            <a:ext cx="365760" cy="365760"/>
          </a:xfrm>
          <a:prstGeom prst="rect">
            <a:avLst/>
          </a:prstGeom>
        </p:spPr>
      </p:pic>
      <p:sp>
        <p:nvSpPr>
          <p:cNvPr id="21" name="Text 17"/>
          <p:cNvSpPr/>
          <p:nvPr/>
        </p:nvSpPr>
        <p:spPr>
          <a:xfrm>
            <a:off x="6400800" y="3200400"/>
            <a:ext cx="1828800" cy="228600"/>
          </a:xfrm>
          <a:prstGeom prst="rect">
            <a:avLst/>
          </a:prstGeom>
          <a:noFill/>
          <a:ln/>
        </p:spPr>
        <p:txBody>
          <a:bodyPr wrap="square" lIns="0" tIns="0" rIns="0" bIns="0" rtlCol="0" anchor="ctr"/>
          <a:lstStyle/>
          <a:p>
            <a:pPr marL="0" indent="0" algn="ctr">
              <a:buNone/>
            </a:pPr>
            <a:r>
              <a:rPr lang="en-US" sz="1000" b="1" dirty="0">
                <a:solidFill>
                  <a:srgbClr val="E8740C"/>
                </a:solidFill>
                <a:latin typeface="Calibri" pitchFamily="34" charset="0"/>
                <a:ea typeface="Calibri" pitchFamily="34" charset="-122"/>
                <a:cs typeface="Calibri" pitchFamily="34" charset="-120"/>
              </a:rPr>
              <a:t>Tables verified</a:t>
            </a:r>
            <a:endParaRPr lang="en-US" sz="1000" dirty="0"/>
          </a:p>
        </p:txBody>
      </p:sp>
      <p:sp>
        <p:nvSpPr>
          <p:cNvPr id="50" name="Shape 50"/>
          <p:cNvSpPr/>
          <p:nvPr/>
        </p:nvSpPr>
        <p:spPr>
          <a:xfrm>
            <a:off x="0" y="4740000"/>
            <a:ext cx="9144000" cy="27432"/>
          </a:xfrm>
          <a:prstGeom prst="rect">
            <a:avLst/>
          </a:prstGeom>
          <a:solidFill>
            <a:srgbClr val="E8740C"/>
          </a:solidFill>
          <a:ln>
            <a:no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EXPLORING PATIENT_INFO</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Understanding Available Patient Fields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6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325880"/>
            <a:ext cx="5029200" cy="502920"/>
          </a:xfrm>
          <a:prstGeom prst="rect">
            <a:avLst/>
          </a:prstGeom>
          <a:solidFill>
            <a:srgbClr val="1E1E1E"/>
          </a:solidFill>
          <a:ln/>
        </p:spPr>
        <p:txBody>
          <a:bodyPr/>
          <a:lstStyle/>
          <a:p>
            <a:endParaRPr lang="en-US"/>
          </a:p>
        </p:txBody>
      </p:sp>
      <p:sp>
        <p:nvSpPr>
          <p:cNvPr id="9" name="Text 7"/>
          <p:cNvSpPr/>
          <p:nvPr/>
        </p:nvSpPr>
        <p:spPr>
          <a:xfrm>
            <a:off x="685800" y="1417320"/>
            <a:ext cx="4754880" cy="32004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SELECT * FROM patient_info LIMIT 3;</a:t>
            </a:r>
            <a:endParaRPr lang="en-US" sz="1000" dirty="0"/>
          </a:p>
        </p:txBody>
      </p:sp>
      <p:sp>
        <p:nvSpPr>
          <p:cNvPr id="10" name="Text 8"/>
          <p:cNvSpPr/>
          <p:nvPr/>
        </p:nvSpPr>
        <p:spPr>
          <a:xfrm>
            <a:off x="548640" y="2057400"/>
            <a:ext cx="457200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ea typeface="Arial Black" pitchFamily="34" charset="-122"/>
                <a:cs typeface="Arial Black" pitchFamily="34" charset="-120"/>
              </a:rPr>
              <a:t>CLAUSE BREAKDOWN</a:t>
            </a:r>
            <a:endParaRPr lang="en-US" sz="1200" dirty="0"/>
          </a:p>
        </p:txBody>
      </p:sp>
      <p:sp>
        <p:nvSpPr>
          <p:cNvPr id="11" name="Text 9"/>
          <p:cNvSpPr/>
          <p:nvPr/>
        </p:nvSpPr>
        <p:spPr>
          <a:xfrm>
            <a:off x="548640" y="2423160"/>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SELECT *</a:t>
            </a:r>
            <a:endParaRPr lang="en-US" sz="1000" dirty="0"/>
          </a:p>
        </p:txBody>
      </p:sp>
      <p:sp>
        <p:nvSpPr>
          <p:cNvPr id="12" name="Text 10"/>
          <p:cNvSpPr/>
          <p:nvPr/>
        </p:nvSpPr>
        <p:spPr>
          <a:xfrm>
            <a:off x="548640" y="2624328"/>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Returns all columns from the table</a:t>
            </a:r>
            <a:endParaRPr lang="en-US" sz="1000" dirty="0"/>
          </a:p>
        </p:txBody>
      </p:sp>
      <p:sp>
        <p:nvSpPr>
          <p:cNvPr id="13" name="Text 11"/>
          <p:cNvSpPr/>
          <p:nvPr/>
        </p:nvSpPr>
        <p:spPr>
          <a:xfrm>
            <a:off x="548640" y="2825496"/>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FROM patient_info</a:t>
            </a:r>
            <a:endParaRPr lang="en-US" sz="1000" dirty="0"/>
          </a:p>
        </p:txBody>
      </p:sp>
      <p:sp>
        <p:nvSpPr>
          <p:cNvPr id="14" name="Text 12"/>
          <p:cNvSpPr/>
          <p:nvPr/>
        </p:nvSpPr>
        <p:spPr>
          <a:xfrm>
            <a:off x="548640" y="3026664"/>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Specifies the source table</a:t>
            </a:r>
            <a:endParaRPr lang="en-US" sz="1000" dirty="0"/>
          </a:p>
        </p:txBody>
      </p:sp>
      <p:sp>
        <p:nvSpPr>
          <p:cNvPr id="15" name="Text 13"/>
          <p:cNvSpPr/>
          <p:nvPr/>
        </p:nvSpPr>
        <p:spPr>
          <a:xfrm>
            <a:off x="548640" y="3227832"/>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LIMIT 3</a:t>
            </a:r>
            <a:endParaRPr lang="en-US" sz="1000" dirty="0"/>
          </a:p>
        </p:txBody>
      </p:sp>
      <p:sp>
        <p:nvSpPr>
          <p:cNvPr id="16" name="Text 14"/>
          <p:cNvSpPr/>
          <p:nvPr/>
        </p:nvSpPr>
        <p:spPr>
          <a:xfrm>
            <a:off x="548640" y="3429000"/>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Restricts output to first 3 rows for quick inspection</a:t>
            </a:r>
            <a:endParaRPr lang="en-US" sz="1000" dirty="0"/>
          </a:p>
        </p:txBody>
      </p:sp>
      <p:sp>
        <p:nvSpPr>
          <p:cNvPr id="17" name="Text 15"/>
          <p:cNvSpPr/>
          <p:nvPr/>
        </p:nvSpPr>
        <p:spPr>
          <a:xfrm>
            <a:off x="548640" y="3657600"/>
            <a:ext cx="2743200" cy="22860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SAMPLE OUTPUT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54864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228600">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patient_id</a:t>
                      </a:r>
                      <a:endParaRPr lang="en-US" sz="8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age</a:t>
                      </a:r>
                      <a:endParaRPr lang="en-US" sz="8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gender</a:t>
                      </a:r>
                      <a:endParaRPr lang="en-US" sz="8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smoking</a:t>
                      </a:r>
                      <a:endParaRPr lang="en-US" sz="8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850" b="1" dirty="0">
                          <a:solidFill>
                            <a:srgbClr val="FFFFFF"/>
                          </a:solidFill>
                          <a:latin typeface="Calibri" pitchFamily="34" charset="0"/>
                          <a:ea typeface="Calibri" pitchFamily="34" charset="-122"/>
                          <a:cs typeface="Calibri" pitchFamily="34" charset="-120"/>
                        </a:rPr>
                        <a:t>pesticide</a:t>
                      </a:r>
                      <a:endParaRPr lang="en-US" sz="8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228600">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PAT001</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45</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Male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TRUE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FALSE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PAT002</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62</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Female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FALSE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TRUE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PAT003</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38</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Male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FALSE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FALSE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9" name="Shape 16"/>
          <p:cNvSpPr/>
          <p:nvPr/>
        </p:nvSpPr>
        <p:spPr>
          <a:xfrm>
            <a:off x="6217920" y="1325880"/>
            <a:ext cx="2377440" cy="2286000"/>
          </a:xfrm>
          <a:prstGeom prst="rect">
            <a:avLst/>
          </a:prstGeom>
          <a:solidFill>
            <a:srgbClr val="FFF3E6"/>
          </a:solidFill>
          <a:ln/>
        </p:spPr>
        <p:txBody>
          <a:bodyPr/>
          <a:lstStyle/>
          <a:p>
            <a:endParaRPr lang="en-US"/>
          </a:p>
        </p:txBody>
      </p:sp>
      <p:sp>
        <p:nvSpPr>
          <p:cNvPr id="20" name="Text 17"/>
          <p:cNvSpPr/>
          <p:nvPr/>
        </p:nvSpPr>
        <p:spPr>
          <a:xfrm>
            <a:off x="6217920" y="1417320"/>
            <a:ext cx="2377440" cy="274320"/>
          </a:xfrm>
          <a:prstGeom prst="rect">
            <a:avLst/>
          </a:prstGeom>
          <a:noFill/>
          <a:ln/>
        </p:spPr>
        <p:txBody>
          <a:bodyPr wrap="square" lIns="0" tIns="0" rIns="0" bIns="0" rtlCol="0" anchor="ctr"/>
          <a:lstStyle/>
          <a:p>
            <a:pPr marL="0" indent="0" algn="ctr">
              <a:buNone/>
            </a:pPr>
            <a:r>
              <a:rPr lang="en-US" sz="1100" dirty="0">
                <a:solidFill>
                  <a:srgbClr val="C45F00"/>
                </a:solidFill>
                <a:latin typeface="Arial Black" pitchFamily="34" charset="0"/>
                <a:ea typeface="Arial Black" pitchFamily="34" charset="-122"/>
                <a:cs typeface="Arial Black" pitchFamily="34" charset="-120"/>
              </a:rPr>
              <a:t>PURPOSE</a:t>
            </a:r>
            <a:endParaRPr lang="en-US" sz="1100" dirty="0"/>
          </a:p>
        </p:txBody>
      </p:sp>
      <p:sp>
        <p:nvSpPr>
          <p:cNvPr id="21" name="Text 18"/>
          <p:cNvSpPr/>
          <p:nvPr/>
        </p:nvSpPr>
        <p:spPr>
          <a:xfrm>
            <a:off x="6400800" y="1783080"/>
            <a:ext cx="2011680" cy="1645920"/>
          </a:xfrm>
          <a:prstGeom prst="rect">
            <a:avLst/>
          </a:prstGeom>
          <a:noFill/>
          <a:ln/>
        </p:spPr>
        <p:txBody>
          <a:bodyPr wrap="square" lIns="0" tIns="0" rIns="0" bIns="0" rtlCol="0" anchor="t"/>
          <a:lstStyle/>
          <a:p>
            <a:pPr marL="0" indent="0">
              <a:lnSpc>
                <a:spcPct val="130000"/>
              </a:lnSpc>
              <a:spcAft>
                <a:spcPts val="600"/>
              </a:spcAft>
              <a:buNone/>
            </a:pPr>
            <a:r>
              <a:rPr lang="en-US" sz="1000" dirty="0">
                <a:solidFill>
                  <a:srgbClr val="333333"/>
                </a:solidFill>
                <a:latin typeface="Calibri" pitchFamily="34" charset="0"/>
                <a:ea typeface="Calibri" pitchFamily="34" charset="-122"/>
                <a:cs typeface="Calibri" pitchFamily="34" charset="-120"/>
              </a:rPr>
              <a:t>Displays sample patient records to understand data structure</a:t>
            </a:r>
            <a:endParaRPr lang="en-US" sz="1000" dirty="0"/>
          </a:p>
          <a:p>
            <a:pPr marL="0" indent="0">
              <a:lnSpc>
                <a:spcPct val="130000"/>
              </a:lnSpc>
              <a:spcAft>
                <a:spcPts val="600"/>
              </a:spcAft>
              <a:buNone/>
            </a:pPr>
            <a:r>
              <a:rPr lang="en-US" sz="1000" dirty="0">
                <a:solidFill>
                  <a:srgbClr val="333333"/>
                </a:solidFill>
                <a:latin typeface="Calibri" pitchFamily="34" charset="0"/>
                <a:ea typeface="Calibri" pitchFamily="34" charset="-122"/>
                <a:cs typeface="Calibri" pitchFamily="34" charset="-120"/>
              </a:rPr>
              <a:t>Identifies available fields for downstream analysis</a:t>
            </a:r>
            <a:endParaRPr lang="en-US" sz="1000" dirty="0"/>
          </a:p>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Validates data types and completeness before running complex queries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EXPLORING LESION_INFO</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Understanding Available Lesion Fields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7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325880"/>
            <a:ext cx="5029200" cy="502920"/>
          </a:xfrm>
          <a:prstGeom prst="rect">
            <a:avLst/>
          </a:prstGeom>
          <a:solidFill>
            <a:srgbClr val="1E1E1E"/>
          </a:solidFill>
          <a:ln/>
        </p:spPr>
        <p:txBody>
          <a:bodyPr/>
          <a:lstStyle/>
          <a:p>
            <a:endParaRPr lang="en-US"/>
          </a:p>
        </p:txBody>
      </p:sp>
      <p:sp>
        <p:nvSpPr>
          <p:cNvPr id="9" name="Text 7"/>
          <p:cNvSpPr/>
          <p:nvPr/>
        </p:nvSpPr>
        <p:spPr>
          <a:xfrm>
            <a:off x="685800" y="1417320"/>
            <a:ext cx="4754880" cy="32004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SELECT * FROM lesion_info LIMIT 3;</a:t>
            </a:r>
            <a:endParaRPr lang="en-US" sz="1000" dirty="0"/>
          </a:p>
        </p:txBody>
      </p:sp>
      <p:sp>
        <p:nvSpPr>
          <p:cNvPr id="10" name="Text 8"/>
          <p:cNvSpPr/>
          <p:nvPr/>
        </p:nvSpPr>
        <p:spPr>
          <a:xfrm>
            <a:off x="548640" y="2057400"/>
            <a:ext cx="457200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ea typeface="Arial Black" pitchFamily="34" charset="-122"/>
                <a:cs typeface="Arial Black" pitchFamily="34" charset="-120"/>
              </a:rPr>
              <a:t>CLAUSE BREAKDOWN</a:t>
            </a:r>
            <a:endParaRPr lang="en-US" sz="1200" dirty="0"/>
          </a:p>
        </p:txBody>
      </p:sp>
      <p:sp>
        <p:nvSpPr>
          <p:cNvPr id="11" name="Text 9"/>
          <p:cNvSpPr/>
          <p:nvPr/>
        </p:nvSpPr>
        <p:spPr>
          <a:xfrm>
            <a:off x="548640" y="2423160"/>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SELECT *</a:t>
            </a:r>
            <a:endParaRPr lang="en-US" sz="1000" dirty="0"/>
          </a:p>
        </p:txBody>
      </p:sp>
      <p:sp>
        <p:nvSpPr>
          <p:cNvPr id="12" name="Text 10"/>
          <p:cNvSpPr/>
          <p:nvPr/>
        </p:nvSpPr>
        <p:spPr>
          <a:xfrm>
            <a:off x="548640" y="2624328"/>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Returns all columns from the lesion table</a:t>
            </a:r>
            <a:endParaRPr lang="en-US" sz="1000" dirty="0"/>
          </a:p>
        </p:txBody>
      </p:sp>
      <p:sp>
        <p:nvSpPr>
          <p:cNvPr id="13" name="Text 11"/>
          <p:cNvSpPr/>
          <p:nvPr/>
        </p:nvSpPr>
        <p:spPr>
          <a:xfrm>
            <a:off x="548640" y="2825496"/>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FROM lesion_info</a:t>
            </a:r>
            <a:endParaRPr lang="en-US" sz="1000" dirty="0"/>
          </a:p>
        </p:txBody>
      </p:sp>
      <p:sp>
        <p:nvSpPr>
          <p:cNvPr id="14" name="Text 12"/>
          <p:cNvSpPr/>
          <p:nvPr/>
        </p:nvSpPr>
        <p:spPr>
          <a:xfrm>
            <a:off x="548640" y="3026664"/>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Specifies the lesion information table</a:t>
            </a:r>
            <a:endParaRPr lang="en-US" sz="1000" dirty="0"/>
          </a:p>
        </p:txBody>
      </p:sp>
      <p:sp>
        <p:nvSpPr>
          <p:cNvPr id="15" name="Text 13"/>
          <p:cNvSpPr/>
          <p:nvPr/>
        </p:nvSpPr>
        <p:spPr>
          <a:xfrm>
            <a:off x="548640" y="3227832"/>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LIMIT 3</a:t>
            </a:r>
            <a:endParaRPr lang="en-US" sz="1000" dirty="0"/>
          </a:p>
        </p:txBody>
      </p:sp>
      <p:sp>
        <p:nvSpPr>
          <p:cNvPr id="16" name="Text 14"/>
          <p:cNvSpPr/>
          <p:nvPr/>
        </p:nvSpPr>
        <p:spPr>
          <a:xfrm>
            <a:off x="548640" y="3429000"/>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Quick preview of first 3 lesion records</a:t>
            </a:r>
            <a:endParaRPr lang="en-US" sz="1000" dirty="0"/>
          </a:p>
        </p:txBody>
      </p:sp>
      <p:sp>
        <p:nvSpPr>
          <p:cNvPr id="17" name="Text 15"/>
          <p:cNvSpPr/>
          <p:nvPr/>
        </p:nvSpPr>
        <p:spPr>
          <a:xfrm>
            <a:off x="548640" y="3657600"/>
            <a:ext cx="2743200" cy="22860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SAMPLE OUTPUT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649224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228600">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lesion_id</a:t>
                      </a:r>
                      <a:endParaRPr lang="en-US" sz="8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patient_id</a:t>
                      </a:r>
                      <a:endParaRPr lang="en-US" sz="8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diagnostic</a:t>
                      </a:r>
                      <a:endParaRPr lang="en-US" sz="8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region</a:t>
                      </a:r>
                      <a:endParaRPr lang="en-US" sz="8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800" b="1" dirty="0">
                          <a:solidFill>
                            <a:srgbClr val="FFFFFF"/>
                          </a:solidFill>
                          <a:latin typeface="Calibri" pitchFamily="34" charset="0"/>
                          <a:ea typeface="Calibri" pitchFamily="34" charset="-122"/>
                          <a:cs typeface="Calibri" pitchFamily="34" charset="-120"/>
                        </a:rPr>
                        <a:t>biopsied</a:t>
                      </a:r>
                      <a:endParaRPr lang="en-US" sz="8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228600">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LES001</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PAT001</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ACK</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FACE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TRUE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LES002</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PAT002</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MEL</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BACK</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TRUE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LES003</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PAT003</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BCC</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SCALP</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900" dirty="0">
                          <a:solidFill>
                            <a:srgbClr val="333333"/>
                          </a:solidFill>
                          <a:latin typeface="Calibri" pitchFamily="34" charset="0"/>
                          <a:ea typeface="Calibri" pitchFamily="34" charset="-122"/>
                          <a:cs typeface="Calibri" pitchFamily="34" charset="-120"/>
                        </a:rPr>
                        <a:t>FALSE</a:t>
                      </a:r>
                      <a:endParaRPr lang="en-US" sz="9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9" name="Shape 16"/>
          <p:cNvSpPr/>
          <p:nvPr/>
        </p:nvSpPr>
        <p:spPr>
          <a:xfrm>
            <a:off x="6217920" y="1325880"/>
            <a:ext cx="2377440" cy="2286000"/>
          </a:xfrm>
          <a:prstGeom prst="rect">
            <a:avLst/>
          </a:prstGeom>
          <a:solidFill>
            <a:srgbClr val="FFF3E6"/>
          </a:solidFill>
          <a:ln/>
        </p:spPr>
        <p:txBody>
          <a:bodyPr/>
          <a:lstStyle/>
          <a:p>
            <a:endParaRPr lang="en-US"/>
          </a:p>
        </p:txBody>
      </p:sp>
      <p:sp>
        <p:nvSpPr>
          <p:cNvPr id="20" name="Text 17"/>
          <p:cNvSpPr/>
          <p:nvPr/>
        </p:nvSpPr>
        <p:spPr>
          <a:xfrm>
            <a:off x="6217920" y="1417320"/>
            <a:ext cx="2377440" cy="274320"/>
          </a:xfrm>
          <a:prstGeom prst="rect">
            <a:avLst/>
          </a:prstGeom>
          <a:noFill/>
          <a:ln/>
        </p:spPr>
        <p:txBody>
          <a:bodyPr wrap="square" lIns="0" tIns="0" rIns="0" bIns="0" rtlCol="0" anchor="ctr"/>
          <a:lstStyle/>
          <a:p>
            <a:pPr marL="0" indent="0" algn="ctr">
              <a:buNone/>
            </a:pPr>
            <a:r>
              <a:rPr lang="en-US" sz="1100" dirty="0">
                <a:solidFill>
                  <a:srgbClr val="C45F00"/>
                </a:solidFill>
                <a:latin typeface="Arial Black" pitchFamily="34" charset="0"/>
                <a:ea typeface="Arial Black" pitchFamily="34" charset="-122"/>
                <a:cs typeface="Arial Black" pitchFamily="34" charset="-120"/>
              </a:rPr>
              <a:t>PURPOSE</a:t>
            </a:r>
            <a:endParaRPr lang="en-US" sz="1100" dirty="0"/>
          </a:p>
        </p:txBody>
      </p:sp>
      <p:sp>
        <p:nvSpPr>
          <p:cNvPr id="21" name="Text 18"/>
          <p:cNvSpPr/>
          <p:nvPr/>
        </p:nvSpPr>
        <p:spPr>
          <a:xfrm>
            <a:off x="6400800" y="1783080"/>
            <a:ext cx="2011680" cy="1645920"/>
          </a:xfrm>
          <a:prstGeom prst="rect">
            <a:avLst/>
          </a:prstGeom>
          <a:noFill/>
          <a:ln/>
        </p:spPr>
        <p:txBody>
          <a:bodyPr wrap="square" lIns="0" tIns="0" rIns="0" bIns="0" rtlCol="0" anchor="t"/>
          <a:lstStyle/>
          <a:p>
            <a:pPr marL="0" indent="0">
              <a:lnSpc>
                <a:spcPct val="130000"/>
              </a:lnSpc>
              <a:spcAft>
                <a:spcPts val="600"/>
              </a:spcAft>
              <a:buNone/>
            </a:pPr>
            <a:r>
              <a:rPr lang="en-US" sz="1000" dirty="0">
                <a:solidFill>
                  <a:srgbClr val="333333"/>
                </a:solidFill>
                <a:latin typeface="Calibri" pitchFamily="34" charset="0"/>
                <a:ea typeface="Calibri" pitchFamily="34" charset="-122"/>
                <a:cs typeface="Calibri" pitchFamily="34" charset="-120"/>
              </a:rPr>
              <a:t>Reveals lesion-level detail including diagnosis type and body region</a:t>
            </a:r>
            <a:endParaRPr lang="en-US" sz="1000" dirty="0"/>
          </a:p>
          <a:p>
            <a:pPr marL="0" indent="0">
              <a:lnSpc>
                <a:spcPct val="130000"/>
              </a:lnSpc>
              <a:spcAft>
                <a:spcPts val="600"/>
              </a:spcAft>
              <a:buNone/>
            </a:pPr>
            <a:r>
              <a:rPr lang="en-US" sz="1000" dirty="0">
                <a:solidFill>
                  <a:srgbClr val="333333"/>
                </a:solidFill>
                <a:latin typeface="Calibri" pitchFamily="34" charset="0"/>
                <a:ea typeface="Calibri" pitchFamily="34" charset="-122"/>
                <a:cs typeface="Calibri" pitchFamily="34" charset="-120"/>
              </a:rPr>
              <a:t>Confirms lesion dimensions and biopsy status fields are available</a:t>
            </a:r>
            <a:endParaRPr lang="en-US" sz="1000" dirty="0"/>
          </a:p>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Validates foreign key relationship through patient_id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p:spPr>
        <p:txBody>
          <a:bodyPr/>
          <a:lstStyle/>
          <a:p>
            <a:endParaRPr lang="en-US"/>
          </a:p>
        </p:txBody>
      </p:sp>
      <p:sp>
        <p:nvSpPr>
          <p:cNvPr id="3" name="Shape 1"/>
          <p:cNvSpPr/>
          <p:nvPr/>
        </p:nvSpPr>
        <p:spPr>
          <a:xfrm>
            <a:off x="0" y="5070348"/>
            <a:ext cx="9144000" cy="73152"/>
          </a:xfrm>
          <a:prstGeom prst="rect">
            <a:avLst/>
          </a:prstGeom>
          <a:solidFill>
            <a:srgbClr val="E8740C"/>
          </a:solidFill>
          <a:ln/>
        </p:spPr>
        <p:txBody>
          <a:bodyPr/>
          <a:lstStyle/>
          <a:p>
            <a:endParaRPr lang="en-US"/>
          </a:p>
        </p:txBody>
      </p:sp>
      <p:sp>
        <p:nvSpPr>
          <p:cNvPr id="4" name="Text 2"/>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a:solidFill>
                  <a:srgbClr val="FFFFFF"/>
                </a:solidFill>
                <a:latin typeface="Arial Black" pitchFamily="34" charset="0"/>
                <a:ea typeface="Arial Black" pitchFamily="34" charset="-122"/>
                <a:cs typeface="Arial Black" pitchFamily="34" charset="-120"/>
              </a:rPr>
              <a:t>SQL ANALYSIS</a:t>
            </a:r>
            <a:endParaRPr lang="en-US" sz="3200"/>
          </a:p>
        </p:txBody>
      </p:sp>
      <p:sp>
        <p:nvSpPr>
          <p:cNvPr id="5" name="Text 3"/>
          <p:cNvSpPr/>
          <p:nvPr/>
        </p:nvSpPr>
        <p:spPr>
          <a:xfrm>
            <a:off x="731520" y="822960"/>
            <a:ext cx="7680960" cy="548640"/>
          </a:xfrm>
          <a:prstGeom prst="rect">
            <a:avLst/>
          </a:prstGeom>
          <a:noFill/>
          <a:ln/>
        </p:spPr>
        <p:txBody>
          <a:bodyPr wrap="square" lIns="0" tIns="0" rIns="0" bIns="0" rtlCol="0" anchor="ctr"/>
          <a:lstStyle/>
          <a:p>
            <a:pPr marL="0" indent="0">
              <a:buNone/>
            </a:pPr>
            <a:r>
              <a:rPr lang="en-US" sz="3200" b="1">
                <a:solidFill>
                  <a:srgbClr val="E8740C"/>
                </a:solidFill>
                <a:latin typeface="Arial Black" pitchFamily="34" charset="0"/>
                <a:ea typeface="Arial Black" pitchFamily="34" charset="-122"/>
                <a:cs typeface="Arial Black" pitchFamily="34" charset="-120"/>
              </a:rPr>
              <a:t>METHODOLOGY</a:t>
            </a:r>
            <a:endParaRPr lang="en-US" sz="3200"/>
          </a:p>
        </p:txBody>
      </p:sp>
      <p:sp>
        <p:nvSpPr>
          <p:cNvPr id="6" name="Shape 4"/>
          <p:cNvSpPr/>
          <p:nvPr/>
        </p:nvSpPr>
        <p:spPr>
          <a:xfrm>
            <a:off x="731520" y="1554480"/>
            <a:ext cx="2286000" cy="36576"/>
          </a:xfrm>
          <a:prstGeom prst="rect">
            <a:avLst/>
          </a:prstGeom>
          <a:solidFill>
            <a:srgbClr val="E8740C"/>
          </a:solidFill>
          <a:ln/>
        </p:spPr>
        <p:txBody>
          <a:bodyPr/>
          <a:lstStyle/>
          <a:p>
            <a:endParaRPr lang="en-US"/>
          </a:p>
        </p:txBody>
      </p:sp>
      <p:sp>
        <p:nvSpPr>
          <p:cNvPr id="7" name="Text 5"/>
          <p:cNvSpPr/>
          <p:nvPr/>
        </p:nvSpPr>
        <p:spPr>
          <a:xfrm>
            <a:off x="731520" y="1645920"/>
            <a:ext cx="6400800" cy="365760"/>
          </a:xfrm>
          <a:prstGeom prst="rect">
            <a:avLst/>
          </a:prstGeom>
          <a:noFill/>
          <a:ln/>
        </p:spPr>
        <p:txBody>
          <a:bodyPr wrap="square" lIns="0" tIns="0" rIns="0" bIns="0" rtlCol="0" anchor="ctr"/>
          <a:lstStyle/>
          <a:p>
            <a:pPr marL="0" indent="0">
              <a:buNone/>
            </a:pPr>
            <a:r>
              <a:rPr lang="en-US" sz="1200">
                <a:solidFill>
                  <a:srgbClr val="AAAAAA"/>
                </a:solidFill>
                <a:latin typeface="Calibri" pitchFamily="34" charset="0"/>
                <a:ea typeface="Calibri" pitchFamily="34" charset="-122"/>
                <a:cs typeface="Calibri" pitchFamily="34" charset="-120"/>
              </a:rPr>
              <a:t>8 structured queries linked to project objectives</a:t>
            </a:r>
            <a:endParaRPr lang="en-US" sz="1200"/>
          </a:p>
        </p:txBody>
      </p:sp>
      <p:sp>
        <p:nvSpPr>
          <p:cNvPr id="10" name="Aim1"/>
          <p:cNvSpPr/>
          <p:nvPr/>
        </p:nvSpPr>
        <p:spPr>
          <a:xfrm>
            <a:off x="731520" y="2194560"/>
            <a:ext cx="2468880" cy="2605024"/>
          </a:xfrm>
          <a:prstGeom prst="rect">
            <a:avLst/>
          </a:prstGeom>
          <a:noFill/>
          <a:ln/>
        </p:spPr>
        <p:txBody>
          <a:bodyPr wrap="square" lIns="0" tIns="0" rIns="0" bIns="0" rtlCol="0" anchor="t"/>
          <a:lstStyle/>
          <a:p>
            <a:pPr marL="0" indent="0">
              <a:spcAft>
                <a:spcPts val="300"/>
              </a:spcAft>
              <a:buNone/>
            </a:pPr>
            <a:r>
              <a:rPr lang="en-US" sz="1050" b="1">
                <a:solidFill>
                  <a:srgbClr val="E8740C"/>
                </a:solidFill>
                <a:latin typeface="Arial Black" pitchFamily="34" charset="0"/>
                <a:ea typeface="Arial Black" pitchFamily="34" charset="-122"/>
                <a:cs typeface="Arial Black" pitchFamily="34" charset="-120"/>
              </a:rPr>
              <a:t>AIM 1: LESION PREVALENCE ANALYSIS</a:t>
            </a:r>
          </a:p>
          <a:p>
            <a:pPr marL="0" indent="0">
              <a:spcAft>
                <a:spcPts val="100"/>
              </a:spcAft>
              <a:buNone/>
            </a:pPr>
            <a:r>
              <a:rPr lang="en-US" sz="950" b="1">
                <a:solidFill>
                  <a:srgbClr val="FFFFFF"/>
                </a:solidFill>
                <a:latin typeface="Calibri" pitchFamily="34" charset="0"/>
                <a:ea typeface="Calibri" pitchFamily="34" charset="-122"/>
                <a:cs typeface="Calibri" pitchFamily="34" charset="-120"/>
              </a:rPr>
              <a:t>Query 1</a:t>
            </a:r>
          </a:p>
          <a:p>
            <a:pPr marL="0" indent="0">
              <a:buNone/>
            </a:pPr>
            <a:r>
              <a:rPr lang="en-US" sz="900">
                <a:solidFill>
                  <a:srgbClr val="AAAAAA"/>
                </a:solidFill>
                <a:latin typeface="Calibri" pitchFamily="34" charset="0"/>
                <a:ea typeface="Calibri" pitchFamily="34" charset="-122"/>
                <a:cs typeface="Calibri" pitchFamily="34" charset="-120"/>
              </a:rPr>
              <a:t>•  Most Common Skin Lesion</a:t>
            </a:r>
          </a:p>
        </p:txBody>
      </p:sp>
      <p:sp>
        <p:nvSpPr>
          <p:cNvPr id="11" name="Aim2"/>
          <p:cNvSpPr/>
          <p:nvPr/>
        </p:nvSpPr>
        <p:spPr>
          <a:xfrm>
            <a:off x="3474720" y="2194560"/>
            <a:ext cx="2468880" cy="2605024"/>
          </a:xfrm>
          <a:prstGeom prst="rect">
            <a:avLst/>
          </a:prstGeom>
          <a:noFill/>
          <a:ln/>
        </p:spPr>
        <p:txBody>
          <a:bodyPr wrap="square" lIns="0" tIns="0" rIns="0" bIns="0" rtlCol="0" anchor="t"/>
          <a:lstStyle/>
          <a:p>
            <a:pPr marL="0" indent="0">
              <a:spcAft>
                <a:spcPts val="300"/>
              </a:spcAft>
              <a:buNone/>
            </a:pPr>
            <a:r>
              <a:rPr lang="en-US" sz="1050" b="1">
                <a:solidFill>
                  <a:srgbClr val="E8740C"/>
                </a:solidFill>
                <a:latin typeface="Arial Black" pitchFamily="34" charset="0"/>
                <a:ea typeface="Arial Black" pitchFamily="34" charset="-122"/>
                <a:cs typeface="Arial Black" pitchFamily="34" charset="-120"/>
              </a:rPr>
              <a:t>AIM 2: DEMOGRAPHIC &amp; ENVIRONMENTAL RISK FACTORS</a:t>
            </a:r>
          </a:p>
          <a:p>
            <a:pPr marL="0" indent="0">
              <a:spcAft>
                <a:spcPts val="100"/>
              </a:spcAft>
              <a:buNone/>
            </a:pPr>
            <a:r>
              <a:rPr lang="en-US" sz="950" b="1">
                <a:solidFill>
                  <a:srgbClr val="FFFFFF"/>
                </a:solidFill>
                <a:latin typeface="Calibri" pitchFamily="34" charset="0"/>
                <a:ea typeface="Calibri" pitchFamily="34" charset="-122"/>
                <a:cs typeface="Calibri" pitchFamily="34" charset="-120"/>
              </a:rPr>
              <a:t>Query 2</a:t>
            </a:r>
          </a:p>
          <a:p>
            <a:pPr marL="0" indent="0">
              <a:spcAft>
                <a:spcPts val="300"/>
              </a:spcAft>
              <a:buNone/>
            </a:pPr>
            <a:r>
              <a:rPr lang="en-US" sz="900">
                <a:solidFill>
                  <a:srgbClr val="AAAAAA"/>
                </a:solidFill>
                <a:latin typeface="Calibri" pitchFamily="34" charset="0"/>
                <a:ea typeface="Calibri" pitchFamily="34" charset="-122"/>
                <a:cs typeface="Calibri" pitchFamily="34" charset="-120"/>
              </a:rPr>
              <a:t>•  Lesions by Gender</a:t>
            </a:r>
          </a:p>
          <a:p>
            <a:pPr marL="0" indent="0">
              <a:spcAft>
                <a:spcPts val="100"/>
              </a:spcAft>
              <a:buNone/>
            </a:pPr>
            <a:r>
              <a:rPr lang="en-US" sz="950" b="1">
                <a:solidFill>
                  <a:srgbClr val="FFFFFF"/>
                </a:solidFill>
                <a:latin typeface="Calibri" pitchFamily="34" charset="0"/>
                <a:ea typeface="Calibri" pitchFamily="34" charset="-122"/>
                <a:cs typeface="Calibri" pitchFamily="34" charset="-120"/>
              </a:rPr>
              <a:t>Query 3</a:t>
            </a:r>
          </a:p>
          <a:p>
            <a:pPr marL="0" indent="0">
              <a:spcAft>
                <a:spcPts val="300"/>
              </a:spcAft>
              <a:buNone/>
            </a:pPr>
            <a:r>
              <a:rPr lang="en-US" sz="900">
                <a:solidFill>
                  <a:srgbClr val="AAAAAA"/>
                </a:solidFill>
                <a:latin typeface="Calibri" pitchFamily="34" charset="0"/>
                <a:ea typeface="Calibri" pitchFamily="34" charset="-122"/>
                <a:cs typeface="Calibri" pitchFamily="34" charset="-120"/>
              </a:rPr>
              <a:t>•  Average Age by Diagnosis</a:t>
            </a:r>
          </a:p>
          <a:p>
            <a:pPr marL="0" indent="0">
              <a:spcAft>
                <a:spcPts val="100"/>
              </a:spcAft>
              <a:buNone/>
            </a:pPr>
            <a:r>
              <a:rPr lang="en-US" sz="950" b="1">
                <a:solidFill>
                  <a:srgbClr val="FFFFFF"/>
                </a:solidFill>
                <a:latin typeface="Calibri" pitchFamily="34" charset="0"/>
                <a:ea typeface="Calibri" pitchFamily="34" charset="-122"/>
                <a:cs typeface="Calibri" pitchFamily="34" charset="-120"/>
              </a:rPr>
              <a:t>Query 4</a:t>
            </a:r>
          </a:p>
          <a:p>
            <a:pPr marL="0" indent="0">
              <a:spcAft>
                <a:spcPts val="300"/>
              </a:spcAft>
              <a:buNone/>
            </a:pPr>
            <a:r>
              <a:rPr lang="en-US" sz="900">
                <a:solidFill>
                  <a:srgbClr val="AAAAAA"/>
                </a:solidFill>
                <a:latin typeface="Calibri" pitchFamily="34" charset="0"/>
                <a:ea typeface="Calibri" pitchFamily="34" charset="-122"/>
                <a:cs typeface="Calibri" pitchFamily="34" charset="-120"/>
              </a:rPr>
              <a:t>•  Smoking &amp; Lesion Types</a:t>
            </a:r>
          </a:p>
          <a:p>
            <a:pPr marL="0" indent="0">
              <a:spcAft>
                <a:spcPts val="100"/>
              </a:spcAft>
              <a:buNone/>
            </a:pPr>
            <a:r>
              <a:rPr lang="en-US" sz="950" b="1">
                <a:solidFill>
                  <a:srgbClr val="FFFFFF"/>
                </a:solidFill>
                <a:latin typeface="Calibri" pitchFamily="34" charset="0"/>
                <a:ea typeface="Calibri" pitchFamily="34" charset="-122"/>
                <a:cs typeface="Calibri" pitchFamily="34" charset="-120"/>
              </a:rPr>
              <a:t>Query 5</a:t>
            </a:r>
          </a:p>
          <a:p>
            <a:pPr marL="0" indent="0">
              <a:buNone/>
            </a:pPr>
            <a:r>
              <a:rPr lang="en-US" sz="900">
                <a:solidFill>
                  <a:srgbClr val="AAAAAA"/>
                </a:solidFill>
                <a:latin typeface="Calibri" pitchFamily="34" charset="0"/>
                <a:ea typeface="Calibri" pitchFamily="34" charset="-122"/>
                <a:cs typeface="Calibri" pitchFamily="34" charset="-120"/>
              </a:rPr>
              <a:t>•  Pesticide Exposure &amp; Diagnosis</a:t>
            </a:r>
          </a:p>
        </p:txBody>
      </p:sp>
      <p:sp>
        <p:nvSpPr>
          <p:cNvPr id="12" name="Aim3"/>
          <p:cNvSpPr/>
          <p:nvPr/>
        </p:nvSpPr>
        <p:spPr>
          <a:xfrm>
            <a:off x="6217920" y="2194560"/>
            <a:ext cx="2468880" cy="2605024"/>
          </a:xfrm>
          <a:prstGeom prst="rect">
            <a:avLst/>
          </a:prstGeom>
          <a:noFill/>
          <a:ln/>
        </p:spPr>
        <p:txBody>
          <a:bodyPr wrap="square" lIns="0" tIns="0" rIns="0" bIns="0" rtlCol="0" anchor="t"/>
          <a:lstStyle/>
          <a:p>
            <a:pPr marL="0" indent="0">
              <a:spcAft>
                <a:spcPts val="300"/>
              </a:spcAft>
              <a:buNone/>
            </a:pPr>
            <a:r>
              <a:rPr lang="en-US" sz="1050" b="1">
                <a:solidFill>
                  <a:srgbClr val="E8740C"/>
                </a:solidFill>
                <a:latin typeface="Arial Black" pitchFamily="34" charset="0"/>
                <a:ea typeface="Arial Black" pitchFamily="34" charset="-122"/>
                <a:cs typeface="Arial Black" pitchFamily="34" charset="-120"/>
              </a:rPr>
              <a:t>AIM 3: LESION CHARACTERISTICS &amp; CLINICAL PATTERNS</a:t>
            </a:r>
          </a:p>
          <a:p>
            <a:pPr marL="0" indent="0">
              <a:spcAft>
                <a:spcPts val="100"/>
              </a:spcAft>
              <a:buNone/>
            </a:pPr>
            <a:r>
              <a:rPr lang="en-US" sz="950" b="1">
                <a:solidFill>
                  <a:srgbClr val="FFFFFF"/>
                </a:solidFill>
                <a:latin typeface="Calibri" pitchFamily="34" charset="0"/>
                <a:ea typeface="Calibri" pitchFamily="34" charset="-122"/>
                <a:cs typeface="Calibri" pitchFamily="34" charset="-120"/>
              </a:rPr>
              <a:t>Query 6</a:t>
            </a:r>
          </a:p>
          <a:p>
            <a:pPr marL="0" indent="0">
              <a:spcAft>
                <a:spcPts val="300"/>
              </a:spcAft>
              <a:buNone/>
            </a:pPr>
            <a:r>
              <a:rPr lang="en-US" sz="900">
                <a:solidFill>
                  <a:srgbClr val="AAAAAA"/>
                </a:solidFill>
                <a:latin typeface="Calibri" pitchFamily="34" charset="0"/>
                <a:ea typeface="Calibri" pitchFamily="34" charset="-122"/>
                <a:cs typeface="Calibri" pitchFamily="34" charset="-120"/>
              </a:rPr>
              <a:t>•  Most Affected Body Region</a:t>
            </a:r>
          </a:p>
          <a:p>
            <a:pPr marL="0" indent="0">
              <a:spcAft>
                <a:spcPts val="100"/>
              </a:spcAft>
              <a:buNone/>
            </a:pPr>
            <a:r>
              <a:rPr lang="en-US" sz="950" b="1">
                <a:solidFill>
                  <a:srgbClr val="FFFFFF"/>
                </a:solidFill>
                <a:latin typeface="Calibri" pitchFamily="34" charset="0"/>
                <a:ea typeface="Calibri" pitchFamily="34" charset="-122"/>
                <a:cs typeface="Calibri" pitchFamily="34" charset="-120"/>
              </a:rPr>
              <a:t>Query 7</a:t>
            </a:r>
          </a:p>
          <a:p>
            <a:pPr marL="0" indent="0">
              <a:spcAft>
                <a:spcPts val="300"/>
              </a:spcAft>
              <a:buNone/>
            </a:pPr>
            <a:r>
              <a:rPr lang="en-US" sz="900">
                <a:solidFill>
                  <a:srgbClr val="AAAAAA"/>
                </a:solidFill>
                <a:latin typeface="Calibri" pitchFamily="34" charset="0"/>
                <a:ea typeface="Calibri" pitchFamily="34" charset="-122"/>
                <a:cs typeface="Calibri" pitchFamily="34" charset="-120"/>
              </a:rPr>
              <a:t>•  Average Lesion Size by Diagnosis</a:t>
            </a:r>
          </a:p>
          <a:p>
            <a:pPr marL="0" indent="0">
              <a:spcAft>
                <a:spcPts val="100"/>
              </a:spcAft>
              <a:buNone/>
            </a:pPr>
            <a:r>
              <a:rPr lang="en-US" sz="950" b="1">
                <a:solidFill>
                  <a:srgbClr val="FFFFFF"/>
                </a:solidFill>
                <a:latin typeface="Calibri" pitchFamily="34" charset="0"/>
                <a:ea typeface="Calibri" pitchFamily="34" charset="-122"/>
                <a:cs typeface="Calibri" pitchFamily="34" charset="-120"/>
              </a:rPr>
              <a:t>Query 8</a:t>
            </a:r>
          </a:p>
          <a:p>
            <a:pPr marL="0" indent="0">
              <a:buNone/>
            </a:pPr>
            <a:r>
              <a:rPr lang="en-US" sz="900">
                <a:solidFill>
                  <a:srgbClr val="AAAAAA"/>
                </a:solidFill>
                <a:latin typeface="Calibri" pitchFamily="34" charset="0"/>
                <a:ea typeface="Calibri" pitchFamily="34" charset="-122"/>
                <a:cs typeface="Calibri" pitchFamily="34" charset="-120"/>
              </a:rPr>
              <a:t>•  Biopsy Confirmation</a:t>
            </a:r>
          </a:p>
        </p:txBody>
      </p:sp>
      <p:sp>
        <p:nvSpPr>
          <p:cNvPr id="15" name="Footer"/>
          <p:cNvSpPr/>
          <p:nvPr/>
        </p:nvSpPr>
        <p:spPr>
          <a:xfrm>
            <a:off x="731520" y="4891680"/>
            <a:ext cx="7680960" cy="137160"/>
          </a:xfrm>
          <a:prstGeom prst="rect">
            <a:avLst/>
          </a:prstGeom>
          <a:noFill/>
          <a:ln/>
        </p:spPr>
        <p:txBody>
          <a:bodyPr wrap="square" lIns="0" tIns="0" rIns="0" bIns="0" rtlCol="0" anchor="ctr"/>
          <a:lstStyle/>
          <a:p>
            <a:pPr marL="0" indent="0">
              <a:buNone/>
            </a:pPr>
            <a:r>
              <a:rPr lang="en-US" sz="800">
                <a:solidFill>
                  <a:srgbClr val="888888"/>
                </a:solidFill>
                <a:latin typeface="Calibri" pitchFamily="34" charset="0"/>
                <a:ea typeface="Calibri" pitchFamily="34" charset="-122"/>
                <a:cs typeface="Calibri" pitchFamily="34" charset="-120"/>
              </a:rPr>
              <a:t>Pod Polaris  |  10Alytics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1: MOST COMMON SKIN LESION</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Which lesion type occurs most frequently?</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9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325880"/>
            <a:ext cx="5029200" cy="1051560"/>
          </a:xfrm>
          <a:prstGeom prst="rect">
            <a:avLst/>
          </a:prstGeom>
          <a:solidFill>
            <a:srgbClr val="1E1E1E"/>
          </a:solidFill>
          <a:ln/>
        </p:spPr>
        <p:txBody>
          <a:bodyPr/>
          <a:lstStyle/>
          <a:p>
            <a:endParaRPr lang="en-US"/>
          </a:p>
        </p:txBody>
      </p:sp>
      <p:sp>
        <p:nvSpPr>
          <p:cNvPr id="9" name="Text 7"/>
          <p:cNvSpPr/>
          <p:nvPr/>
        </p:nvSpPr>
        <p:spPr>
          <a:xfrm>
            <a:off x="685800" y="1417320"/>
            <a:ext cx="4754880" cy="86868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SELECT diagnostic, COUNT(*) AS total_cases</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FROM lesion_info</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GROUP BY diagnostic</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ORDER BY total_cases DESC;</a:t>
            </a:r>
            <a:endParaRPr lang="en-US" sz="1000" dirty="0"/>
          </a:p>
        </p:txBody>
      </p:sp>
      <p:sp>
        <p:nvSpPr>
          <p:cNvPr id="10" name="Text 8"/>
          <p:cNvSpPr/>
          <p:nvPr/>
        </p:nvSpPr>
        <p:spPr>
          <a:xfrm>
            <a:off x="548640" y="2606040"/>
            <a:ext cx="457200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ea typeface="Arial Black" pitchFamily="34" charset="-122"/>
                <a:cs typeface="Arial Black" pitchFamily="34" charset="-120"/>
              </a:rPr>
              <a:t>SYSTEMATIC EXPLANATION</a:t>
            </a:r>
            <a:endParaRPr lang="en-US" sz="1200" dirty="0"/>
          </a:p>
        </p:txBody>
      </p:sp>
      <p:sp>
        <p:nvSpPr>
          <p:cNvPr id="11" name="Text 9"/>
          <p:cNvSpPr/>
          <p:nvPr/>
        </p:nvSpPr>
        <p:spPr>
          <a:xfrm>
            <a:off x="548640" y="2926080"/>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SELECT diagnostic</a:t>
            </a:r>
            <a:endParaRPr lang="en-US" sz="1000" dirty="0"/>
          </a:p>
        </p:txBody>
      </p:sp>
      <p:sp>
        <p:nvSpPr>
          <p:cNvPr id="12" name="Text 10"/>
          <p:cNvSpPr/>
          <p:nvPr/>
        </p:nvSpPr>
        <p:spPr>
          <a:xfrm>
            <a:off x="548640" y="3127248"/>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Retrieves the lesion type from each record</a:t>
            </a:r>
            <a:endParaRPr lang="en-US" sz="1000" dirty="0"/>
          </a:p>
        </p:txBody>
      </p:sp>
      <p:sp>
        <p:nvSpPr>
          <p:cNvPr id="13" name="Text 11"/>
          <p:cNvSpPr/>
          <p:nvPr/>
        </p:nvSpPr>
        <p:spPr>
          <a:xfrm>
            <a:off x="548640" y="3328416"/>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COUNT(*) AS total_cases</a:t>
            </a:r>
            <a:endParaRPr lang="en-US" sz="1000" dirty="0"/>
          </a:p>
        </p:txBody>
      </p:sp>
      <p:sp>
        <p:nvSpPr>
          <p:cNvPr id="14" name="Text 12"/>
          <p:cNvSpPr/>
          <p:nvPr/>
        </p:nvSpPr>
        <p:spPr>
          <a:xfrm>
            <a:off x="548640" y="3529584"/>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Counts rows per group; alias improves readability</a:t>
            </a:r>
            <a:endParaRPr lang="en-US" sz="1000" dirty="0"/>
          </a:p>
        </p:txBody>
      </p:sp>
      <p:sp>
        <p:nvSpPr>
          <p:cNvPr id="15" name="Text 13"/>
          <p:cNvSpPr/>
          <p:nvPr/>
        </p:nvSpPr>
        <p:spPr>
          <a:xfrm>
            <a:off x="548640" y="3730752"/>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GROUP BY diagnostic</a:t>
            </a:r>
            <a:endParaRPr lang="en-US" sz="1000" dirty="0"/>
          </a:p>
        </p:txBody>
      </p:sp>
      <p:sp>
        <p:nvSpPr>
          <p:cNvPr id="16" name="Text 14"/>
          <p:cNvSpPr/>
          <p:nvPr/>
        </p:nvSpPr>
        <p:spPr>
          <a:xfrm>
            <a:off x="548640" y="3931920"/>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Groups all records by lesion type</a:t>
            </a:r>
            <a:endParaRPr lang="en-US" sz="1000" dirty="0"/>
          </a:p>
        </p:txBody>
      </p:sp>
      <p:sp>
        <p:nvSpPr>
          <p:cNvPr id="17" name="Text 15"/>
          <p:cNvSpPr/>
          <p:nvPr/>
        </p:nvSpPr>
        <p:spPr>
          <a:xfrm>
            <a:off x="548640" y="4133088"/>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ORDER BY total_cases DESC</a:t>
            </a:r>
            <a:endParaRPr lang="en-US" sz="1000" dirty="0"/>
          </a:p>
        </p:txBody>
      </p:sp>
      <p:sp>
        <p:nvSpPr>
          <p:cNvPr id="18" name="Text 16"/>
          <p:cNvSpPr/>
          <p:nvPr/>
        </p:nvSpPr>
        <p:spPr>
          <a:xfrm>
            <a:off x="548640" y="4334256"/>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Sorts results with highest frequency first</a:t>
            </a:r>
            <a:endParaRPr lang="en-US" sz="1000" dirty="0"/>
          </a:p>
        </p:txBody>
      </p:sp>
      <p:sp>
        <p:nvSpPr>
          <p:cNvPr id="19" name="Shape 17"/>
          <p:cNvSpPr/>
          <p:nvPr/>
        </p:nvSpPr>
        <p:spPr>
          <a:xfrm>
            <a:off x="6217920" y="1200000"/>
            <a:ext cx="2377440" cy="2200000"/>
          </a:xfrm>
          <a:prstGeom prst="rect">
            <a:avLst/>
          </a:prstGeom>
          <a:solidFill>
            <a:srgbClr val="FFF3E6"/>
          </a:solidFill>
          <a:ln/>
        </p:spPr>
        <p:txBody>
          <a:bodyPr/>
          <a:lstStyle/>
          <a:p>
            <a:endParaRPr lang="en-US"/>
          </a:p>
        </p:txBody>
      </p:sp>
      <p:sp>
        <p:nvSpPr>
          <p:cNvPr id="21" name="Text 18"/>
          <p:cNvSpPr/>
          <p:nvPr/>
        </p:nvSpPr>
        <p:spPr>
          <a:xfrm>
            <a:off x="6355080" y="1290000"/>
            <a:ext cx="2103120" cy="500000"/>
          </a:xfrm>
          <a:prstGeom prst="rect">
            <a:avLst/>
          </a:prstGeom>
          <a:noFill/>
          <a:ln/>
        </p:spPr>
        <p:txBody>
          <a:bodyPr wrap="square" lIns="0" tIns="0" rIns="0" bIns="0" rtlCol="0" anchor="t"/>
          <a:lstStyle/>
          <a:p>
            <a:pPr marL="0" indent="0">
              <a:spcAft>
                <a:spcPts val="100"/>
              </a:spcAft>
              <a:buNone/>
            </a:pPr>
            <a:r>
              <a:rPr lang="en-US" sz="900" b="1">
                <a:solidFill>
                  <a:srgbClr val="E8740C"/>
                </a:solidFill>
                <a:latin typeface="Arial Black" pitchFamily="34" charset="0"/>
                <a:ea typeface="Arial Black" pitchFamily="34" charset="-122"/>
                <a:cs typeface="Arial Black" pitchFamily="34" charset="-120"/>
              </a:rPr>
              <a:t>CATEGORY:</a:t>
            </a:r>
            <a:endParaRPr lang="en-US" sz="900"/>
          </a:p>
          <a:p>
            <a:pPr marL="0" indent="0">
              <a:buNone/>
            </a:pPr>
            <a:r>
              <a:rPr lang="en-US" sz="1000">
                <a:solidFill>
                  <a:srgbClr val="1A1A1A"/>
                </a:solidFill>
                <a:latin typeface="Calibri" pitchFamily="34" charset="0"/>
                <a:ea typeface="Calibri" pitchFamily="34" charset="-122"/>
                <a:cs typeface="Calibri" pitchFamily="34" charset="-120"/>
              </a:rPr>
              <a:t>Lesion Prevalence Analysis (Aim 1)</a:t>
            </a:r>
            <a:endParaRPr lang="en-US" sz="1000"/>
          </a:p>
        </p:txBody>
      </p:sp>
      <p:sp>
        <p:nvSpPr>
          <p:cNvPr id="22" name="Text 19"/>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a:solidFill>
                  <a:srgbClr val="1A1A1A"/>
                </a:solidFill>
                <a:latin typeface="Arial Black" pitchFamily="34" charset="0"/>
                <a:ea typeface="Arial Black" pitchFamily="34" charset="-122"/>
                <a:cs typeface="Arial Black" pitchFamily="34" charset="-120"/>
              </a:rPr>
              <a:t>WHY THIS QUERY?</a:t>
            </a:r>
            <a:endParaRPr lang="en-US" sz="1100"/>
          </a:p>
          <a:p>
            <a:pPr marL="0" indent="0">
              <a:lnSpc>
                <a:spcPct val="130000"/>
              </a:lnSpc>
              <a:buNone/>
            </a:pPr>
            <a:r>
              <a:rPr lang="en-US" sz="900">
                <a:solidFill>
                  <a:srgbClr val="333333"/>
                </a:solidFill>
                <a:latin typeface="Calibri" pitchFamily="34" charset="0"/>
                <a:ea typeface="Calibri" pitchFamily="34" charset="-122"/>
                <a:cs typeface="Calibri" pitchFamily="34" charset="-120"/>
              </a:rPr>
              <a:t>This query was used to identify the most prevalent skin lesion diagnosis within the dataset. Understanding lesion prevalence helps prioritize screening efforts and highlights the lesion types that occur most frequently in the study population.</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1: RESULTS &amp; INSIGHT</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Most Common Skin Lesion</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10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325880"/>
            <a:ext cx="1828800" cy="1188720"/>
          </a:xfrm>
          <a:prstGeom prst="rect">
            <a:avLst/>
          </a:prstGeom>
          <a:solidFill>
            <a:srgbClr val="F7F7F7"/>
          </a:solidFill>
          <a:ln/>
        </p:spPr>
        <p:txBody>
          <a:bodyPr/>
          <a:lstStyle/>
          <a:p>
            <a:endParaRPr lang="en-US"/>
          </a:p>
        </p:txBody>
      </p:sp>
      <p:sp>
        <p:nvSpPr>
          <p:cNvPr id="9" name="Text 7"/>
          <p:cNvSpPr/>
          <p:nvPr/>
        </p:nvSpPr>
        <p:spPr>
          <a:xfrm>
            <a:off x="548640" y="1417320"/>
            <a:ext cx="1828800" cy="653796"/>
          </a:xfrm>
          <a:prstGeom prst="rect">
            <a:avLst/>
          </a:prstGeom>
          <a:noFill/>
          <a:ln/>
        </p:spPr>
        <p:txBody>
          <a:bodyPr wrap="square" lIns="0" tIns="0" rIns="0" bIns="0" rtlCol="0" anchor="b"/>
          <a:lstStyle/>
          <a:p>
            <a:pPr marL="0" indent="0" algn="ctr">
              <a:buNone/>
            </a:pPr>
            <a:r>
              <a:rPr lang="en-US" sz="2800" b="1" dirty="0">
                <a:solidFill>
                  <a:srgbClr val="E8740C"/>
                </a:solidFill>
                <a:latin typeface="Arial Black" pitchFamily="34" charset="0"/>
                <a:ea typeface="Arial Black" pitchFamily="34" charset="-122"/>
                <a:cs typeface="Arial Black" pitchFamily="34" charset="-120"/>
              </a:rPr>
              <a:t>461</a:t>
            </a:r>
            <a:endParaRPr lang="en-US" sz="2800" dirty="0"/>
          </a:p>
        </p:txBody>
      </p:sp>
      <p:sp>
        <p:nvSpPr>
          <p:cNvPr id="10" name="Text 8"/>
          <p:cNvSpPr/>
          <p:nvPr/>
        </p:nvSpPr>
        <p:spPr>
          <a:xfrm>
            <a:off x="640080" y="2039112"/>
            <a:ext cx="1645920" cy="416052"/>
          </a:xfrm>
          <a:prstGeom prst="rect">
            <a:avLst/>
          </a:prstGeom>
          <a:noFill/>
          <a:ln/>
        </p:spPr>
        <p:txBody>
          <a:bodyPr wrap="square" lIns="0" tIns="0" rIns="0" bIns="0" rtlCol="0" anchor="t"/>
          <a:lstStyle/>
          <a:p>
            <a:pPr marL="0" indent="0" algn="ctr">
              <a:buNone/>
            </a:pPr>
            <a:r>
              <a:rPr lang="en-US" sz="900" dirty="0">
                <a:solidFill>
                  <a:srgbClr val="333333"/>
                </a:solidFill>
                <a:latin typeface="Calibri" pitchFamily="34" charset="0"/>
                <a:ea typeface="Calibri" pitchFamily="34" charset="-122"/>
                <a:cs typeface="Calibri" pitchFamily="34" charset="-120"/>
              </a:rPr>
              <a:t>ACK Cases</a:t>
            </a:r>
            <a:endParaRPr lang="en-US" sz="900" dirty="0"/>
          </a:p>
        </p:txBody>
      </p:sp>
      <p:sp>
        <p:nvSpPr>
          <p:cNvPr id="11" name="Shape 9"/>
          <p:cNvSpPr/>
          <p:nvPr/>
        </p:nvSpPr>
        <p:spPr>
          <a:xfrm>
            <a:off x="2560320" y="1325880"/>
            <a:ext cx="1828800" cy="1188720"/>
          </a:xfrm>
          <a:prstGeom prst="rect">
            <a:avLst/>
          </a:prstGeom>
          <a:solidFill>
            <a:srgbClr val="F7F7F7"/>
          </a:solidFill>
          <a:ln/>
        </p:spPr>
        <p:txBody>
          <a:bodyPr/>
          <a:lstStyle/>
          <a:p>
            <a:endParaRPr lang="en-US"/>
          </a:p>
        </p:txBody>
      </p:sp>
      <p:sp>
        <p:nvSpPr>
          <p:cNvPr id="12" name="Text 10"/>
          <p:cNvSpPr/>
          <p:nvPr/>
        </p:nvSpPr>
        <p:spPr>
          <a:xfrm>
            <a:off x="2560320" y="1417320"/>
            <a:ext cx="1828800" cy="653796"/>
          </a:xfrm>
          <a:prstGeom prst="rect">
            <a:avLst/>
          </a:prstGeom>
          <a:noFill/>
          <a:ln/>
        </p:spPr>
        <p:txBody>
          <a:bodyPr wrap="square" lIns="0" tIns="0" rIns="0" bIns="0" rtlCol="0" anchor="b"/>
          <a:lstStyle/>
          <a:p>
            <a:pPr marL="0" indent="0" algn="ctr">
              <a:buNone/>
            </a:pPr>
            <a:r>
              <a:rPr lang="en-US" sz="2800" b="1" dirty="0">
                <a:solidFill>
                  <a:srgbClr val="E8740C"/>
                </a:solidFill>
                <a:latin typeface="Arial Black" pitchFamily="34" charset="0"/>
                <a:ea typeface="Arial Black" pitchFamily="34" charset="-122"/>
                <a:cs typeface="Arial Black" pitchFamily="34" charset="-120"/>
              </a:rPr>
              <a:t>#1</a:t>
            </a:r>
            <a:endParaRPr lang="en-US" sz="2800" dirty="0"/>
          </a:p>
        </p:txBody>
      </p:sp>
      <p:sp>
        <p:nvSpPr>
          <p:cNvPr id="13" name="Text 11"/>
          <p:cNvSpPr/>
          <p:nvPr/>
        </p:nvSpPr>
        <p:spPr>
          <a:xfrm>
            <a:off x="2651760" y="2039112"/>
            <a:ext cx="1645920" cy="416052"/>
          </a:xfrm>
          <a:prstGeom prst="rect">
            <a:avLst/>
          </a:prstGeom>
          <a:noFill/>
          <a:ln/>
        </p:spPr>
        <p:txBody>
          <a:bodyPr wrap="square" lIns="0" tIns="0" rIns="0" bIns="0" rtlCol="0" anchor="t"/>
          <a:lstStyle/>
          <a:p>
            <a:pPr marL="0" indent="0" algn="ctr">
              <a:buNone/>
            </a:pPr>
            <a:r>
              <a:rPr lang="en-US" sz="900" dirty="0">
                <a:solidFill>
                  <a:srgbClr val="333333"/>
                </a:solidFill>
                <a:latin typeface="Calibri" pitchFamily="34" charset="0"/>
                <a:ea typeface="Calibri" pitchFamily="34" charset="-122"/>
                <a:cs typeface="Calibri" pitchFamily="34" charset="-120"/>
              </a:rPr>
              <a:t>Most Prevalent</a:t>
            </a:r>
            <a:endParaRPr lang="en-US" sz="900" dirty="0"/>
          </a:p>
        </p:txBody>
      </p:sp>
      <p:graphicFrame>
        <p:nvGraphicFramePr>
          <p:cNvPr id="14" name="Table 14"/>
          <p:cNvGraphicFramePr>
            <a:graphicFrameLocks noGrp="1"/>
          </p:cNvGraphicFramePr>
          <p:nvPr>
            <p:extLst>
              <p:ext uri="{D42A27DB-BD31-4B8C-83A1-F6EECF244321}">
                <p14:modId xmlns:p14="http://schemas.microsoft.com/office/powerpoint/2010/main" val="2439007530"/>
              </p:ext>
            </p:extLst>
          </p:nvPr>
        </p:nvGraphicFramePr>
        <p:xfrm>
          <a:off x="548640" y="2743200"/>
          <a:ext cx="4114800" cy="2011674"/>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287382">
                <a:tc>
                  <a:txBody>
                    <a:bodyPr/>
                    <a:lstStyle/>
                    <a:p>
                      <a:pPr algn="ctr">
                        <a:buNone/>
                      </a:pPr>
                      <a:r>
                        <a:rPr lang="en-US" sz="1000" b="1" dirty="0">
                          <a:solidFill>
                            <a:srgbClr val="FFFFFF"/>
                          </a:solidFill>
                          <a:latin typeface="Calibri" pitchFamily="34" charset="0"/>
                          <a:cs typeface="Calibri" pitchFamily="34" charset="0"/>
                        </a:rPr>
                        <a:t>Diagnostic</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1000" b="1" dirty="0">
                          <a:solidFill>
                            <a:srgbClr val="FFFFFF"/>
                          </a:solidFill>
                          <a:latin typeface="Calibri" pitchFamily="34" charset="0"/>
                          <a:cs typeface="Calibri" pitchFamily="34" charset="0"/>
                        </a:rPr>
                        <a:t>Total Cases</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extLst>
                  <a:ext uri="{0D108BD9-81ED-4DB2-BD59-A6C34878D82A}">
                    <a16:rowId xmlns:a16="http://schemas.microsoft.com/office/drawing/2014/main" val="10000"/>
                  </a:ext>
                </a:extLst>
              </a:tr>
              <a:tr h="287382">
                <a:tc>
                  <a:txBody>
                    <a:bodyPr/>
                    <a:lstStyle/>
                    <a:p>
                      <a:pPr algn="l">
                        <a:buNone/>
                      </a:pPr>
                      <a:r>
                        <a:rPr lang="en-US" sz="10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461</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extLst>
                  <a:ext uri="{0D108BD9-81ED-4DB2-BD59-A6C34878D82A}">
                    <a16:rowId xmlns:a16="http://schemas.microsoft.com/office/drawing/2014/main" val="10001"/>
                  </a:ext>
                </a:extLst>
              </a:tr>
              <a:tr h="287382">
                <a:tc>
                  <a:txBody>
                    <a:bodyPr/>
                    <a:lstStyle/>
                    <a:p>
                      <a:pPr algn="l">
                        <a:buNone/>
                      </a:pPr>
                      <a:r>
                        <a:rPr lang="en-US" sz="10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273</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2"/>
                  </a:ext>
                </a:extLst>
              </a:tr>
              <a:tr h="287382">
                <a:tc>
                  <a:txBody>
                    <a:bodyPr/>
                    <a:lstStyle/>
                    <a:p>
                      <a:pPr algn="l">
                        <a:buNone/>
                      </a:pPr>
                      <a:r>
                        <a:rPr lang="en-US" sz="10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144</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3"/>
                  </a:ext>
                </a:extLst>
              </a:tr>
              <a:tr h="287382">
                <a:tc>
                  <a:txBody>
                    <a:bodyPr/>
                    <a:lstStyle/>
                    <a:p>
                      <a:pPr algn="l">
                        <a:buNone/>
                      </a:pPr>
                      <a:r>
                        <a:rPr lang="en-US" sz="10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137</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4"/>
                  </a:ext>
                </a:extLst>
              </a:tr>
              <a:tr h="287382">
                <a:tc>
                  <a:txBody>
                    <a:bodyPr/>
                    <a:lstStyle/>
                    <a:p>
                      <a:pPr algn="l">
                        <a:buNone/>
                      </a:pPr>
                      <a:r>
                        <a:rPr lang="en-US" sz="10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56</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5"/>
                  </a:ext>
                </a:extLst>
              </a:tr>
              <a:tr h="287382">
                <a:tc>
                  <a:txBody>
                    <a:bodyPr/>
                    <a:lstStyle/>
                    <a:p>
                      <a:pPr algn="l">
                        <a:buNone/>
                      </a:pPr>
                      <a:r>
                        <a:rPr lang="en-US" sz="10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17</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6"/>
                  </a:ext>
                </a:extLst>
              </a:tr>
            </a:tbl>
          </a:graphicData>
        </a:graphic>
      </p:graphicFrame>
      <p:sp>
        <p:nvSpPr>
          <p:cNvPr id="15" name="Shape 12"/>
          <p:cNvSpPr/>
          <p:nvPr/>
        </p:nvSpPr>
        <p:spPr>
          <a:xfrm>
            <a:off x="5120640" y="1325880"/>
            <a:ext cx="3474720" cy="1371600"/>
          </a:xfrm>
          <a:prstGeom prst="rect">
            <a:avLst/>
          </a:prstGeom>
          <a:solidFill>
            <a:srgbClr val="FFF3E6"/>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5257800" y="1417320"/>
            <a:ext cx="274320" cy="274320"/>
          </a:xfrm>
          <a:prstGeom prst="rect">
            <a:avLst/>
          </a:prstGeom>
        </p:spPr>
      </p:pic>
      <p:sp>
        <p:nvSpPr>
          <p:cNvPr id="17" name="Text 13"/>
          <p:cNvSpPr/>
          <p:nvPr/>
        </p:nvSpPr>
        <p:spPr>
          <a:xfrm>
            <a:off x="5623560" y="1417320"/>
            <a:ext cx="274320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ea typeface="Arial Black" pitchFamily="34" charset="-122"/>
                <a:cs typeface="Arial Black" pitchFamily="34" charset="-120"/>
              </a:rPr>
              <a:t>KEY FINDING</a:t>
            </a:r>
            <a:endParaRPr lang="en-US" sz="1100" dirty="0"/>
          </a:p>
        </p:txBody>
      </p:sp>
      <p:sp>
        <p:nvSpPr>
          <p:cNvPr id="18" name="Text 14"/>
          <p:cNvSpPr/>
          <p:nvPr/>
        </p:nvSpPr>
        <p:spPr>
          <a:xfrm>
            <a:off x="5257800" y="1783080"/>
            <a:ext cx="3200400" cy="822960"/>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ACK (Actinic Keratosis) is the most prevalent lesion type with 461 cases, indicating a high burden of pre-cancerous skin conditions in the patient population.</a:t>
            </a:r>
            <a:endParaRPr lang="en-US" sz="1000" dirty="0"/>
          </a:p>
        </p:txBody>
      </p:sp>
      <p:sp>
        <p:nvSpPr>
          <p:cNvPr id="19" name="Shape 15"/>
          <p:cNvSpPr/>
          <p:nvPr/>
        </p:nvSpPr>
        <p:spPr>
          <a:xfrm>
            <a:off x="5120640" y="2880360"/>
            <a:ext cx="3474720" cy="1188720"/>
          </a:xfrm>
          <a:prstGeom prst="rect">
            <a:avLst/>
          </a:prstGeom>
          <a:solidFill>
            <a:srgbClr val="F7F7F7"/>
          </a:solidFill>
          <a:ln/>
        </p:spPr>
        <p:txBody>
          <a:bodyPr/>
          <a:lstStyle/>
          <a:p>
            <a:endParaRPr lang="en-US"/>
          </a:p>
        </p:txBody>
      </p:sp>
      <p:pic>
        <p:nvPicPr>
          <p:cNvPr id="20" name="Image 1" descr="preencoded.png"/>
          <p:cNvPicPr>
            <a:picLocks noChangeAspect="1"/>
          </p:cNvPicPr>
          <p:nvPr/>
        </p:nvPicPr>
        <p:blipFill>
          <a:blip r:embed="rId4"/>
          <a:stretch>
            <a:fillRect/>
          </a:stretch>
        </p:blipFill>
        <p:spPr>
          <a:xfrm>
            <a:off x="5257800" y="2971800"/>
            <a:ext cx="274320" cy="274320"/>
          </a:xfrm>
          <a:prstGeom prst="rect">
            <a:avLst/>
          </a:prstGeom>
        </p:spPr>
      </p:pic>
      <p:sp>
        <p:nvSpPr>
          <p:cNvPr id="21" name="Text 16"/>
          <p:cNvSpPr/>
          <p:nvPr/>
        </p:nvSpPr>
        <p:spPr>
          <a:xfrm>
            <a:off x="5623560" y="2971800"/>
            <a:ext cx="274320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RECOMMENDATION</a:t>
            </a:r>
            <a:endParaRPr lang="en-US" sz="1100" dirty="0"/>
          </a:p>
        </p:txBody>
      </p:sp>
      <p:sp>
        <p:nvSpPr>
          <p:cNvPr id="22" name="Text 17"/>
          <p:cNvSpPr/>
          <p:nvPr/>
        </p:nvSpPr>
        <p:spPr>
          <a:xfrm>
            <a:off x="5257800" y="3291840"/>
            <a:ext cx="3200400" cy="731520"/>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Strengthen screening programs for ACK. Early detection of pre-cancerous lesions can prevent progression to squamous cell carcinoma.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2: LESIONS BY GENDER</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a:solidFill>
                  <a:srgbClr val="E8740C"/>
                </a:solidFill>
                <a:latin typeface="Calibri" pitchFamily="34" charset="0"/>
                <a:ea typeface="Calibri" pitchFamily="34" charset="-122"/>
                <a:cs typeface="Calibri" pitchFamily="34" charset="-120"/>
              </a:rPr>
              <a:t>Are certain lesions more common in males or females?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11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CodeBg"/>
          <p:cNvSpPr/>
          <p:nvPr/>
        </p:nvSpPr>
        <p:spPr>
          <a:xfrm>
            <a:off x="548640" y="1200000"/>
            <a:ext cx="5029200" cy="1143000"/>
          </a:xfrm>
          <a:prstGeom prst="rect">
            <a:avLst/>
          </a:prstGeom>
          <a:solidFill>
            <a:srgbClr val="1E1E1E"/>
          </a:solidFill>
          <a:ln/>
        </p:spPr>
        <p:txBody>
          <a:bodyPr/>
          <a:lstStyle/>
          <a:p>
            <a:endParaRPr lang="en-US"/>
          </a:p>
        </p:txBody>
      </p:sp>
      <p:sp>
        <p:nvSpPr>
          <p:cNvPr id="9" name="CodeText"/>
          <p:cNvSpPr/>
          <p:nvPr/>
        </p:nvSpPr>
        <p:spPr>
          <a:xfrm>
            <a:off x="685800" y="1280000"/>
            <a:ext cx="4754880" cy="98000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SELECT </a:t>
            </a:r>
            <a:r>
              <a:rPr lang="en-US" sz="1000" dirty="0" err="1">
                <a:solidFill>
                  <a:srgbClr val="D4D4D4"/>
                </a:solidFill>
                <a:latin typeface="Consolas" pitchFamily="34" charset="0"/>
                <a:ea typeface="Consolas" pitchFamily="34" charset="-122"/>
                <a:cs typeface="Consolas" pitchFamily="34" charset="-120"/>
              </a:rPr>
              <a:t>p.gender</a:t>
            </a:r>
            <a:r>
              <a:rPr lang="en-US" sz="1000" dirty="0">
                <a:solidFill>
                  <a:srgbClr val="D4D4D4"/>
                </a:solidFill>
                <a:latin typeface="Consolas" pitchFamily="34" charset="0"/>
                <a:ea typeface="Consolas" pitchFamily="34" charset="-122"/>
                <a:cs typeface="Consolas" pitchFamily="34" charset="-120"/>
              </a:rPr>
              <a:t>, l.diagnostic, COUNT(*) AS total_cases</a:t>
            </a:r>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FROM patient_info p</a:t>
            </a:r>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JOIN lesion_info l</a:t>
            </a:r>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  ON p.patient_id = </a:t>
            </a:r>
            <a:r>
              <a:rPr lang="en-US" sz="1000" dirty="0" err="1">
                <a:solidFill>
                  <a:srgbClr val="D4D4D4"/>
                </a:solidFill>
                <a:latin typeface="Consolas" pitchFamily="34" charset="0"/>
                <a:ea typeface="Consolas" pitchFamily="34" charset="-122"/>
                <a:cs typeface="Consolas" pitchFamily="34" charset="-120"/>
              </a:rPr>
              <a:t>l.patient_id</a:t>
            </a:r>
            <a:endParaRPr lang="en-US" sz="1000" dirty="0">
              <a:solidFill>
                <a:srgbClr val="D4D4D4"/>
              </a:solidFill>
              <a:latin typeface="Consolas" pitchFamily="34" charset="0"/>
              <a:ea typeface="Consolas" pitchFamily="34" charset="-122"/>
              <a:cs typeface="Consolas" pitchFamily="34" charset="-120"/>
            </a:endParaRPr>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GROUP BY </a:t>
            </a:r>
            <a:r>
              <a:rPr lang="en-US" sz="1000" dirty="0" err="1">
                <a:solidFill>
                  <a:srgbClr val="D4D4D4"/>
                </a:solidFill>
                <a:latin typeface="Consolas" pitchFamily="34" charset="0"/>
                <a:ea typeface="Consolas" pitchFamily="34" charset="-122"/>
                <a:cs typeface="Consolas" pitchFamily="34" charset="-120"/>
              </a:rPr>
              <a:t>p.gender</a:t>
            </a:r>
            <a:r>
              <a:rPr lang="en-US" sz="1000" dirty="0">
                <a:solidFill>
                  <a:srgbClr val="D4D4D4"/>
                </a:solidFill>
                <a:latin typeface="Consolas" pitchFamily="34" charset="0"/>
                <a:ea typeface="Consolas" pitchFamily="34" charset="-122"/>
                <a:cs typeface="Consolas" pitchFamily="34" charset="-120"/>
              </a:rPr>
              <a:t>, l.diagnostic</a:t>
            </a:r>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ORDER BY </a:t>
            </a:r>
            <a:r>
              <a:rPr lang="en-US" sz="1000" dirty="0" err="1">
                <a:solidFill>
                  <a:srgbClr val="D4D4D4"/>
                </a:solidFill>
                <a:latin typeface="Consolas" pitchFamily="34" charset="0"/>
                <a:ea typeface="Consolas" pitchFamily="34" charset="-122"/>
                <a:cs typeface="Consolas" pitchFamily="34" charset="-120"/>
              </a:rPr>
              <a:t>p.gender</a:t>
            </a:r>
            <a:r>
              <a:rPr lang="en-US" sz="1000" dirty="0">
                <a:solidFill>
                  <a:srgbClr val="D4D4D4"/>
                </a:solidFill>
                <a:latin typeface="Consolas" pitchFamily="34" charset="0"/>
                <a:ea typeface="Consolas" pitchFamily="34" charset="-122"/>
                <a:cs typeface="Consolas" pitchFamily="34" charset="-120"/>
              </a:rPr>
              <a:t>, total_cases DESC;</a:t>
            </a:r>
          </a:p>
        </p:txBody>
      </p:sp>
      <p:sp>
        <p:nvSpPr>
          <p:cNvPr id="10" name="ExplHead"/>
          <p:cNvSpPr/>
          <p:nvPr/>
        </p:nvSpPr>
        <p:spPr>
          <a:xfrm>
            <a:off x="548640" y="2520000"/>
            <a:ext cx="4572000" cy="274320"/>
          </a:xfrm>
          <a:prstGeom prst="rect">
            <a:avLst/>
          </a:prstGeom>
          <a:noFill/>
          <a:ln/>
        </p:spPr>
        <p:txBody>
          <a:bodyPr wrap="square" lIns="0" tIns="0" rIns="0" bIns="0" rtlCol="0" anchor="ctr"/>
          <a:lstStyle/>
          <a:p>
            <a:pPr marL="0" indent="0">
              <a:buNone/>
            </a:pPr>
            <a:r>
              <a:rPr lang="en-US" sz="1200" b="1">
                <a:solidFill>
                  <a:srgbClr val="1A1A1A"/>
                </a:solidFill>
                <a:latin typeface="Arial Black" pitchFamily="34" charset="0"/>
              </a:rPr>
              <a:t>SYSTEMATIC EXPLANATION</a:t>
            </a:r>
            <a:endParaRPr lang="en-US" sz="1200" dirty="0"/>
          </a:p>
        </p:txBody>
      </p:sp>
      <p:sp>
        <p:nvSpPr>
          <p:cNvPr id="11" name="C1"/>
          <p:cNvSpPr/>
          <p:nvPr/>
        </p:nvSpPr>
        <p:spPr>
          <a:xfrm>
            <a:off x="548640" y="284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SELECT p.gender, l.diagnostic</a:t>
            </a:r>
            <a:endParaRPr lang="en-US" sz="1000" dirty="0"/>
          </a:p>
        </p:txBody>
      </p:sp>
      <p:sp>
        <p:nvSpPr>
          <p:cNvPr id="12" name="D1"/>
          <p:cNvSpPr/>
          <p:nvPr/>
        </p:nvSpPr>
        <p:spPr>
          <a:xfrm>
            <a:off x="548640" y="302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Retrieves the patient’s gender and lesion diagnosis.</a:t>
            </a:r>
            <a:endParaRPr lang="en-US" sz="1000" dirty="0"/>
          </a:p>
        </p:txBody>
      </p:sp>
      <p:sp>
        <p:nvSpPr>
          <p:cNvPr id="13" name="C2"/>
          <p:cNvSpPr/>
          <p:nvPr/>
        </p:nvSpPr>
        <p:spPr>
          <a:xfrm>
            <a:off x="548640" y="323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COUNT(*)</a:t>
            </a:r>
            <a:endParaRPr lang="en-US" sz="1000" dirty="0"/>
          </a:p>
        </p:txBody>
      </p:sp>
      <p:sp>
        <p:nvSpPr>
          <p:cNvPr id="14" name="D2"/>
          <p:cNvSpPr/>
          <p:nvPr/>
        </p:nvSpPr>
        <p:spPr>
          <a:xfrm>
            <a:off x="548640" y="341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Counts the total number of cases for each gender-diagnosis combination.</a:t>
            </a:r>
            <a:endParaRPr lang="en-US" sz="1000" dirty="0"/>
          </a:p>
        </p:txBody>
      </p:sp>
      <p:sp>
        <p:nvSpPr>
          <p:cNvPr id="15" name="C3"/>
          <p:cNvSpPr/>
          <p:nvPr/>
        </p:nvSpPr>
        <p:spPr>
          <a:xfrm>
            <a:off x="548640" y="362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JOIN patient_info &amp; lesion_info</a:t>
            </a:r>
            <a:endParaRPr lang="en-US" sz="1000" dirty="0"/>
          </a:p>
        </p:txBody>
      </p:sp>
      <p:sp>
        <p:nvSpPr>
          <p:cNvPr id="16" name="D3"/>
          <p:cNvSpPr/>
          <p:nvPr/>
        </p:nvSpPr>
        <p:spPr>
          <a:xfrm>
            <a:off x="548640" y="380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Combines patient records with lesion information.</a:t>
            </a:r>
            <a:endParaRPr lang="en-US" sz="1000" dirty="0"/>
          </a:p>
        </p:txBody>
      </p:sp>
      <p:sp>
        <p:nvSpPr>
          <p:cNvPr id="17" name="C4"/>
          <p:cNvSpPr/>
          <p:nvPr/>
        </p:nvSpPr>
        <p:spPr>
          <a:xfrm>
            <a:off x="548640" y="401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GROUP BY p.gender, l.diagnostic</a:t>
            </a:r>
            <a:endParaRPr lang="en-US" sz="1000"/>
          </a:p>
        </p:txBody>
      </p:sp>
      <p:sp>
        <p:nvSpPr>
          <p:cNvPr id="18" name="D4"/>
          <p:cNvSpPr/>
          <p:nvPr/>
        </p:nvSpPr>
        <p:spPr>
          <a:xfrm>
            <a:off x="548640" y="419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Groups cases by gender and diagnosis type.</a:t>
            </a:r>
            <a:endParaRPr lang="en-US" sz="1000"/>
          </a:p>
        </p:txBody>
      </p:sp>
      <p:sp>
        <p:nvSpPr>
          <p:cNvPr id="19" name="C5"/>
          <p:cNvSpPr/>
          <p:nvPr/>
        </p:nvSpPr>
        <p:spPr>
          <a:xfrm>
            <a:off x="548640" y="440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ORDER BY p.gender, total_cases DESC</a:t>
            </a:r>
            <a:endParaRPr lang="en-US" sz="1000"/>
          </a:p>
        </p:txBody>
      </p:sp>
      <p:sp>
        <p:nvSpPr>
          <p:cNvPr id="23" name="D5"/>
          <p:cNvSpPr/>
          <p:nvPr/>
        </p:nvSpPr>
        <p:spPr>
          <a:xfrm>
            <a:off x="548640" y="458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Ranks diagnoses by frequency within each gender group.</a:t>
            </a:r>
            <a:endParaRPr lang="en-US" sz="1000"/>
          </a:p>
        </p:txBody>
      </p:sp>
      <p:sp>
        <p:nvSpPr>
          <p:cNvPr id="20" name="CalloutBg"/>
          <p:cNvSpPr/>
          <p:nvPr/>
        </p:nvSpPr>
        <p:spPr>
          <a:xfrm>
            <a:off x="6217920" y="1200000"/>
            <a:ext cx="2377440" cy="2200000"/>
          </a:xfrm>
          <a:prstGeom prst="rect">
            <a:avLst/>
          </a:prstGeom>
          <a:solidFill>
            <a:srgbClr val="FFF3E6"/>
          </a:solidFill>
          <a:ln/>
        </p:spPr>
        <p:txBody>
          <a:bodyPr/>
          <a:lstStyle/>
          <a:p>
            <a:endParaRPr lang="en-US"/>
          </a:p>
        </p:txBody>
      </p:sp>
      <p:sp>
        <p:nvSpPr>
          <p:cNvPr id="21" name="CalloutTitle"/>
          <p:cNvSpPr/>
          <p:nvPr/>
        </p:nvSpPr>
        <p:spPr>
          <a:xfrm>
            <a:off x="6355079" y="1290000"/>
            <a:ext cx="2168135" cy="500000"/>
          </a:xfrm>
          <a:prstGeom prst="rect">
            <a:avLst/>
          </a:prstGeom>
          <a:noFill/>
          <a:ln/>
        </p:spPr>
        <p:txBody>
          <a:bodyPr wrap="square" lIns="0" tIns="0" rIns="0" bIns="0" rtlCol="0" anchor="t"/>
          <a:lstStyle/>
          <a:p>
            <a:pPr marL="0" indent="0">
              <a:spcAft>
                <a:spcPts val="100"/>
              </a:spcAft>
              <a:buNone/>
            </a:pPr>
            <a:r>
              <a:rPr lang="en-US" sz="900" b="1" dirty="0">
                <a:solidFill>
                  <a:srgbClr val="E8740C"/>
                </a:solidFill>
                <a:latin typeface="Arial Black" pitchFamily="34" charset="0"/>
                <a:ea typeface="Arial Black" pitchFamily="34" charset="-122"/>
                <a:cs typeface="Arial Black" pitchFamily="34" charset="-120"/>
              </a:rPr>
              <a:t>CATEGORY:</a:t>
            </a:r>
            <a:endParaRPr lang="en-US" sz="900" dirty="0"/>
          </a:p>
          <a:p>
            <a:pPr marL="0" indent="0">
              <a:buNone/>
            </a:pPr>
            <a:r>
              <a:rPr lang="en-US" sz="1000" dirty="0">
                <a:solidFill>
                  <a:srgbClr val="1A1A1A"/>
                </a:solidFill>
                <a:latin typeface="Calibri" pitchFamily="34" charset="0"/>
                <a:ea typeface="Calibri" pitchFamily="34" charset="-122"/>
                <a:cs typeface="Calibri" pitchFamily="34" charset="-120"/>
              </a:rPr>
              <a:t>Demographic Risk Factor Analysis (Aim 2)</a:t>
            </a:r>
            <a:endParaRPr lang="en-US" sz="1000" dirty="0"/>
          </a:p>
        </p:txBody>
      </p:sp>
      <p:sp>
        <p:nvSpPr>
          <p:cNvPr id="22" name="CalloutText"/>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a:solidFill>
                  <a:srgbClr val="1A1A1A"/>
                </a:solidFill>
                <a:latin typeface="Arial Black" pitchFamily="34" charset="0"/>
                <a:ea typeface="Arial Black" pitchFamily="34" charset="-122"/>
                <a:cs typeface="Arial Black" pitchFamily="34" charset="-120"/>
              </a:rPr>
              <a:t>WHY THIS QUERY?</a:t>
            </a:r>
            <a:endParaRPr lang="en-US" sz="1100"/>
          </a:p>
          <a:p>
            <a:pPr marL="0" indent="0">
              <a:lnSpc>
                <a:spcPct val="130000"/>
              </a:lnSpc>
              <a:buNone/>
            </a:pPr>
            <a:r>
              <a:rPr lang="en-US" sz="900">
                <a:solidFill>
                  <a:srgbClr val="333333"/>
                </a:solidFill>
                <a:latin typeface="Calibri" pitchFamily="34" charset="0"/>
                <a:ea typeface="Calibri" pitchFamily="34" charset="-122"/>
                <a:cs typeface="Calibri" pitchFamily="34" charset="-120"/>
              </a:rPr>
              <a:t>This query was used to determine whether certain lesion diagnoses occur more frequently in males or females. Gender is a key demographic factor that may influence disease occurrence.</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2: RESULTS &amp; INSIGHT</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Lesions by Gender</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12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graphicFrame>
        <p:nvGraphicFramePr>
          <p:cNvPr id="8" name="Table 8"/>
          <p:cNvGraphicFramePr>
            <a:graphicFrameLocks noGrp="1"/>
          </p:cNvGraphicFramePr>
          <p:nvPr>
            <p:extLst>
              <p:ext uri="{D42A27DB-BD31-4B8C-83A1-F6EECF244321}">
                <p14:modId xmlns:p14="http://schemas.microsoft.com/office/powerpoint/2010/main" val="692232580"/>
              </p:ext>
            </p:extLst>
          </p:nvPr>
        </p:nvGraphicFramePr>
        <p:xfrm>
          <a:off x="548640" y="1325880"/>
          <a:ext cx="4572000" cy="2971800"/>
        </p:xfrm>
        <a:graphic>
          <a:graphicData uri="http://schemas.openxmlformats.org/drawingml/2006/table">
            <a:tbl>
              <a:tblPr firstRow="1" bandRow="1">
                <a:noFill/>
              </a:tblPr>
              <a:tblGrid>
                <a:gridCol w="1371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196947">
                <a:tc>
                  <a:txBody>
                    <a:bodyPr/>
                    <a:lstStyle/>
                    <a:p>
                      <a:pPr algn="ctr">
                        <a:buNone/>
                      </a:pPr>
                      <a:r>
                        <a:rPr lang="en-US" sz="900" b="1" dirty="0">
                          <a:solidFill>
                            <a:srgbClr val="FFFFFF"/>
                          </a:solidFill>
                          <a:latin typeface="Calibri" pitchFamily="34" charset="0"/>
                          <a:cs typeface="Calibri" pitchFamily="34" charset="0"/>
                        </a:rPr>
                        <a:t>Gender</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900" b="1" dirty="0">
                          <a:solidFill>
                            <a:srgbClr val="FFFFFF"/>
                          </a:solidFill>
                          <a:latin typeface="Calibri" pitchFamily="34" charset="0"/>
                          <a:cs typeface="Calibri" pitchFamily="34" charset="0"/>
                        </a:rPr>
                        <a:t>Diagnostic</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900" b="1" dirty="0">
                          <a:solidFill>
                            <a:srgbClr val="FFFFFF"/>
                          </a:solidFill>
                          <a:latin typeface="Calibri" pitchFamily="34" charset="0"/>
                          <a:cs typeface="Calibri" pitchFamily="34" charset="0"/>
                        </a:rPr>
                        <a:t>Total Cases</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extLst>
                  <a:ext uri="{0D108BD9-81ED-4DB2-BD59-A6C34878D82A}">
                    <a16:rowId xmlns:a16="http://schemas.microsoft.com/office/drawing/2014/main" val="10000"/>
                  </a:ext>
                </a:extLst>
              </a:tr>
              <a:tr h="196947">
                <a:tc>
                  <a:txBody>
                    <a:bodyPr/>
                    <a:lstStyle/>
                    <a:p>
                      <a:pPr algn="l">
                        <a:buNone/>
                      </a:pPr>
                      <a:r>
                        <a:rPr lang="en-US" sz="900" dirty="0">
                          <a:solidFill>
                            <a:srgbClr val="1A1A1A"/>
                          </a:solidFill>
                          <a:latin typeface="Calibri" pitchFamily="34" charset="0"/>
                          <a:cs typeface="Calibri" pitchFamily="34" charset="0"/>
                        </a:rPr>
                        <a:t>Female</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135</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extLst>
                  <a:ext uri="{0D108BD9-81ED-4DB2-BD59-A6C34878D82A}">
                    <a16:rowId xmlns:a16="http://schemas.microsoft.com/office/drawing/2014/main" val="10001"/>
                  </a:ext>
                </a:extLst>
              </a:tr>
              <a:tr h="196947">
                <a:tc>
                  <a:txBody>
                    <a:bodyPr/>
                    <a:lstStyle/>
                    <a:p>
                      <a:pPr algn="l">
                        <a:buNone/>
                      </a:pPr>
                      <a:r>
                        <a:rPr lang="en-US" sz="900" dirty="0">
                          <a:solidFill>
                            <a:srgbClr val="1A1A1A"/>
                          </a:solidFill>
                          <a:latin typeface="Calibri" pitchFamily="34" charset="0"/>
                          <a:cs typeface="Calibri" pitchFamily="34" charset="0"/>
                        </a:rPr>
                        <a:t>Female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122</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2"/>
                  </a:ext>
                </a:extLst>
              </a:tr>
              <a:tr h="196947">
                <a:tc>
                  <a:txBody>
                    <a:bodyPr/>
                    <a:lstStyle/>
                    <a:p>
                      <a:pPr algn="l">
                        <a:buNone/>
                      </a:pPr>
                      <a:r>
                        <a:rPr lang="en-US" sz="900" dirty="0">
                          <a:solidFill>
                            <a:srgbClr val="1A1A1A"/>
                          </a:solidFill>
                          <a:latin typeface="Calibri" pitchFamily="34" charset="0"/>
                          <a:cs typeface="Calibri" pitchFamily="34" charset="0"/>
                        </a:rPr>
                        <a:t>Female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42</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3"/>
                  </a:ext>
                </a:extLst>
              </a:tr>
              <a:tr h="196947">
                <a:tc>
                  <a:txBody>
                    <a:bodyPr/>
                    <a:lstStyle/>
                    <a:p>
                      <a:pPr algn="l">
                        <a:buNone/>
                      </a:pPr>
                      <a:r>
                        <a:rPr lang="en-US" sz="900" dirty="0">
                          <a:solidFill>
                            <a:srgbClr val="1A1A1A"/>
                          </a:solidFill>
                          <a:latin typeface="Calibri" pitchFamily="34" charset="0"/>
                          <a:cs typeface="Calibri" pitchFamily="34" charset="0"/>
                        </a:rPr>
                        <a:t>Female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28</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4"/>
                  </a:ext>
                </a:extLst>
              </a:tr>
              <a:tr h="196947">
                <a:tc>
                  <a:txBody>
                    <a:bodyPr/>
                    <a:lstStyle/>
                    <a:p>
                      <a:pPr algn="l">
                        <a:buNone/>
                      </a:pPr>
                      <a:r>
                        <a:rPr lang="en-US" sz="900" dirty="0">
                          <a:solidFill>
                            <a:srgbClr val="1A1A1A"/>
                          </a:solidFill>
                          <a:latin typeface="Calibri" pitchFamily="34" charset="0"/>
                          <a:cs typeface="Calibri" pitchFamily="34" charset="0"/>
                        </a:rPr>
                        <a:t>Female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25</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5"/>
                  </a:ext>
                </a:extLst>
              </a:tr>
              <a:tr h="196947">
                <a:tc>
                  <a:txBody>
                    <a:bodyPr/>
                    <a:lstStyle/>
                    <a:p>
                      <a:pPr algn="l">
                        <a:buNone/>
                      </a:pPr>
                      <a:r>
                        <a:rPr lang="en-US" sz="900" dirty="0">
                          <a:solidFill>
                            <a:srgbClr val="1A1A1A"/>
                          </a:solidFill>
                          <a:latin typeface="Calibri" pitchFamily="34" charset="0"/>
                          <a:cs typeface="Calibri" pitchFamily="34" charset="0"/>
                        </a:rPr>
                        <a:t>Female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10</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6"/>
                  </a:ext>
                </a:extLst>
              </a:tr>
              <a:tr h="196947">
                <a:tc>
                  <a:txBody>
                    <a:bodyPr/>
                    <a:lstStyle/>
                    <a:p>
                      <a:pPr algn="l">
                        <a:buNone/>
                      </a:pPr>
                      <a:r>
                        <a:rPr lang="en-US" sz="900" dirty="0">
                          <a:solidFill>
                            <a:srgbClr val="1A1A1A"/>
                          </a:solidFill>
                          <a:latin typeface="Calibri" pitchFamily="34" charset="0"/>
                          <a:cs typeface="Calibri" pitchFamily="34" charset="0"/>
                        </a:rPr>
                        <a:t>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326</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7"/>
                  </a:ext>
                </a:extLst>
              </a:tr>
              <a:tr h="196947">
                <a:tc>
                  <a:txBody>
                    <a:bodyPr/>
                    <a:lstStyle/>
                    <a:p>
                      <a:pPr algn="l">
                        <a:buNone/>
                      </a:pPr>
                      <a:r>
                        <a:rPr lang="en-US" sz="900" dirty="0">
                          <a:solidFill>
                            <a:srgbClr val="1A1A1A"/>
                          </a:solidFill>
                          <a:latin typeface="Calibri" pitchFamily="34" charset="0"/>
                          <a:cs typeface="Calibri" pitchFamily="34" charset="0"/>
                        </a:rPr>
                        <a:t>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151</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8"/>
                  </a:ext>
                </a:extLst>
              </a:tr>
              <a:tr h="196947">
                <a:tc>
                  <a:txBody>
                    <a:bodyPr/>
                    <a:lstStyle/>
                    <a:p>
                      <a:pPr algn="l">
                        <a:buNone/>
                      </a:pPr>
                      <a:r>
                        <a:rPr lang="en-US" sz="900" dirty="0">
                          <a:solidFill>
                            <a:srgbClr val="1A1A1A"/>
                          </a:solidFill>
                          <a:latin typeface="Calibri" pitchFamily="34" charset="0"/>
                          <a:cs typeface="Calibri" pitchFamily="34" charset="0"/>
                        </a:rPr>
                        <a:t>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109</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9"/>
                  </a:ext>
                </a:extLst>
              </a:tr>
              <a:tr h="196947">
                <a:tc>
                  <a:txBody>
                    <a:bodyPr/>
                    <a:lstStyle/>
                    <a:p>
                      <a:pPr algn="l">
                        <a:buNone/>
                      </a:pPr>
                      <a:r>
                        <a:rPr lang="en-US" sz="900" dirty="0">
                          <a:solidFill>
                            <a:srgbClr val="1A1A1A"/>
                          </a:solidFill>
                          <a:latin typeface="Calibri" pitchFamily="34" charset="0"/>
                          <a:cs typeface="Calibri" pitchFamily="34" charset="0"/>
                        </a:rPr>
                        <a:t>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102</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0"/>
                  </a:ext>
                </a:extLst>
              </a:tr>
              <a:tr h="196947">
                <a:tc>
                  <a:txBody>
                    <a:bodyPr/>
                    <a:lstStyle/>
                    <a:p>
                      <a:pPr algn="l">
                        <a:buNone/>
                      </a:pPr>
                      <a:r>
                        <a:rPr lang="en-US" sz="900" dirty="0">
                          <a:solidFill>
                            <a:srgbClr val="1A1A1A"/>
                          </a:solidFill>
                          <a:latin typeface="Calibri" pitchFamily="34" charset="0"/>
                          <a:cs typeface="Calibri" pitchFamily="34" charset="0"/>
                        </a:rPr>
                        <a:t>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31</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11"/>
                  </a:ext>
                </a:extLst>
              </a:tr>
              <a:tr h="196947">
                <a:tc>
                  <a:txBody>
                    <a:bodyPr/>
                    <a:lstStyle/>
                    <a:p>
                      <a:pPr algn="l">
                        <a:buNone/>
                      </a:pPr>
                      <a:r>
                        <a:rPr lang="en-US" sz="900" dirty="0">
                          <a:solidFill>
                            <a:srgbClr val="1A1A1A"/>
                          </a:solidFill>
                          <a:latin typeface="Calibri" pitchFamily="34" charset="0"/>
                          <a:cs typeface="Calibri" pitchFamily="34" charset="0"/>
                        </a:rPr>
                        <a:t>Male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7</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2"/>
                  </a:ext>
                </a:extLst>
              </a:tr>
            </a:tbl>
          </a:graphicData>
        </a:graphic>
      </p:graphicFrame>
      <p:sp>
        <p:nvSpPr>
          <p:cNvPr id="9" name="Shape 6"/>
          <p:cNvSpPr/>
          <p:nvPr/>
        </p:nvSpPr>
        <p:spPr>
          <a:xfrm>
            <a:off x="5669280" y="1069848"/>
            <a:ext cx="2926080" cy="2322576"/>
          </a:xfrm>
          <a:prstGeom prst="rect">
            <a:avLst/>
          </a:prstGeom>
          <a:solidFill>
            <a:srgbClr val="FFF3E6"/>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5829300" y="1060704"/>
            <a:ext cx="274320" cy="274320"/>
          </a:xfrm>
          <a:prstGeom prst="rect">
            <a:avLst/>
          </a:prstGeom>
        </p:spPr>
      </p:pic>
      <p:sp>
        <p:nvSpPr>
          <p:cNvPr id="11" name="Text 7"/>
          <p:cNvSpPr/>
          <p:nvPr/>
        </p:nvSpPr>
        <p:spPr>
          <a:xfrm>
            <a:off x="6172200" y="1053448"/>
            <a:ext cx="228600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rPr>
              <a:t>KEY FINDING</a:t>
            </a:r>
            <a:endParaRPr lang="en-US" sz="1100" dirty="0"/>
          </a:p>
        </p:txBody>
      </p:sp>
      <p:sp>
        <p:nvSpPr>
          <p:cNvPr id="12" name="Text 8"/>
          <p:cNvSpPr/>
          <p:nvPr/>
        </p:nvSpPr>
        <p:spPr>
          <a:xfrm>
            <a:off x="5806440" y="1792224"/>
            <a:ext cx="2651760" cy="1005840"/>
          </a:xfrm>
          <a:prstGeom prst="rect">
            <a:avLst/>
          </a:prstGeom>
          <a:noFill/>
          <a:ln/>
        </p:spPr>
        <p:txBody>
          <a:bodyPr wrap="square" lIns="0" tIns="0" rIns="0" bIns="0" rtlCol="0" anchor="ctr"/>
          <a:lstStyle/>
          <a:p>
            <a:pPr>
              <a:lnSpc>
                <a:spcPct val="130000"/>
              </a:lnSpc>
            </a:pPr>
            <a:r>
              <a:rPr lang="en-US" sz="1000" dirty="0"/>
              <a:t>Analysis of gender distribution across diagnostic categories showed that males had a higher number of lesions than females in most diagnosis groups. ACK was the most common diagnosis among both males and females, with 326 male cases and 135 female cases. These findings suggest a higher burden of skin lesions among male patients within the dataset.</a:t>
            </a:r>
          </a:p>
        </p:txBody>
      </p:sp>
      <p:sp>
        <p:nvSpPr>
          <p:cNvPr id="13" name="Shape 9"/>
          <p:cNvSpPr/>
          <p:nvPr/>
        </p:nvSpPr>
        <p:spPr>
          <a:xfrm>
            <a:off x="5669280" y="3520440"/>
            <a:ext cx="2926080" cy="1188720"/>
          </a:xfrm>
          <a:prstGeom prst="rect">
            <a:avLst/>
          </a:prstGeom>
          <a:solidFill>
            <a:srgbClr val="F7F7F7"/>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5811264" y="3552444"/>
            <a:ext cx="274320" cy="274320"/>
          </a:xfrm>
          <a:prstGeom prst="rect">
            <a:avLst/>
          </a:prstGeom>
        </p:spPr>
      </p:pic>
      <p:sp>
        <p:nvSpPr>
          <p:cNvPr id="15" name="Text 10"/>
          <p:cNvSpPr/>
          <p:nvPr/>
        </p:nvSpPr>
        <p:spPr>
          <a:xfrm>
            <a:off x="6172200" y="3552444"/>
            <a:ext cx="228600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RECOMMENDATION</a:t>
            </a:r>
            <a:endParaRPr lang="en-US" sz="1100" dirty="0"/>
          </a:p>
        </p:txBody>
      </p:sp>
      <p:sp>
        <p:nvSpPr>
          <p:cNvPr id="16" name="Text 11"/>
          <p:cNvSpPr/>
          <p:nvPr/>
        </p:nvSpPr>
        <p:spPr>
          <a:xfrm>
            <a:off x="5806440" y="3863340"/>
            <a:ext cx="2651760" cy="640080"/>
          </a:xfrm>
          <a:prstGeom prst="rect">
            <a:avLst/>
          </a:prstGeom>
          <a:noFill/>
          <a:ln/>
        </p:spPr>
        <p:txBody>
          <a:bodyPr wrap="square" lIns="0" tIns="0" rIns="0" bIns="0" rtlCol="0" anchor="ctr"/>
          <a:lstStyle/>
          <a:p>
            <a:pPr>
              <a:lnSpc>
                <a:spcPct val="130000"/>
              </a:lnSpc>
            </a:pPr>
            <a:r>
              <a:rPr lang="en-US" sz="1000" dirty="0"/>
              <a:t>Further investigation should be conducted to determine the underlying factors contributing to the higher lesion prevalence observed among male patients.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3: AVERAGE AGE BY DIAGNOSIS</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What is the average patient age for each lesion type?</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13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CodeBg"/>
          <p:cNvSpPr/>
          <p:nvPr/>
        </p:nvSpPr>
        <p:spPr>
          <a:xfrm>
            <a:off x="548640" y="1200000"/>
            <a:ext cx="5029200" cy="1310000"/>
          </a:xfrm>
          <a:prstGeom prst="rect">
            <a:avLst/>
          </a:prstGeom>
          <a:solidFill>
            <a:srgbClr val="1E1E1E"/>
          </a:solidFill>
          <a:ln/>
        </p:spPr>
        <p:txBody>
          <a:bodyPr/>
          <a:lstStyle/>
          <a:p>
            <a:endParaRPr lang="en-US"/>
          </a:p>
        </p:txBody>
      </p:sp>
      <p:sp>
        <p:nvSpPr>
          <p:cNvPr id="9" name="CodeText"/>
          <p:cNvSpPr/>
          <p:nvPr/>
        </p:nvSpPr>
        <p:spPr>
          <a:xfrm>
            <a:off x="685800" y="1280000"/>
            <a:ext cx="4754880" cy="98000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SELECT </a:t>
            </a:r>
            <a:r>
              <a:rPr lang="en-US" sz="1000" dirty="0" err="1">
                <a:solidFill>
                  <a:srgbClr val="D4D4D4"/>
                </a:solidFill>
                <a:latin typeface="Consolas" pitchFamily="34" charset="0"/>
                <a:ea typeface="Consolas" pitchFamily="34" charset="-122"/>
                <a:cs typeface="Consolas" pitchFamily="34" charset="-120"/>
              </a:rPr>
              <a:t>l.diagnostic</a:t>
            </a:r>
            <a:r>
              <a:rPr lang="en-US" sz="1000" dirty="0">
                <a:solidFill>
                  <a:srgbClr val="D4D4D4"/>
                </a:solidFill>
                <a:latin typeface="Consolas" pitchFamily="34" charset="0"/>
                <a:ea typeface="Consolas" pitchFamily="34" charset="-122"/>
                <a:cs typeface="Consolas" pitchFamily="34" charset="-120"/>
              </a:rPr>
              <a:t>,</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       ROUND(AVG(</a:t>
            </a:r>
            <a:r>
              <a:rPr lang="en-US" sz="1000" dirty="0" err="1">
                <a:solidFill>
                  <a:srgbClr val="D4D4D4"/>
                </a:solidFill>
                <a:latin typeface="Consolas" pitchFamily="34" charset="0"/>
                <a:ea typeface="Consolas" pitchFamily="34" charset="-122"/>
                <a:cs typeface="Consolas" pitchFamily="34" charset="-120"/>
              </a:rPr>
              <a:t>p.age</a:t>
            </a:r>
            <a:r>
              <a:rPr lang="en-US" sz="1000" dirty="0">
                <a:solidFill>
                  <a:srgbClr val="D4D4D4"/>
                </a:solidFill>
                <a:latin typeface="Consolas" pitchFamily="34" charset="0"/>
                <a:ea typeface="Consolas" pitchFamily="34" charset="-122"/>
                <a:cs typeface="Consolas" pitchFamily="34" charset="-120"/>
              </a:rPr>
              <a:t>)::numeric, 1) AS </a:t>
            </a:r>
            <a:r>
              <a:rPr lang="en-US" sz="1000" dirty="0" err="1">
                <a:solidFill>
                  <a:srgbClr val="D4D4D4"/>
                </a:solidFill>
                <a:latin typeface="Consolas" pitchFamily="34" charset="0"/>
                <a:ea typeface="Consolas" pitchFamily="34" charset="-122"/>
                <a:cs typeface="Consolas" pitchFamily="34" charset="-120"/>
              </a:rPr>
              <a:t>avg_age</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FROM </a:t>
            </a:r>
            <a:r>
              <a:rPr lang="en-US" sz="1000" dirty="0" err="1">
                <a:solidFill>
                  <a:srgbClr val="D4D4D4"/>
                </a:solidFill>
                <a:latin typeface="Consolas" pitchFamily="34" charset="0"/>
                <a:ea typeface="Consolas" pitchFamily="34" charset="-122"/>
                <a:cs typeface="Consolas" pitchFamily="34" charset="-120"/>
              </a:rPr>
              <a:t>patient_info</a:t>
            </a:r>
            <a:r>
              <a:rPr lang="en-US" sz="1000" dirty="0">
                <a:solidFill>
                  <a:srgbClr val="D4D4D4"/>
                </a:solidFill>
                <a:latin typeface="Consolas" pitchFamily="34" charset="0"/>
                <a:ea typeface="Consolas" pitchFamily="34" charset="-122"/>
                <a:cs typeface="Consolas" pitchFamily="34" charset="-120"/>
              </a:rPr>
              <a:t> p</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JOIN </a:t>
            </a:r>
            <a:r>
              <a:rPr lang="en-US" sz="1000" dirty="0" err="1">
                <a:solidFill>
                  <a:srgbClr val="D4D4D4"/>
                </a:solidFill>
                <a:latin typeface="Consolas" pitchFamily="34" charset="0"/>
                <a:ea typeface="Consolas" pitchFamily="34" charset="-122"/>
                <a:cs typeface="Consolas" pitchFamily="34" charset="-120"/>
              </a:rPr>
              <a:t>lesion_info</a:t>
            </a:r>
            <a:r>
              <a:rPr lang="en-US" sz="1000" dirty="0">
                <a:solidFill>
                  <a:srgbClr val="D4D4D4"/>
                </a:solidFill>
                <a:latin typeface="Consolas" pitchFamily="34" charset="0"/>
                <a:ea typeface="Consolas" pitchFamily="34" charset="-122"/>
                <a:cs typeface="Consolas" pitchFamily="34" charset="-120"/>
              </a:rPr>
              <a:t> l</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  ON </a:t>
            </a:r>
            <a:r>
              <a:rPr lang="en-US" sz="1000" dirty="0" err="1">
                <a:solidFill>
                  <a:srgbClr val="D4D4D4"/>
                </a:solidFill>
                <a:latin typeface="Consolas" pitchFamily="34" charset="0"/>
                <a:ea typeface="Consolas" pitchFamily="34" charset="-122"/>
                <a:cs typeface="Consolas" pitchFamily="34" charset="-120"/>
              </a:rPr>
              <a:t>p.patient_id</a:t>
            </a:r>
            <a:r>
              <a:rPr lang="en-US" sz="1000" dirty="0">
                <a:solidFill>
                  <a:srgbClr val="D4D4D4"/>
                </a:solidFill>
                <a:latin typeface="Consolas" pitchFamily="34" charset="0"/>
                <a:ea typeface="Consolas" pitchFamily="34" charset="-122"/>
                <a:cs typeface="Consolas" pitchFamily="34" charset="-120"/>
              </a:rPr>
              <a:t> = </a:t>
            </a:r>
            <a:r>
              <a:rPr lang="en-US" sz="1000" dirty="0" err="1">
                <a:solidFill>
                  <a:srgbClr val="D4D4D4"/>
                </a:solidFill>
                <a:latin typeface="Consolas" pitchFamily="34" charset="0"/>
                <a:ea typeface="Consolas" pitchFamily="34" charset="-122"/>
                <a:cs typeface="Consolas" pitchFamily="34" charset="-120"/>
              </a:rPr>
              <a:t>l.patient_id</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GROUP BY </a:t>
            </a:r>
            <a:r>
              <a:rPr lang="en-US" sz="1000" dirty="0" err="1">
                <a:solidFill>
                  <a:srgbClr val="D4D4D4"/>
                </a:solidFill>
                <a:latin typeface="Consolas" pitchFamily="34" charset="0"/>
                <a:ea typeface="Consolas" pitchFamily="34" charset="-122"/>
                <a:cs typeface="Consolas" pitchFamily="34" charset="-120"/>
              </a:rPr>
              <a:t>l.diagnostic</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ORDER BY </a:t>
            </a:r>
            <a:r>
              <a:rPr lang="en-US" sz="1000" dirty="0" err="1">
                <a:solidFill>
                  <a:srgbClr val="D4D4D4"/>
                </a:solidFill>
                <a:latin typeface="Consolas" pitchFamily="34" charset="0"/>
                <a:ea typeface="Consolas" pitchFamily="34" charset="-122"/>
                <a:cs typeface="Consolas" pitchFamily="34" charset="-120"/>
              </a:rPr>
              <a:t>avg_age</a:t>
            </a:r>
            <a:r>
              <a:rPr lang="en-US" sz="1000" dirty="0">
                <a:solidFill>
                  <a:srgbClr val="D4D4D4"/>
                </a:solidFill>
                <a:latin typeface="Consolas" pitchFamily="34" charset="0"/>
                <a:ea typeface="Consolas" pitchFamily="34" charset="-122"/>
                <a:cs typeface="Consolas" pitchFamily="34" charset="-120"/>
              </a:rPr>
              <a:t> DESC;</a:t>
            </a:r>
            <a:endParaRPr lang="en-US" sz="1000" dirty="0"/>
          </a:p>
        </p:txBody>
      </p:sp>
      <p:sp>
        <p:nvSpPr>
          <p:cNvPr id="10" name="ExplHead"/>
          <p:cNvSpPr/>
          <p:nvPr/>
        </p:nvSpPr>
        <p:spPr>
          <a:xfrm>
            <a:off x="548640" y="2520000"/>
            <a:ext cx="457200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rPr>
              <a:t>SYSTEMATIC EXPLANATION</a:t>
            </a:r>
            <a:endParaRPr lang="en-US" sz="1200" dirty="0"/>
          </a:p>
        </p:txBody>
      </p:sp>
      <p:sp>
        <p:nvSpPr>
          <p:cNvPr id="11" name="C1"/>
          <p:cNvSpPr/>
          <p:nvPr/>
        </p:nvSpPr>
        <p:spPr>
          <a:xfrm>
            <a:off x="548640" y="2780000"/>
            <a:ext cx="5029200" cy="17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SELECT l.diagnostic</a:t>
            </a:r>
          </a:p>
        </p:txBody>
      </p:sp>
      <p:sp>
        <p:nvSpPr>
          <p:cNvPr id="12" name="D1"/>
          <p:cNvSpPr/>
          <p:nvPr/>
        </p:nvSpPr>
        <p:spPr>
          <a:xfrm>
            <a:off x="548640" y="2940000"/>
            <a:ext cx="5029200" cy="15000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Retrieves </a:t>
            </a:r>
            <a:r>
              <a:rPr lang="en-US" sz="1000">
                <a:solidFill>
                  <a:srgbClr val="666666"/>
                </a:solidFill>
                <a:latin typeface="Calibri" pitchFamily="34" charset="0"/>
                <a:ea typeface="Calibri" pitchFamily="34" charset="-122"/>
                <a:cs typeface="Calibri" pitchFamily="34" charset="-120"/>
              </a:rPr>
              <a:t>each </a:t>
            </a:r>
            <a:r>
              <a:rPr lang="en-US" sz="1000" dirty="0">
                <a:solidFill>
                  <a:srgbClr val="666666"/>
                </a:solidFill>
                <a:latin typeface="Calibri" pitchFamily="34" charset="0"/>
                <a:ea typeface="Calibri" pitchFamily="34" charset="-122"/>
                <a:cs typeface="Calibri" pitchFamily="34" charset="-120"/>
              </a:rPr>
              <a:t>lesion diagnosis</a:t>
            </a:r>
            <a:r>
              <a:rPr lang="en-US" sz="1000">
                <a:solidFill>
                  <a:srgbClr val="666666"/>
                </a:solidFill>
                <a:latin typeface="Calibri" pitchFamily="34" charset="0"/>
                <a:ea typeface="Calibri" pitchFamily="34" charset="-122"/>
                <a:cs typeface="Calibri" pitchFamily="34" charset="-120"/>
              </a:rPr>
              <a:t>.</a:t>
            </a:r>
          </a:p>
        </p:txBody>
      </p:sp>
      <p:sp>
        <p:nvSpPr>
          <p:cNvPr id="13" name="C2"/>
          <p:cNvSpPr/>
          <p:nvPr/>
        </p:nvSpPr>
        <p:spPr>
          <a:xfrm>
            <a:off x="548640" y="3100000"/>
            <a:ext cx="5029200" cy="17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AVG(p.age)</a:t>
            </a:r>
          </a:p>
        </p:txBody>
      </p:sp>
      <p:sp>
        <p:nvSpPr>
          <p:cNvPr id="14" name="D2"/>
          <p:cNvSpPr/>
          <p:nvPr/>
        </p:nvSpPr>
        <p:spPr>
          <a:xfrm>
            <a:off x="548640" y="3260000"/>
            <a:ext cx="5029200" cy="15000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Calculates the average </a:t>
            </a:r>
            <a:r>
              <a:rPr lang="en-US" sz="1000">
                <a:solidFill>
                  <a:srgbClr val="666666"/>
                </a:solidFill>
                <a:latin typeface="Calibri" pitchFamily="34" charset="0"/>
                <a:ea typeface="Calibri" pitchFamily="34" charset="-122"/>
                <a:cs typeface="Calibri" pitchFamily="34" charset="-120"/>
              </a:rPr>
              <a:t>patient age for </a:t>
            </a:r>
            <a:r>
              <a:rPr lang="en-US" sz="1000" dirty="0">
                <a:solidFill>
                  <a:srgbClr val="666666"/>
                </a:solidFill>
                <a:latin typeface="Calibri" pitchFamily="34" charset="0"/>
                <a:ea typeface="Calibri" pitchFamily="34" charset="-122"/>
                <a:cs typeface="Calibri" pitchFamily="34" charset="-120"/>
              </a:rPr>
              <a:t>each </a:t>
            </a:r>
            <a:r>
              <a:rPr lang="en-US" sz="1000">
                <a:solidFill>
                  <a:srgbClr val="666666"/>
                </a:solidFill>
                <a:latin typeface="Calibri" pitchFamily="34" charset="0"/>
                <a:ea typeface="Calibri" pitchFamily="34" charset="-122"/>
                <a:cs typeface="Calibri" pitchFamily="34" charset="-120"/>
              </a:rPr>
              <a:t>diagnosis.</a:t>
            </a:r>
          </a:p>
        </p:txBody>
      </p:sp>
      <p:sp>
        <p:nvSpPr>
          <p:cNvPr id="15" name="C3"/>
          <p:cNvSpPr/>
          <p:nvPr/>
        </p:nvSpPr>
        <p:spPr>
          <a:xfrm>
            <a:off x="548640" y="3420000"/>
            <a:ext cx="5029200" cy="17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ROUND(..., </a:t>
            </a:r>
            <a:r>
              <a:rPr lang="en-US" sz="1000" b="1" dirty="0">
                <a:solidFill>
                  <a:srgbClr val="E8740C"/>
                </a:solidFill>
                <a:latin typeface="Consolas" pitchFamily="34" charset="0"/>
                <a:ea typeface="Consolas" pitchFamily="34" charset="-122"/>
                <a:cs typeface="Consolas" pitchFamily="34" charset="-120"/>
              </a:rPr>
              <a:t>1)</a:t>
            </a:r>
            <a:endParaRPr lang="en-US" sz="1000" b="1">
              <a:solidFill>
                <a:srgbClr val="E8740C"/>
              </a:solidFill>
              <a:latin typeface="Consolas" pitchFamily="34" charset="0"/>
              <a:ea typeface="Consolas" pitchFamily="34" charset="-122"/>
              <a:cs typeface="Consolas" pitchFamily="34" charset="-120"/>
            </a:endParaRPr>
          </a:p>
        </p:txBody>
      </p:sp>
      <p:sp>
        <p:nvSpPr>
          <p:cNvPr id="16" name="D3"/>
          <p:cNvSpPr/>
          <p:nvPr/>
        </p:nvSpPr>
        <p:spPr>
          <a:xfrm>
            <a:off x="548640" y="3580000"/>
            <a:ext cx="5029200" cy="15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Rounds the result to one decimal place.</a:t>
            </a:r>
          </a:p>
        </p:txBody>
      </p:sp>
      <p:sp>
        <p:nvSpPr>
          <p:cNvPr id="17" name="C4"/>
          <p:cNvSpPr/>
          <p:nvPr/>
        </p:nvSpPr>
        <p:spPr>
          <a:xfrm>
            <a:off x="548640" y="3740000"/>
            <a:ext cx="5029200" cy="17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JOIN patient_info &amp; lesion_info</a:t>
            </a:r>
          </a:p>
        </p:txBody>
      </p:sp>
      <p:sp>
        <p:nvSpPr>
          <p:cNvPr id="18" name="D4"/>
          <p:cNvSpPr/>
          <p:nvPr/>
        </p:nvSpPr>
        <p:spPr>
          <a:xfrm>
            <a:off x="548640" y="3900000"/>
            <a:ext cx="5029200" cy="15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Combines patient and lesion data.</a:t>
            </a:r>
          </a:p>
        </p:txBody>
      </p:sp>
      <p:sp>
        <p:nvSpPr>
          <p:cNvPr id="19" name="C5"/>
          <p:cNvSpPr/>
          <p:nvPr/>
        </p:nvSpPr>
        <p:spPr>
          <a:xfrm>
            <a:off x="548640" y="4060000"/>
            <a:ext cx="5029200" cy="1700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GROUP BY </a:t>
            </a:r>
            <a:r>
              <a:rPr lang="en-US" sz="1000" b="1">
                <a:solidFill>
                  <a:srgbClr val="E8740C"/>
                </a:solidFill>
                <a:latin typeface="Consolas" pitchFamily="34" charset="0"/>
                <a:ea typeface="Consolas" pitchFamily="34" charset="-122"/>
                <a:cs typeface="Consolas" pitchFamily="34" charset="-120"/>
              </a:rPr>
              <a:t>l.diagnostic</a:t>
            </a:r>
          </a:p>
        </p:txBody>
      </p:sp>
      <p:sp>
        <p:nvSpPr>
          <p:cNvPr id="20" name="D5"/>
          <p:cNvSpPr/>
          <p:nvPr/>
        </p:nvSpPr>
        <p:spPr>
          <a:xfrm>
            <a:off x="548640" y="4220000"/>
            <a:ext cx="5029200" cy="15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Groups records by diagnosis type.</a:t>
            </a:r>
          </a:p>
        </p:txBody>
      </p:sp>
      <p:sp>
        <p:nvSpPr>
          <p:cNvPr id="21" name="C6"/>
          <p:cNvSpPr/>
          <p:nvPr/>
        </p:nvSpPr>
        <p:spPr>
          <a:xfrm>
            <a:off x="548640" y="4380000"/>
            <a:ext cx="5029200" cy="17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ORDER BY avg_age DESC</a:t>
            </a:r>
          </a:p>
        </p:txBody>
      </p:sp>
      <p:sp>
        <p:nvSpPr>
          <p:cNvPr id="25" name="D6"/>
          <p:cNvSpPr/>
          <p:nvPr/>
        </p:nvSpPr>
        <p:spPr>
          <a:xfrm>
            <a:off x="548640" y="4540000"/>
            <a:ext cx="5029200" cy="15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Ranks diagnoses from oldest to youngest average age.</a:t>
            </a:r>
          </a:p>
        </p:txBody>
      </p:sp>
      <p:sp>
        <p:nvSpPr>
          <p:cNvPr id="22" name="CalloutBg"/>
          <p:cNvSpPr/>
          <p:nvPr/>
        </p:nvSpPr>
        <p:spPr>
          <a:xfrm>
            <a:off x="6217920" y="1200000"/>
            <a:ext cx="2377440" cy="2200000"/>
          </a:xfrm>
          <a:prstGeom prst="rect">
            <a:avLst/>
          </a:prstGeom>
          <a:solidFill>
            <a:srgbClr val="FFF3E6"/>
          </a:solidFill>
          <a:ln/>
        </p:spPr>
        <p:txBody>
          <a:bodyPr/>
          <a:lstStyle/>
          <a:p>
            <a:endParaRPr lang="en-US"/>
          </a:p>
        </p:txBody>
      </p:sp>
      <p:sp>
        <p:nvSpPr>
          <p:cNvPr id="23" name="CalloutTitle"/>
          <p:cNvSpPr/>
          <p:nvPr/>
        </p:nvSpPr>
        <p:spPr>
          <a:xfrm>
            <a:off x="6355080" y="1290000"/>
            <a:ext cx="2240280" cy="500000"/>
          </a:xfrm>
          <a:prstGeom prst="rect">
            <a:avLst/>
          </a:prstGeom>
          <a:noFill/>
          <a:ln/>
        </p:spPr>
        <p:txBody>
          <a:bodyPr wrap="square" lIns="0" tIns="0" rIns="0" bIns="0" rtlCol="0" anchor="t"/>
          <a:lstStyle/>
          <a:p>
            <a:pPr marL="0" indent="0">
              <a:spcAft>
                <a:spcPts val="100"/>
              </a:spcAft>
              <a:buNone/>
            </a:pPr>
            <a:r>
              <a:rPr lang="en-US" sz="900" b="1" dirty="0">
                <a:solidFill>
                  <a:srgbClr val="E8740C"/>
                </a:solidFill>
                <a:latin typeface="Arial Black" pitchFamily="34" charset="0"/>
                <a:ea typeface="Arial Black" pitchFamily="34" charset="-122"/>
                <a:cs typeface="Arial Black" pitchFamily="34" charset="-120"/>
              </a:rPr>
              <a:t>CATEGORY:</a:t>
            </a:r>
            <a:endParaRPr lang="en-US" sz="900" dirty="0"/>
          </a:p>
          <a:p>
            <a:pPr marL="0" indent="0">
              <a:buNone/>
            </a:pPr>
            <a:r>
              <a:rPr lang="en-US" sz="1000" dirty="0">
                <a:solidFill>
                  <a:srgbClr val="1A1A1A"/>
                </a:solidFill>
                <a:latin typeface="Calibri" pitchFamily="34" charset="0"/>
                <a:ea typeface="Calibri" pitchFamily="34" charset="-122"/>
                <a:cs typeface="Calibri" pitchFamily="34" charset="-120"/>
              </a:rPr>
              <a:t>Demographic Risk Factor Analysis (Aim 2)</a:t>
            </a:r>
            <a:endParaRPr lang="en-US" sz="1000" dirty="0"/>
          </a:p>
        </p:txBody>
      </p:sp>
      <p:sp>
        <p:nvSpPr>
          <p:cNvPr id="24" name="CalloutText"/>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a:solidFill>
                  <a:srgbClr val="1A1A1A"/>
                </a:solidFill>
                <a:latin typeface="Arial Black" pitchFamily="34" charset="0"/>
                <a:ea typeface="Arial Black" pitchFamily="34" charset="-122"/>
                <a:cs typeface="Arial Black" pitchFamily="34" charset="-120"/>
              </a:rPr>
              <a:t>WHY THIS QUERY?</a:t>
            </a:r>
            <a:endParaRPr lang="en-US" sz="1100"/>
          </a:p>
          <a:p>
            <a:pPr marL="0" indent="0">
              <a:lnSpc>
                <a:spcPct val="130000"/>
              </a:lnSpc>
              <a:buNone/>
            </a:pPr>
            <a:r>
              <a:rPr lang="en-US" sz="900">
                <a:solidFill>
                  <a:srgbClr val="333333"/>
                </a:solidFill>
                <a:latin typeface="Calibri" pitchFamily="34" charset="0"/>
                <a:ea typeface="Calibri" pitchFamily="34" charset="-122"/>
                <a:cs typeface="Calibri" pitchFamily="34" charset="-120"/>
              </a:rPr>
              <a:t>This query was used to examine the average age associated with each diagnosis. The results help identify age groups that may be more vulnerable to specific lesion types.</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3: RESULTS &amp; INSIGHT</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Average Age by Diagnosis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14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graphicFrame>
        <p:nvGraphicFramePr>
          <p:cNvPr id="8" name="Table 8"/>
          <p:cNvGraphicFramePr>
            <a:graphicFrameLocks noGrp="1"/>
          </p:cNvGraphicFramePr>
          <p:nvPr>
            <p:extLst>
              <p:ext uri="{D42A27DB-BD31-4B8C-83A1-F6EECF244321}">
                <p14:modId xmlns:p14="http://schemas.microsoft.com/office/powerpoint/2010/main" val="1636108736"/>
              </p:ext>
            </p:extLst>
          </p:nvPr>
        </p:nvGraphicFramePr>
        <p:xfrm>
          <a:off x="548640" y="1325880"/>
          <a:ext cx="4572000" cy="2240280"/>
        </p:xfrm>
        <a:graphic>
          <a:graphicData uri="http://schemas.openxmlformats.org/drawingml/2006/table">
            <a:tbl>
              <a:tblPr firstRow="1" bandRow="1">
                <a:noFil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20040">
                <a:tc>
                  <a:txBody>
                    <a:bodyPr/>
                    <a:lstStyle/>
                    <a:p>
                      <a:pPr algn="ctr">
                        <a:buNone/>
                      </a:pPr>
                      <a:r>
                        <a:rPr lang="en-US" sz="1000" b="1" dirty="0">
                          <a:solidFill>
                            <a:srgbClr val="FFFFFF"/>
                          </a:solidFill>
                          <a:latin typeface="Calibri" pitchFamily="34" charset="0"/>
                          <a:cs typeface="Calibri" pitchFamily="34" charset="0"/>
                        </a:rPr>
                        <a:t>Diagnostic</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1000" b="1" dirty="0">
                          <a:solidFill>
                            <a:srgbClr val="FFFFFF"/>
                          </a:solidFill>
                          <a:latin typeface="Calibri" pitchFamily="34" charset="0"/>
                          <a:cs typeface="Calibri" pitchFamily="34" charset="0"/>
                        </a:rPr>
                        <a:t>Average Age</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extLst>
                  <a:ext uri="{0D108BD9-81ED-4DB2-BD59-A6C34878D82A}">
                    <a16:rowId xmlns:a16="http://schemas.microsoft.com/office/drawing/2014/main" val="10000"/>
                  </a:ext>
                </a:extLst>
              </a:tr>
              <a:tr h="320040">
                <a:tc>
                  <a:txBody>
                    <a:bodyPr/>
                    <a:lstStyle/>
                    <a:p>
                      <a:pPr algn="l">
                        <a:buNone/>
                      </a:pPr>
                      <a:r>
                        <a:rPr lang="en-US" sz="10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68.5</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extLst>
                  <a:ext uri="{0D108BD9-81ED-4DB2-BD59-A6C34878D82A}">
                    <a16:rowId xmlns:a16="http://schemas.microsoft.com/office/drawing/2014/main" val="10001"/>
                  </a:ext>
                </a:extLst>
              </a:tr>
              <a:tr h="320040">
                <a:tc>
                  <a:txBody>
                    <a:bodyPr/>
                    <a:lstStyle/>
                    <a:p>
                      <a:pPr algn="l">
                        <a:buNone/>
                      </a:pPr>
                      <a:r>
                        <a:rPr lang="en-US" sz="10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64.0</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2"/>
                  </a:ext>
                </a:extLst>
              </a:tr>
              <a:tr h="320040">
                <a:tc>
                  <a:txBody>
                    <a:bodyPr/>
                    <a:lstStyle/>
                    <a:p>
                      <a:pPr algn="l">
                        <a:buNone/>
                      </a:pPr>
                      <a:r>
                        <a:rPr lang="en-US" sz="10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62.3</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3"/>
                  </a:ext>
                </a:extLst>
              </a:tr>
              <a:tr h="320040">
                <a:tc>
                  <a:txBody>
                    <a:bodyPr/>
                    <a:lstStyle/>
                    <a:p>
                      <a:pPr algn="l">
                        <a:buNone/>
                      </a:pPr>
                      <a:r>
                        <a:rPr lang="en-US" sz="10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61.0</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4"/>
                  </a:ext>
                </a:extLst>
              </a:tr>
              <a:tr h="320040">
                <a:tc>
                  <a:txBody>
                    <a:bodyPr/>
                    <a:lstStyle/>
                    <a:p>
                      <a:pPr algn="l">
                        <a:buNone/>
                      </a:pPr>
                      <a:r>
                        <a:rPr lang="en-US" sz="10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59.8</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5"/>
                  </a:ext>
                </a:extLst>
              </a:tr>
              <a:tr h="320040">
                <a:tc>
                  <a:txBody>
                    <a:bodyPr/>
                    <a:lstStyle/>
                    <a:p>
                      <a:pPr algn="l">
                        <a:buNone/>
                      </a:pPr>
                      <a:r>
                        <a:rPr lang="en-US" sz="10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34.3</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6"/>
                  </a:ext>
                </a:extLst>
              </a:tr>
            </a:tbl>
          </a:graphicData>
        </a:graphic>
      </p:graphicFrame>
      <p:sp>
        <p:nvSpPr>
          <p:cNvPr id="9" name="Shape 6"/>
          <p:cNvSpPr/>
          <p:nvPr/>
        </p:nvSpPr>
        <p:spPr>
          <a:xfrm>
            <a:off x="5669280" y="1325880"/>
            <a:ext cx="1508760" cy="1097280"/>
          </a:xfrm>
          <a:prstGeom prst="rect">
            <a:avLst/>
          </a:prstGeom>
          <a:solidFill>
            <a:srgbClr val="F7F7F7"/>
          </a:solidFill>
          <a:ln/>
        </p:spPr>
        <p:txBody>
          <a:bodyPr/>
          <a:lstStyle/>
          <a:p>
            <a:endParaRPr lang="en-US"/>
          </a:p>
        </p:txBody>
      </p:sp>
      <p:sp>
        <p:nvSpPr>
          <p:cNvPr id="10" name="Text 7"/>
          <p:cNvSpPr/>
          <p:nvPr/>
        </p:nvSpPr>
        <p:spPr>
          <a:xfrm>
            <a:off x="5669280" y="1417320"/>
            <a:ext cx="1508760" cy="603504"/>
          </a:xfrm>
          <a:prstGeom prst="rect">
            <a:avLst/>
          </a:prstGeom>
          <a:noFill/>
          <a:ln/>
        </p:spPr>
        <p:txBody>
          <a:bodyPr wrap="square" lIns="0" tIns="0" rIns="0" bIns="0" rtlCol="0" anchor="b"/>
          <a:lstStyle/>
          <a:p>
            <a:pPr marL="0" indent="0" algn="ctr">
              <a:buNone/>
            </a:pPr>
            <a:r>
              <a:rPr lang="en-US" sz="2800" b="1">
                <a:solidFill>
                  <a:srgbClr val="E8740C"/>
                </a:solidFill>
                <a:latin typeface="Arial Black" pitchFamily="34" charset="0"/>
                <a:ea typeface="Arial Black" pitchFamily="34" charset="-122"/>
                <a:cs typeface="Arial Black" pitchFamily="34" charset="-120"/>
              </a:rPr>
              <a:t>68.5</a:t>
            </a:r>
            <a:endParaRPr lang="en-US" sz="2800" dirty="0"/>
          </a:p>
        </p:txBody>
      </p:sp>
      <p:sp>
        <p:nvSpPr>
          <p:cNvPr id="11" name="Text 8"/>
          <p:cNvSpPr/>
          <p:nvPr/>
        </p:nvSpPr>
        <p:spPr>
          <a:xfrm>
            <a:off x="5760720" y="1984248"/>
            <a:ext cx="1325880" cy="384048"/>
          </a:xfrm>
          <a:prstGeom prst="rect">
            <a:avLst/>
          </a:prstGeom>
          <a:noFill/>
          <a:ln/>
        </p:spPr>
        <p:txBody>
          <a:bodyPr wrap="square" lIns="0" tIns="0" rIns="0" bIns="0" rtlCol="0" anchor="t"/>
          <a:lstStyle/>
          <a:p>
            <a:pPr marL="0" indent="0" algn="ctr">
              <a:buNone/>
            </a:pPr>
            <a:r>
              <a:rPr lang="en-US" sz="900" dirty="0">
                <a:solidFill>
                  <a:srgbClr val="333333"/>
                </a:solidFill>
                <a:latin typeface="Calibri" pitchFamily="34" charset="0"/>
                <a:ea typeface="Calibri" pitchFamily="34" charset="-122"/>
                <a:cs typeface="Calibri" pitchFamily="34" charset="-120"/>
              </a:rPr>
              <a:t>SCC Highest Avg Age</a:t>
            </a:r>
            <a:endParaRPr lang="en-US" sz="900" dirty="0"/>
          </a:p>
        </p:txBody>
      </p:sp>
      <p:sp>
        <p:nvSpPr>
          <p:cNvPr id="12" name="Shape 9"/>
          <p:cNvSpPr/>
          <p:nvPr/>
        </p:nvSpPr>
        <p:spPr>
          <a:xfrm>
            <a:off x="7315200" y="1325880"/>
            <a:ext cx="1280160" cy="1097280"/>
          </a:xfrm>
          <a:prstGeom prst="rect">
            <a:avLst/>
          </a:prstGeom>
          <a:solidFill>
            <a:srgbClr val="F7F7F7"/>
          </a:solidFill>
          <a:ln/>
        </p:spPr>
        <p:txBody>
          <a:bodyPr/>
          <a:lstStyle/>
          <a:p>
            <a:endParaRPr lang="en-US"/>
          </a:p>
        </p:txBody>
      </p:sp>
      <p:sp>
        <p:nvSpPr>
          <p:cNvPr id="13" name="Text 10"/>
          <p:cNvSpPr/>
          <p:nvPr/>
        </p:nvSpPr>
        <p:spPr>
          <a:xfrm>
            <a:off x="7315200" y="1417320"/>
            <a:ext cx="1280160" cy="603504"/>
          </a:xfrm>
          <a:prstGeom prst="rect">
            <a:avLst/>
          </a:prstGeom>
          <a:noFill/>
          <a:ln/>
        </p:spPr>
        <p:txBody>
          <a:bodyPr wrap="square" lIns="0" tIns="0" rIns="0" bIns="0" rtlCol="0" anchor="b"/>
          <a:lstStyle/>
          <a:p>
            <a:pPr marL="0" indent="0" algn="ctr">
              <a:buNone/>
            </a:pPr>
            <a:r>
              <a:rPr lang="en-US" sz="2800" b="1">
                <a:solidFill>
                  <a:srgbClr val="E8740C"/>
                </a:solidFill>
                <a:latin typeface="Arial Black" pitchFamily="34" charset="0"/>
                <a:ea typeface="Arial Black" pitchFamily="34" charset="-122"/>
                <a:cs typeface="Arial Black" pitchFamily="34" charset="-120"/>
              </a:rPr>
              <a:t>34.3</a:t>
            </a:r>
            <a:endParaRPr lang="en-US" sz="2800" dirty="0"/>
          </a:p>
        </p:txBody>
      </p:sp>
      <p:sp>
        <p:nvSpPr>
          <p:cNvPr id="14" name="Text 11"/>
          <p:cNvSpPr/>
          <p:nvPr/>
        </p:nvSpPr>
        <p:spPr>
          <a:xfrm>
            <a:off x="7406640" y="1984248"/>
            <a:ext cx="1097280" cy="384048"/>
          </a:xfrm>
          <a:prstGeom prst="rect">
            <a:avLst/>
          </a:prstGeom>
          <a:noFill/>
          <a:ln/>
        </p:spPr>
        <p:txBody>
          <a:bodyPr wrap="square" lIns="0" tIns="0" rIns="0" bIns="0" rtlCol="0" anchor="t"/>
          <a:lstStyle/>
          <a:p>
            <a:pPr marL="0" indent="0" algn="ctr">
              <a:buNone/>
            </a:pPr>
            <a:r>
              <a:rPr lang="en-US" sz="900">
                <a:solidFill>
                  <a:srgbClr val="333333"/>
                </a:solidFill>
                <a:latin typeface="Calibri" pitchFamily="34" charset="0"/>
                <a:ea typeface="Calibri" pitchFamily="34" charset="-122"/>
                <a:cs typeface="Calibri" pitchFamily="34" charset="-120"/>
              </a:rPr>
              <a:t>NEV</a:t>
            </a:r>
            <a:r>
              <a:rPr lang="en-US" sz="900" dirty="0">
                <a:solidFill>
                  <a:srgbClr val="333333"/>
                </a:solidFill>
                <a:latin typeface="Calibri" pitchFamily="34" charset="0"/>
                <a:ea typeface="Calibri" pitchFamily="34" charset="-122"/>
                <a:cs typeface="Calibri" pitchFamily="34" charset="-120"/>
              </a:rPr>
              <a:t> Lowest Avg Age</a:t>
            </a:r>
            <a:endParaRPr lang="en-US" sz="900" dirty="0"/>
          </a:p>
        </p:txBody>
      </p:sp>
      <p:sp>
        <p:nvSpPr>
          <p:cNvPr id="15" name="Shape 12"/>
          <p:cNvSpPr/>
          <p:nvPr/>
        </p:nvSpPr>
        <p:spPr>
          <a:xfrm>
            <a:off x="5669280" y="2606040"/>
            <a:ext cx="2926080" cy="1463040"/>
          </a:xfrm>
          <a:prstGeom prst="rect">
            <a:avLst/>
          </a:prstGeom>
          <a:solidFill>
            <a:srgbClr val="FFF3E6"/>
          </a:solidFill>
          <a:ln/>
        </p:spPr>
        <p:txBody>
          <a:bodyPr/>
          <a:lstStyle/>
          <a:p>
            <a:endParaRPr lang="en-US"/>
          </a:p>
        </p:txBody>
      </p:sp>
      <p:pic>
        <p:nvPicPr>
          <p:cNvPr id="16" name="Image 0" descr="preencoded.png"/>
          <p:cNvPicPr>
            <a:picLocks noChangeAspect="1"/>
          </p:cNvPicPr>
          <p:nvPr/>
        </p:nvPicPr>
        <p:blipFill>
          <a:blip r:embed="rId3"/>
          <a:stretch>
            <a:fillRect/>
          </a:stretch>
        </p:blipFill>
        <p:spPr>
          <a:xfrm>
            <a:off x="5806440" y="2697480"/>
            <a:ext cx="274320" cy="274320"/>
          </a:xfrm>
          <a:prstGeom prst="rect">
            <a:avLst/>
          </a:prstGeom>
        </p:spPr>
      </p:pic>
      <p:sp>
        <p:nvSpPr>
          <p:cNvPr id="17" name="Text 13"/>
          <p:cNvSpPr/>
          <p:nvPr/>
        </p:nvSpPr>
        <p:spPr>
          <a:xfrm>
            <a:off x="6172200" y="2697480"/>
            <a:ext cx="228600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rPr>
              <a:t>KEY FINDING</a:t>
            </a:r>
            <a:endParaRPr lang="en-US" sz="1100" dirty="0"/>
          </a:p>
        </p:txBody>
      </p:sp>
      <p:sp>
        <p:nvSpPr>
          <p:cNvPr id="18" name="Text 14"/>
          <p:cNvSpPr/>
          <p:nvPr/>
        </p:nvSpPr>
        <p:spPr>
          <a:xfrm>
            <a:off x="5806440" y="2971800"/>
            <a:ext cx="2651760" cy="914400"/>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SCC has the highest average age (68.5), suggesting older patients are more susceptible. NEV stands out with the lowest average age (34.3), indicating it affects a distinctly younger population.</a:t>
            </a:r>
            <a:endParaRPr lang="en-US" sz="1000" dirty="0"/>
          </a:p>
        </p:txBody>
      </p:sp>
      <p:sp>
        <p:nvSpPr>
          <p:cNvPr id="19" name="Shape 15"/>
          <p:cNvSpPr/>
          <p:nvPr/>
        </p:nvSpPr>
        <p:spPr>
          <a:xfrm>
            <a:off x="548640" y="4251960"/>
            <a:ext cx="8046720" cy="502920"/>
          </a:xfrm>
          <a:prstGeom prst="rect">
            <a:avLst/>
          </a:prstGeom>
          <a:solidFill>
            <a:srgbClr val="FFF3E6"/>
          </a:solidFill>
          <a:ln/>
        </p:spPr>
        <p:txBody>
          <a:bodyPr/>
          <a:lstStyle/>
          <a:p>
            <a:endParaRPr lang="en-US"/>
          </a:p>
        </p:txBody>
      </p:sp>
      <p:pic>
        <p:nvPicPr>
          <p:cNvPr id="20" name="Image 1" descr="preencoded.png"/>
          <p:cNvPicPr>
            <a:picLocks noChangeAspect="1"/>
          </p:cNvPicPr>
          <p:nvPr/>
        </p:nvPicPr>
        <p:blipFill>
          <a:blip r:embed="rId4"/>
          <a:stretch>
            <a:fillRect/>
          </a:stretch>
        </p:blipFill>
        <p:spPr>
          <a:xfrm>
            <a:off x="777240" y="4279392"/>
            <a:ext cx="274320" cy="274320"/>
          </a:xfrm>
          <a:prstGeom prst="rect">
            <a:avLst/>
          </a:prstGeom>
        </p:spPr>
      </p:pic>
      <p:sp>
        <p:nvSpPr>
          <p:cNvPr id="21" name="Text 16"/>
          <p:cNvSpPr/>
          <p:nvPr/>
        </p:nvSpPr>
        <p:spPr>
          <a:xfrm>
            <a:off x="1051560" y="4258252"/>
            <a:ext cx="740664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ea typeface="Arial Black" pitchFamily="34" charset="-122"/>
                <a:cs typeface="Arial Black" pitchFamily="34" charset="-120"/>
              </a:rPr>
              <a:t>Recommendation</a:t>
            </a:r>
            <a:endParaRPr lang="en-US" sz="1100" dirty="0"/>
          </a:p>
        </p:txBody>
      </p:sp>
      <p:sp>
        <p:nvSpPr>
          <p:cNvPr id="22" name="Text 17"/>
          <p:cNvSpPr/>
          <p:nvPr/>
        </p:nvSpPr>
        <p:spPr>
          <a:xfrm>
            <a:off x="1051560" y="4507992"/>
            <a:ext cx="7406640" cy="45720"/>
          </a:xfrm>
          <a:prstGeom prst="rect">
            <a:avLst/>
          </a:prstGeom>
          <a:noFill/>
          <a:ln/>
        </p:spPr>
        <p:txBody>
          <a:bodyPr wrap="square" lIns="0" tIns="0" rIns="0" bIns="0" rtlCol="0" anchor="t"/>
          <a:lstStyle/>
          <a:p>
            <a:pPr marL="0" indent="0">
              <a:buNone/>
            </a:pPr>
            <a:r>
              <a:rPr lang="en-US" sz="1000" dirty="0">
                <a:solidFill>
                  <a:srgbClr val="333333"/>
                </a:solidFill>
                <a:latin typeface="Calibri" pitchFamily="34" charset="0"/>
                <a:ea typeface="Calibri" pitchFamily="34" charset="-122"/>
                <a:cs typeface="Calibri" pitchFamily="34" charset="-120"/>
              </a:rPr>
              <a:t>Implement age-stratified screening protocols, with enhanced monitoring for patients over 60.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4: SMOKING &amp; LESION TYPES</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Does smoking correlate with specific lesion types?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15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CodeBg"/>
          <p:cNvSpPr/>
          <p:nvPr/>
        </p:nvSpPr>
        <p:spPr>
          <a:xfrm>
            <a:off x="548640" y="1097280"/>
            <a:ext cx="5029200" cy="1422720"/>
          </a:xfrm>
          <a:prstGeom prst="rect">
            <a:avLst/>
          </a:prstGeom>
          <a:solidFill>
            <a:srgbClr val="1E1E1E"/>
          </a:solidFill>
          <a:ln/>
        </p:spPr>
        <p:txBody>
          <a:bodyPr/>
          <a:lstStyle/>
          <a:p>
            <a:endParaRPr lang="en-US"/>
          </a:p>
        </p:txBody>
      </p:sp>
      <p:sp>
        <p:nvSpPr>
          <p:cNvPr id="9" name="CodeText"/>
          <p:cNvSpPr/>
          <p:nvPr/>
        </p:nvSpPr>
        <p:spPr>
          <a:xfrm>
            <a:off x="685800" y="1104476"/>
            <a:ext cx="4754880" cy="980000"/>
          </a:xfrm>
          <a:prstGeom prst="rect">
            <a:avLst/>
          </a:prstGeom>
          <a:noFill/>
          <a:ln/>
        </p:spPr>
        <p:txBody>
          <a:bodyPr wrap="square" lIns="0" tIns="0" rIns="0" bIns="0" rtlCol="0" anchor="t"/>
          <a:lstStyle/>
          <a:p>
            <a:pPr>
              <a:spcAft>
                <a:spcPts val="200"/>
              </a:spcAft>
            </a:pPr>
            <a:r>
              <a:rPr lang="en-US" sz="1000" dirty="0">
                <a:solidFill>
                  <a:srgbClr val="D4D4D4"/>
                </a:solidFill>
                <a:latin typeface="Consolas" pitchFamily="34" charset="0"/>
                <a:ea typeface="Consolas" pitchFamily="34" charset="-122"/>
                <a:cs typeface="Consolas" pitchFamily="34" charset="-120"/>
              </a:rPr>
              <a:t>SELECT p.smoke,</a:t>
            </a:r>
          </a:p>
          <a:p>
            <a:pPr>
              <a:spcAft>
                <a:spcPts val="200"/>
              </a:spcAft>
            </a:pPr>
            <a:r>
              <a:rPr lang="en-US" sz="1000" dirty="0">
                <a:solidFill>
                  <a:srgbClr val="D4D4D4"/>
                </a:solidFill>
                <a:latin typeface="Consolas" pitchFamily="34" charset="0"/>
                <a:ea typeface="Consolas" pitchFamily="34" charset="-122"/>
                <a:cs typeface="Consolas" pitchFamily="34" charset="-120"/>
              </a:rPr>
              <a:t>       l.diagnostic,</a:t>
            </a:r>
          </a:p>
          <a:p>
            <a:pPr>
              <a:spcAft>
                <a:spcPts val="200"/>
              </a:spcAft>
            </a:pPr>
            <a:r>
              <a:rPr lang="en-US" sz="1000" dirty="0">
                <a:solidFill>
                  <a:srgbClr val="D4D4D4"/>
                </a:solidFill>
                <a:latin typeface="Consolas" pitchFamily="34" charset="0"/>
                <a:ea typeface="Consolas" pitchFamily="34" charset="-122"/>
                <a:cs typeface="Consolas" pitchFamily="34" charset="-120"/>
              </a:rPr>
              <a:t>       COUNT(*) AS total_cases</a:t>
            </a:r>
          </a:p>
          <a:p>
            <a:pPr>
              <a:spcAft>
                <a:spcPts val="200"/>
              </a:spcAft>
            </a:pPr>
            <a:r>
              <a:rPr lang="en-US" sz="1000" dirty="0">
                <a:solidFill>
                  <a:srgbClr val="D4D4D4"/>
                </a:solidFill>
                <a:latin typeface="Consolas" pitchFamily="34" charset="0"/>
                <a:ea typeface="Consolas" pitchFamily="34" charset="-122"/>
                <a:cs typeface="Consolas" pitchFamily="34" charset="-120"/>
              </a:rPr>
              <a:t>FROM patient_info p</a:t>
            </a:r>
          </a:p>
          <a:p>
            <a:pPr>
              <a:spcAft>
                <a:spcPts val="200"/>
              </a:spcAft>
            </a:pPr>
            <a:r>
              <a:rPr lang="en-US" sz="1000" dirty="0">
                <a:solidFill>
                  <a:srgbClr val="D4D4D4"/>
                </a:solidFill>
                <a:latin typeface="Consolas" pitchFamily="34" charset="0"/>
                <a:ea typeface="Consolas" pitchFamily="34" charset="-122"/>
                <a:cs typeface="Consolas" pitchFamily="34" charset="-120"/>
              </a:rPr>
              <a:t>JOIN lesion_info l</a:t>
            </a:r>
          </a:p>
          <a:p>
            <a:pPr>
              <a:spcAft>
                <a:spcPts val="200"/>
              </a:spcAft>
            </a:pPr>
            <a:r>
              <a:rPr lang="en-US" sz="1000" dirty="0">
                <a:solidFill>
                  <a:srgbClr val="D4D4D4"/>
                </a:solidFill>
                <a:latin typeface="Consolas" pitchFamily="34" charset="0"/>
                <a:ea typeface="Consolas" pitchFamily="34" charset="-122"/>
                <a:cs typeface="Consolas" pitchFamily="34" charset="-120"/>
              </a:rPr>
              <a:t>ON p.patient_id = </a:t>
            </a:r>
            <a:r>
              <a:rPr lang="en-US" sz="1000" dirty="0" err="1">
                <a:solidFill>
                  <a:srgbClr val="D4D4D4"/>
                </a:solidFill>
                <a:latin typeface="Consolas" pitchFamily="34" charset="0"/>
                <a:ea typeface="Consolas" pitchFamily="34" charset="-122"/>
                <a:cs typeface="Consolas" pitchFamily="34" charset="-120"/>
              </a:rPr>
              <a:t>l.patient_id</a:t>
            </a:r>
            <a:endParaRPr lang="en-US" sz="1000" dirty="0">
              <a:solidFill>
                <a:srgbClr val="D4D4D4"/>
              </a:solidFill>
              <a:latin typeface="Consolas" pitchFamily="34" charset="0"/>
              <a:ea typeface="Consolas" pitchFamily="34" charset="-122"/>
              <a:cs typeface="Consolas" pitchFamily="34" charset="-120"/>
            </a:endParaRPr>
          </a:p>
          <a:p>
            <a:pPr>
              <a:spcAft>
                <a:spcPts val="200"/>
              </a:spcAft>
            </a:pPr>
            <a:r>
              <a:rPr lang="en-US" sz="1000" dirty="0">
                <a:solidFill>
                  <a:srgbClr val="D4D4D4"/>
                </a:solidFill>
                <a:latin typeface="Consolas" pitchFamily="34" charset="0"/>
                <a:ea typeface="Consolas" pitchFamily="34" charset="-122"/>
                <a:cs typeface="Consolas" pitchFamily="34" charset="-120"/>
              </a:rPr>
              <a:t>GROUP BY p.smoke, l.diagnostic</a:t>
            </a:r>
          </a:p>
          <a:p>
            <a:pPr>
              <a:spcAft>
                <a:spcPts val="200"/>
              </a:spcAft>
            </a:pPr>
            <a:r>
              <a:rPr lang="en-US" sz="1000" dirty="0">
                <a:solidFill>
                  <a:srgbClr val="D4D4D4"/>
                </a:solidFill>
                <a:latin typeface="Consolas" pitchFamily="34" charset="0"/>
                <a:ea typeface="Consolas" pitchFamily="34" charset="-122"/>
                <a:cs typeface="Consolas" pitchFamily="34" charset="-120"/>
              </a:rPr>
              <a:t>ORDER BY total_cases DESC;</a:t>
            </a:r>
          </a:p>
        </p:txBody>
      </p:sp>
      <p:sp>
        <p:nvSpPr>
          <p:cNvPr id="10" name="ExplHead"/>
          <p:cNvSpPr/>
          <p:nvPr/>
        </p:nvSpPr>
        <p:spPr>
          <a:xfrm>
            <a:off x="548640" y="2520000"/>
            <a:ext cx="457200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rPr>
              <a:t>SYSTEMATIC EXPLANATION</a:t>
            </a:r>
            <a:endParaRPr lang="en-US" sz="1200" dirty="0"/>
          </a:p>
        </p:txBody>
      </p:sp>
      <p:sp>
        <p:nvSpPr>
          <p:cNvPr id="11" name="C1"/>
          <p:cNvSpPr/>
          <p:nvPr/>
        </p:nvSpPr>
        <p:spPr>
          <a:xfrm>
            <a:off x="548640" y="284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SELECT </a:t>
            </a:r>
            <a:r>
              <a:rPr lang="en-US" sz="1000" b="1" dirty="0">
                <a:solidFill>
                  <a:srgbClr val="E8740C"/>
                </a:solidFill>
                <a:latin typeface="Consolas" pitchFamily="34" charset="0"/>
                <a:ea typeface="Consolas" pitchFamily="34" charset="-122"/>
                <a:cs typeface="Consolas" pitchFamily="34" charset="-120"/>
              </a:rPr>
              <a:t>p.</a:t>
            </a:r>
            <a:r>
              <a:rPr lang="en-US" sz="1000" b="1">
                <a:solidFill>
                  <a:srgbClr val="E8740C"/>
                </a:solidFill>
                <a:latin typeface="Consolas" pitchFamily="34" charset="0"/>
                <a:ea typeface="Consolas" pitchFamily="34" charset="-122"/>
                <a:cs typeface="Consolas" pitchFamily="34" charset="-120"/>
              </a:rPr>
              <a:t>smoke, l.diagnostic</a:t>
            </a:r>
          </a:p>
        </p:txBody>
      </p:sp>
      <p:sp>
        <p:nvSpPr>
          <p:cNvPr id="12" name="D1"/>
          <p:cNvSpPr/>
          <p:nvPr/>
        </p:nvSpPr>
        <p:spPr>
          <a:xfrm>
            <a:off x="548640" y="302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Retrieves </a:t>
            </a:r>
            <a:r>
              <a:rPr lang="en-US" sz="1000" dirty="0">
                <a:solidFill>
                  <a:srgbClr val="666666"/>
                </a:solidFill>
                <a:latin typeface="Calibri" pitchFamily="34" charset="0"/>
                <a:ea typeface="Calibri" pitchFamily="34" charset="-122"/>
                <a:cs typeface="Calibri" pitchFamily="34" charset="-120"/>
              </a:rPr>
              <a:t>smoking status</a:t>
            </a:r>
            <a:r>
              <a:rPr lang="en-US" sz="1000">
                <a:solidFill>
                  <a:srgbClr val="666666"/>
                </a:solidFill>
                <a:latin typeface="Calibri" pitchFamily="34" charset="0"/>
                <a:ea typeface="Calibri" pitchFamily="34" charset="-122"/>
                <a:cs typeface="Calibri" pitchFamily="34" charset="-120"/>
              </a:rPr>
              <a:t> and lesion diagnosis.</a:t>
            </a:r>
          </a:p>
        </p:txBody>
      </p:sp>
      <p:sp>
        <p:nvSpPr>
          <p:cNvPr id="13" name="C2"/>
          <p:cNvSpPr/>
          <p:nvPr/>
        </p:nvSpPr>
        <p:spPr>
          <a:xfrm>
            <a:off x="548640" y="323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COUNT(*) AS total_cases</a:t>
            </a:r>
          </a:p>
        </p:txBody>
      </p:sp>
      <p:sp>
        <p:nvSpPr>
          <p:cNvPr id="14" name="D2"/>
          <p:cNvSpPr/>
          <p:nvPr/>
        </p:nvSpPr>
        <p:spPr>
          <a:xfrm>
            <a:off x="548640" y="3410000"/>
            <a:ext cx="5029200" cy="18000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Counts cases </a:t>
            </a:r>
            <a:r>
              <a:rPr lang="en-US" sz="1000">
                <a:solidFill>
                  <a:srgbClr val="666666"/>
                </a:solidFill>
                <a:latin typeface="Calibri" pitchFamily="34" charset="0"/>
                <a:ea typeface="Calibri" pitchFamily="34" charset="-122"/>
                <a:cs typeface="Calibri" pitchFamily="34" charset="-120"/>
              </a:rPr>
              <a:t>in </a:t>
            </a:r>
            <a:r>
              <a:rPr lang="en-US" sz="1000" dirty="0">
                <a:solidFill>
                  <a:srgbClr val="666666"/>
                </a:solidFill>
                <a:latin typeface="Calibri" pitchFamily="34" charset="0"/>
                <a:ea typeface="Calibri" pitchFamily="34" charset="-122"/>
                <a:cs typeface="Calibri" pitchFamily="34" charset="-120"/>
              </a:rPr>
              <a:t>each </a:t>
            </a:r>
            <a:r>
              <a:rPr lang="en-US" sz="1000">
                <a:solidFill>
                  <a:srgbClr val="666666"/>
                </a:solidFill>
                <a:latin typeface="Calibri" pitchFamily="34" charset="0"/>
                <a:ea typeface="Calibri" pitchFamily="34" charset="-122"/>
                <a:cs typeface="Calibri" pitchFamily="34" charset="-120"/>
              </a:rPr>
              <a:t>category</a:t>
            </a:r>
            <a:r>
              <a:rPr lang="en-US" sz="1000" dirty="0">
                <a:solidFill>
                  <a:srgbClr val="666666"/>
                </a:solidFill>
                <a:latin typeface="Calibri" pitchFamily="34" charset="0"/>
                <a:ea typeface="Calibri" pitchFamily="34" charset="-122"/>
                <a:cs typeface="Calibri" pitchFamily="34" charset="-120"/>
              </a:rPr>
              <a:t>.</a:t>
            </a:r>
          </a:p>
        </p:txBody>
      </p:sp>
      <p:sp>
        <p:nvSpPr>
          <p:cNvPr id="15" name="C3"/>
          <p:cNvSpPr/>
          <p:nvPr/>
        </p:nvSpPr>
        <p:spPr>
          <a:xfrm>
            <a:off x="548640" y="362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JOIN patient_info &amp; lesion_info</a:t>
            </a:r>
          </a:p>
        </p:txBody>
      </p:sp>
      <p:sp>
        <p:nvSpPr>
          <p:cNvPr id="16" name="D3"/>
          <p:cNvSpPr/>
          <p:nvPr/>
        </p:nvSpPr>
        <p:spPr>
          <a:xfrm>
            <a:off x="548640" y="380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Links patient records with </a:t>
            </a:r>
            <a:r>
              <a:rPr lang="en-US" sz="1000" dirty="0">
                <a:solidFill>
                  <a:srgbClr val="666666"/>
                </a:solidFill>
                <a:latin typeface="Calibri" pitchFamily="34" charset="0"/>
                <a:ea typeface="Calibri" pitchFamily="34" charset="-122"/>
                <a:cs typeface="Calibri" pitchFamily="34" charset="-120"/>
              </a:rPr>
              <a:t>lesion </a:t>
            </a:r>
            <a:r>
              <a:rPr lang="en-US" sz="1000">
                <a:solidFill>
                  <a:srgbClr val="666666"/>
                </a:solidFill>
                <a:latin typeface="Calibri" pitchFamily="34" charset="0"/>
                <a:ea typeface="Calibri" pitchFamily="34" charset="-122"/>
                <a:cs typeface="Calibri" pitchFamily="34" charset="-120"/>
              </a:rPr>
              <a:t>data.</a:t>
            </a:r>
          </a:p>
        </p:txBody>
      </p:sp>
      <p:sp>
        <p:nvSpPr>
          <p:cNvPr id="17" name="C4"/>
          <p:cNvSpPr/>
          <p:nvPr/>
        </p:nvSpPr>
        <p:spPr>
          <a:xfrm>
            <a:off x="548640" y="401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GROUP BY p.smoke, l.diagnostic</a:t>
            </a:r>
          </a:p>
        </p:txBody>
      </p:sp>
      <p:sp>
        <p:nvSpPr>
          <p:cNvPr id="18" name="D4"/>
          <p:cNvSpPr/>
          <p:nvPr/>
        </p:nvSpPr>
        <p:spPr>
          <a:xfrm>
            <a:off x="548640" y="419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Groups cases by smoking status and diagnosis.</a:t>
            </a:r>
          </a:p>
        </p:txBody>
      </p:sp>
      <p:sp>
        <p:nvSpPr>
          <p:cNvPr id="19" name="C5"/>
          <p:cNvSpPr/>
          <p:nvPr/>
        </p:nvSpPr>
        <p:spPr>
          <a:xfrm>
            <a:off x="548640" y="440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ORDER BY total_cases DESC</a:t>
            </a:r>
          </a:p>
        </p:txBody>
      </p:sp>
      <p:sp>
        <p:nvSpPr>
          <p:cNvPr id="20" name="D5"/>
          <p:cNvSpPr/>
          <p:nvPr/>
        </p:nvSpPr>
        <p:spPr>
          <a:xfrm>
            <a:off x="548640" y="458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Displays the most frequent combinations first.</a:t>
            </a:r>
          </a:p>
        </p:txBody>
      </p:sp>
      <p:sp>
        <p:nvSpPr>
          <p:cNvPr id="21" name="CalloutBg"/>
          <p:cNvSpPr/>
          <p:nvPr/>
        </p:nvSpPr>
        <p:spPr>
          <a:xfrm>
            <a:off x="6217920" y="1200000"/>
            <a:ext cx="2377440" cy="2200000"/>
          </a:xfrm>
          <a:prstGeom prst="rect">
            <a:avLst/>
          </a:prstGeom>
          <a:solidFill>
            <a:srgbClr val="FFF3E6"/>
          </a:solidFill>
          <a:ln/>
        </p:spPr>
        <p:txBody>
          <a:bodyPr/>
          <a:lstStyle/>
          <a:p>
            <a:endParaRPr lang="en-US"/>
          </a:p>
        </p:txBody>
      </p:sp>
      <p:sp>
        <p:nvSpPr>
          <p:cNvPr id="22" name="CalloutTitle"/>
          <p:cNvSpPr/>
          <p:nvPr/>
        </p:nvSpPr>
        <p:spPr>
          <a:xfrm>
            <a:off x="6355080" y="1290000"/>
            <a:ext cx="2103120" cy="500000"/>
          </a:xfrm>
          <a:prstGeom prst="rect">
            <a:avLst/>
          </a:prstGeom>
          <a:noFill/>
          <a:ln/>
        </p:spPr>
        <p:txBody>
          <a:bodyPr wrap="square" lIns="0" tIns="0" rIns="0" bIns="0" rtlCol="0" anchor="t"/>
          <a:lstStyle/>
          <a:p>
            <a:pPr marL="0" indent="0">
              <a:spcAft>
                <a:spcPts val="100"/>
              </a:spcAft>
              <a:buNone/>
            </a:pPr>
            <a:r>
              <a:rPr lang="en-US" sz="900" b="1">
                <a:solidFill>
                  <a:srgbClr val="E8740C"/>
                </a:solidFill>
                <a:latin typeface="Arial Black" pitchFamily="34" charset="0"/>
                <a:ea typeface="Arial Black" pitchFamily="34" charset="-122"/>
                <a:cs typeface="Arial Black" pitchFamily="34" charset="-120"/>
              </a:rPr>
              <a:t>CATEGORY:</a:t>
            </a:r>
            <a:endParaRPr lang="en-US" sz="900"/>
          </a:p>
          <a:p>
            <a:pPr marL="0" indent="0">
              <a:buNone/>
            </a:pPr>
            <a:r>
              <a:rPr lang="en-US" sz="1000">
                <a:solidFill>
                  <a:srgbClr val="1A1A1A"/>
                </a:solidFill>
                <a:latin typeface="Calibri" pitchFamily="34" charset="0"/>
                <a:ea typeface="Calibri" pitchFamily="34" charset="-122"/>
                <a:cs typeface="Calibri" pitchFamily="34" charset="-120"/>
              </a:rPr>
              <a:t>Environmental &amp; Lifestyle Risk Factor Analysis (Aim 2)</a:t>
            </a:r>
            <a:endParaRPr lang="en-US" sz="1000"/>
          </a:p>
        </p:txBody>
      </p:sp>
      <p:sp>
        <p:nvSpPr>
          <p:cNvPr id="23" name="CalloutText"/>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a:solidFill>
                  <a:srgbClr val="1A1A1A"/>
                </a:solidFill>
                <a:latin typeface="Arial Black" pitchFamily="34" charset="0"/>
                <a:ea typeface="Arial Black" pitchFamily="34" charset="-122"/>
                <a:cs typeface="Arial Black" pitchFamily="34" charset="-120"/>
              </a:rPr>
              <a:t>WHY THIS QUERY?</a:t>
            </a:r>
            <a:endParaRPr lang="en-US" sz="1100"/>
          </a:p>
          <a:p>
            <a:pPr marL="0" indent="0">
              <a:lnSpc>
                <a:spcPct val="130000"/>
              </a:lnSpc>
              <a:buNone/>
            </a:pPr>
            <a:r>
              <a:rPr lang="en-US" sz="900">
                <a:solidFill>
                  <a:srgbClr val="333333"/>
                </a:solidFill>
                <a:latin typeface="Calibri" pitchFamily="34" charset="0"/>
                <a:ea typeface="Calibri" pitchFamily="34" charset="-122"/>
                <a:cs typeface="Calibri" pitchFamily="34" charset="-120"/>
              </a:rPr>
              <a:t>This query was used to explore whether smoking status is associated with particular lesion diagnoses and assess smoking as a potential risk factor.</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4: RESULTS &amp; INSIGHT</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Smoking and Lesion Types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16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graphicFrame>
        <p:nvGraphicFramePr>
          <p:cNvPr id="8" name="Table 8"/>
          <p:cNvGraphicFramePr>
            <a:graphicFrameLocks noGrp="1"/>
          </p:cNvGraphicFramePr>
          <p:nvPr>
            <p:extLst>
              <p:ext uri="{D42A27DB-BD31-4B8C-83A1-F6EECF244321}">
                <p14:modId xmlns:p14="http://schemas.microsoft.com/office/powerpoint/2010/main" val="736306244"/>
              </p:ext>
            </p:extLst>
          </p:nvPr>
        </p:nvGraphicFramePr>
        <p:xfrm>
          <a:off x="548640" y="1325880"/>
          <a:ext cx="4572000" cy="2971800"/>
        </p:xfrm>
        <a:graphic>
          <a:graphicData uri="http://schemas.openxmlformats.org/drawingml/2006/table">
            <a:tbl>
              <a:tblPr firstRow="1" bandRow="1">
                <a:noFill/>
              </a:tblPr>
              <a:tblGrid>
                <a:gridCol w="1600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196947">
                <a:tc>
                  <a:txBody>
                    <a:bodyPr/>
                    <a:lstStyle/>
                    <a:p>
                      <a:pPr algn="ctr">
                        <a:buNone/>
                      </a:pPr>
                      <a:r>
                        <a:rPr lang="en-US" sz="900" b="1" dirty="0">
                          <a:solidFill>
                            <a:srgbClr val="FFFFFF"/>
                          </a:solidFill>
                          <a:latin typeface="Calibri" pitchFamily="34" charset="0"/>
                          <a:cs typeface="Calibri" pitchFamily="34" charset="0"/>
                        </a:rPr>
                        <a:t>Smoking Status</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900" b="1" dirty="0">
                          <a:solidFill>
                            <a:srgbClr val="FFFFFF"/>
                          </a:solidFill>
                          <a:latin typeface="Calibri" pitchFamily="34" charset="0"/>
                          <a:cs typeface="Calibri" pitchFamily="34" charset="0"/>
                        </a:rPr>
                        <a:t>Diagnostic</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900" b="1" dirty="0">
                          <a:solidFill>
                            <a:srgbClr val="FFFFFF"/>
                          </a:solidFill>
                          <a:latin typeface="Calibri" pitchFamily="34" charset="0"/>
                          <a:cs typeface="Calibri" pitchFamily="34" charset="0"/>
                        </a:rPr>
                        <a:t>Total Cases</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extLst>
                  <a:ext uri="{0D108BD9-81ED-4DB2-BD59-A6C34878D82A}">
                    <a16:rowId xmlns:a16="http://schemas.microsoft.com/office/drawing/2014/main" val="10000"/>
                  </a:ext>
                </a:extLst>
              </a:tr>
              <a:tr h="196947">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448</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extLst>
                  <a:ext uri="{0D108BD9-81ED-4DB2-BD59-A6C34878D82A}">
                    <a16:rowId xmlns:a16="http://schemas.microsoft.com/office/drawing/2014/main" val="10001"/>
                  </a:ext>
                </a:extLst>
              </a:tr>
              <a:tr h="196947">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243</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2"/>
                  </a:ext>
                </a:extLst>
              </a:tr>
              <a:tr h="196947">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143</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3"/>
                  </a:ext>
                </a:extLst>
              </a:tr>
              <a:tr h="196947">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136</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4"/>
                  </a:ext>
                </a:extLst>
              </a:tr>
              <a:tr h="196947">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41</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5"/>
                  </a:ext>
                </a:extLst>
              </a:tr>
              <a:tr h="196947">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15</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6"/>
                  </a:ext>
                </a:extLst>
              </a:tr>
              <a:tr h="196947">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30</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7"/>
                  </a:ext>
                </a:extLst>
              </a:tr>
              <a:tr h="196947">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15</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8"/>
                  </a:ext>
                </a:extLst>
              </a:tr>
              <a:tr h="196947">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13</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9"/>
                  </a:ext>
                </a:extLst>
              </a:tr>
              <a:tr h="196947">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2</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0"/>
                  </a:ext>
                </a:extLst>
              </a:tr>
              <a:tr h="196947">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1</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11"/>
                  </a:ext>
                </a:extLst>
              </a:tr>
              <a:tr h="196947">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2"/>
                  </a:ext>
                </a:extLst>
              </a:tr>
            </a:tbl>
          </a:graphicData>
        </a:graphic>
      </p:graphicFrame>
      <p:sp>
        <p:nvSpPr>
          <p:cNvPr id="9" name="Shape 6"/>
          <p:cNvSpPr/>
          <p:nvPr/>
        </p:nvSpPr>
        <p:spPr>
          <a:xfrm>
            <a:off x="5669280" y="1325879"/>
            <a:ext cx="3017520" cy="1921289"/>
          </a:xfrm>
          <a:prstGeom prst="rect">
            <a:avLst/>
          </a:prstGeom>
          <a:solidFill>
            <a:srgbClr val="FFF3E6"/>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5806440" y="1378416"/>
            <a:ext cx="274320" cy="274320"/>
          </a:xfrm>
          <a:prstGeom prst="rect">
            <a:avLst/>
          </a:prstGeom>
        </p:spPr>
      </p:pic>
      <p:sp>
        <p:nvSpPr>
          <p:cNvPr id="11" name="Text 7"/>
          <p:cNvSpPr/>
          <p:nvPr/>
        </p:nvSpPr>
        <p:spPr>
          <a:xfrm>
            <a:off x="6172200" y="1365623"/>
            <a:ext cx="228600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rPr>
              <a:t>KEY FINDING</a:t>
            </a:r>
            <a:endParaRPr lang="en-US" sz="1100" dirty="0"/>
          </a:p>
        </p:txBody>
      </p:sp>
      <p:sp>
        <p:nvSpPr>
          <p:cNvPr id="12" name="Text 8"/>
          <p:cNvSpPr/>
          <p:nvPr/>
        </p:nvSpPr>
        <p:spPr>
          <a:xfrm>
            <a:off x="5806440" y="1890878"/>
            <a:ext cx="2651760" cy="984029"/>
          </a:xfrm>
          <a:prstGeom prst="rect">
            <a:avLst/>
          </a:prstGeom>
          <a:noFill/>
          <a:ln/>
        </p:spPr>
        <p:txBody>
          <a:bodyPr wrap="square" lIns="0" tIns="0" rIns="0" bIns="0" rtlCol="0" anchor="ctr"/>
          <a:lstStyle/>
          <a:p>
            <a:pPr>
              <a:lnSpc>
                <a:spcPct val="130000"/>
              </a:lnSpc>
            </a:pPr>
            <a:r>
              <a:rPr lang="en-US" sz="1000" dirty="0"/>
              <a:t>Analysis of smoking status revealed that most lesion cases were recorded among non-smokers. Among smokers, Basal Cell Carcinoma (BCC) and Squamous Cell Carcinoma (SCC) were the most common diagnoses. While the dataset suggests a possible association between smoking and certain lesion types, additional statistical analysis would be required to establish a definitive relationship.</a:t>
            </a:r>
          </a:p>
        </p:txBody>
      </p:sp>
      <p:sp>
        <p:nvSpPr>
          <p:cNvPr id="13" name="Shape 9"/>
          <p:cNvSpPr/>
          <p:nvPr/>
        </p:nvSpPr>
        <p:spPr>
          <a:xfrm>
            <a:off x="5806440" y="3384329"/>
            <a:ext cx="2880360" cy="914400"/>
          </a:xfrm>
          <a:prstGeom prst="rect">
            <a:avLst/>
          </a:prstGeom>
          <a:solidFill>
            <a:srgbClr val="F7F7F7"/>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5806440" y="3419144"/>
            <a:ext cx="274320" cy="274320"/>
          </a:xfrm>
          <a:prstGeom prst="rect">
            <a:avLst/>
          </a:prstGeom>
        </p:spPr>
      </p:pic>
      <p:sp>
        <p:nvSpPr>
          <p:cNvPr id="15" name="Text 10"/>
          <p:cNvSpPr/>
          <p:nvPr/>
        </p:nvSpPr>
        <p:spPr>
          <a:xfrm>
            <a:off x="6172200" y="3407189"/>
            <a:ext cx="228600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RECOMMENDATION</a:t>
            </a:r>
            <a:endParaRPr lang="en-US" sz="1100" dirty="0"/>
          </a:p>
        </p:txBody>
      </p:sp>
      <p:sp>
        <p:nvSpPr>
          <p:cNvPr id="16" name="Text 11"/>
          <p:cNvSpPr/>
          <p:nvPr/>
        </p:nvSpPr>
        <p:spPr>
          <a:xfrm>
            <a:off x="5785887" y="3704369"/>
            <a:ext cx="2651760" cy="457200"/>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Integrate smoking cessation guidance into dermatology screening programs as a complementary preventive measure.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5: PESTICIDE EXPOSURE &amp; DIAGNOSIS</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Does pesticide exposure correlate with skin lesion types?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17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200000"/>
            <a:ext cx="5029200" cy="1320000"/>
          </a:xfrm>
          <a:prstGeom prst="rect">
            <a:avLst/>
          </a:prstGeom>
          <a:solidFill>
            <a:srgbClr val="1E1E1E"/>
          </a:solidFill>
          <a:ln/>
        </p:spPr>
        <p:txBody>
          <a:bodyPr/>
          <a:lstStyle/>
          <a:p>
            <a:endParaRPr lang="en-US"/>
          </a:p>
        </p:txBody>
      </p:sp>
      <p:sp>
        <p:nvSpPr>
          <p:cNvPr id="9" name="Text 7"/>
          <p:cNvSpPr/>
          <p:nvPr/>
        </p:nvSpPr>
        <p:spPr>
          <a:xfrm>
            <a:off x="685800" y="1280000"/>
            <a:ext cx="4754880" cy="98000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SELECT p.pesticide, l.diagnostic,</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       COUNT(*) AS total_cases</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FROM patient_info p</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JOIN lesion_info l</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  ON p.patient_id = l.patient_id</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GROUP BY p.pesticide, l.diagnostic</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ORDER BY p.pesticide, total_cases DESC;</a:t>
            </a:r>
            <a:endParaRPr lang="en-US" sz="1000" dirty="0"/>
          </a:p>
        </p:txBody>
      </p:sp>
      <p:sp>
        <p:nvSpPr>
          <p:cNvPr id="10" name="Text 8"/>
          <p:cNvSpPr/>
          <p:nvPr/>
        </p:nvSpPr>
        <p:spPr>
          <a:xfrm>
            <a:off x="548640" y="2520000"/>
            <a:ext cx="457200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rPr>
              <a:t>SYSTEMATIC EXPLANATION</a:t>
            </a:r>
            <a:endParaRPr lang="en-US" sz="1200" dirty="0"/>
          </a:p>
        </p:txBody>
      </p:sp>
      <p:sp>
        <p:nvSpPr>
          <p:cNvPr id="11" name="C1"/>
          <p:cNvSpPr/>
          <p:nvPr/>
        </p:nvSpPr>
        <p:spPr>
          <a:xfrm>
            <a:off x="548640" y="284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SELECT p.pesticide, l.diagnostic</a:t>
            </a:r>
          </a:p>
        </p:txBody>
      </p:sp>
      <p:sp>
        <p:nvSpPr>
          <p:cNvPr id="12" name="D1"/>
          <p:cNvSpPr/>
          <p:nvPr/>
        </p:nvSpPr>
        <p:spPr>
          <a:xfrm>
            <a:off x="548640" y="302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Retrieves pesticide </a:t>
            </a:r>
            <a:r>
              <a:rPr lang="en-US" sz="1000" dirty="0">
                <a:solidFill>
                  <a:srgbClr val="666666"/>
                </a:solidFill>
                <a:latin typeface="Calibri" pitchFamily="34" charset="0"/>
                <a:ea typeface="Calibri" pitchFamily="34" charset="-122"/>
                <a:cs typeface="Calibri" pitchFamily="34" charset="-120"/>
              </a:rPr>
              <a:t>exposure </a:t>
            </a:r>
            <a:r>
              <a:rPr lang="en-US" sz="1000">
                <a:solidFill>
                  <a:srgbClr val="666666"/>
                </a:solidFill>
                <a:latin typeface="Calibri" pitchFamily="34" charset="0"/>
                <a:ea typeface="Calibri" pitchFamily="34" charset="-122"/>
                <a:cs typeface="Calibri" pitchFamily="34" charset="-120"/>
              </a:rPr>
              <a:t>status </a:t>
            </a:r>
            <a:r>
              <a:rPr lang="en-US" sz="1000" dirty="0">
                <a:solidFill>
                  <a:srgbClr val="666666"/>
                </a:solidFill>
                <a:latin typeface="Calibri" pitchFamily="34" charset="0"/>
                <a:ea typeface="Calibri" pitchFamily="34" charset="-122"/>
                <a:cs typeface="Calibri" pitchFamily="34" charset="-120"/>
              </a:rPr>
              <a:t>and </a:t>
            </a:r>
            <a:r>
              <a:rPr lang="en-US" sz="1000">
                <a:solidFill>
                  <a:srgbClr val="666666"/>
                </a:solidFill>
                <a:latin typeface="Calibri" pitchFamily="34" charset="0"/>
                <a:ea typeface="Calibri" pitchFamily="34" charset="-122"/>
                <a:cs typeface="Calibri" pitchFamily="34" charset="-120"/>
              </a:rPr>
              <a:t>lesion </a:t>
            </a:r>
            <a:r>
              <a:rPr lang="en-US" sz="1000" dirty="0">
                <a:solidFill>
                  <a:srgbClr val="666666"/>
                </a:solidFill>
                <a:latin typeface="Calibri" pitchFamily="34" charset="0"/>
                <a:ea typeface="Calibri" pitchFamily="34" charset="-122"/>
                <a:cs typeface="Calibri" pitchFamily="34" charset="-120"/>
              </a:rPr>
              <a:t>diagnosis</a:t>
            </a:r>
            <a:r>
              <a:rPr lang="en-US" sz="1000">
                <a:solidFill>
                  <a:srgbClr val="666666"/>
                </a:solidFill>
                <a:latin typeface="Calibri" pitchFamily="34" charset="0"/>
                <a:ea typeface="Calibri" pitchFamily="34" charset="-122"/>
                <a:cs typeface="Calibri" pitchFamily="34" charset="-120"/>
              </a:rPr>
              <a:t>.</a:t>
            </a:r>
          </a:p>
        </p:txBody>
      </p:sp>
      <p:sp>
        <p:nvSpPr>
          <p:cNvPr id="13" name="C2"/>
          <p:cNvSpPr/>
          <p:nvPr/>
        </p:nvSpPr>
        <p:spPr>
          <a:xfrm>
            <a:off x="548640" y="323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COUNT(*)</a:t>
            </a:r>
          </a:p>
        </p:txBody>
      </p:sp>
      <p:sp>
        <p:nvSpPr>
          <p:cNvPr id="14" name="D2"/>
          <p:cNvSpPr/>
          <p:nvPr/>
        </p:nvSpPr>
        <p:spPr>
          <a:xfrm>
            <a:off x="548640" y="341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Counts the total number of cases for each pesticide-diagnosis combination.</a:t>
            </a:r>
          </a:p>
        </p:txBody>
      </p:sp>
      <p:sp>
        <p:nvSpPr>
          <p:cNvPr id="15" name="C3"/>
          <p:cNvSpPr/>
          <p:nvPr/>
        </p:nvSpPr>
        <p:spPr>
          <a:xfrm>
            <a:off x="548640" y="362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JOIN patient_info &amp; lesion_info</a:t>
            </a:r>
          </a:p>
        </p:txBody>
      </p:sp>
      <p:sp>
        <p:nvSpPr>
          <p:cNvPr id="16" name="D3"/>
          <p:cNvSpPr/>
          <p:nvPr/>
        </p:nvSpPr>
        <p:spPr>
          <a:xfrm>
            <a:off x="548640" y="380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Combines patient information with lesion records.</a:t>
            </a:r>
          </a:p>
        </p:txBody>
      </p:sp>
      <p:sp>
        <p:nvSpPr>
          <p:cNvPr id="20" name="C4"/>
          <p:cNvSpPr/>
          <p:nvPr/>
        </p:nvSpPr>
        <p:spPr>
          <a:xfrm>
            <a:off x="548640" y="401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GROUP BY p.pesticide, l.diagnostic</a:t>
            </a:r>
          </a:p>
        </p:txBody>
      </p:sp>
      <p:sp>
        <p:nvSpPr>
          <p:cNvPr id="21" name="D4"/>
          <p:cNvSpPr/>
          <p:nvPr/>
        </p:nvSpPr>
        <p:spPr>
          <a:xfrm>
            <a:off x="548640" y="419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Groups cases by pesticide exposure and diagnosis type.</a:t>
            </a:r>
          </a:p>
        </p:txBody>
      </p:sp>
      <p:sp>
        <p:nvSpPr>
          <p:cNvPr id="22" name="C5"/>
          <p:cNvSpPr/>
          <p:nvPr/>
        </p:nvSpPr>
        <p:spPr>
          <a:xfrm>
            <a:off x="548640" y="440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ORDER BY p.pesticide, total_cases DESC</a:t>
            </a:r>
          </a:p>
        </p:txBody>
      </p:sp>
      <p:sp>
        <p:nvSpPr>
          <p:cNvPr id="23" name="D5"/>
          <p:cNvSpPr/>
          <p:nvPr/>
        </p:nvSpPr>
        <p:spPr>
          <a:xfrm>
            <a:off x="548640" y="458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Ranks diagnoses by frequency within each pesticide exposure group.</a:t>
            </a:r>
          </a:p>
        </p:txBody>
      </p:sp>
      <p:sp>
        <p:nvSpPr>
          <p:cNvPr id="17" name="CalloutBg"/>
          <p:cNvSpPr/>
          <p:nvPr/>
        </p:nvSpPr>
        <p:spPr>
          <a:xfrm>
            <a:off x="6217920" y="1200000"/>
            <a:ext cx="2377440" cy="2200000"/>
          </a:xfrm>
          <a:prstGeom prst="rect">
            <a:avLst/>
          </a:prstGeom>
          <a:solidFill>
            <a:srgbClr val="FFF3E6"/>
          </a:solidFill>
          <a:ln/>
        </p:spPr>
        <p:txBody>
          <a:bodyPr/>
          <a:lstStyle/>
          <a:p>
            <a:endParaRPr lang="en-US"/>
          </a:p>
        </p:txBody>
      </p:sp>
      <p:sp>
        <p:nvSpPr>
          <p:cNvPr id="18" name="CalloutTitle"/>
          <p:cNvSpPr/>
          <p:nvPr/>
        </p:nvSpPr>
        <p:spPr>
          <a:xfrm>
            <a:off x="6355080" y="1290000"/>
            <a:ext cx="2240280" cy="500000"/>
          </a:xfrm>
          <a:prstGeom prst="rect">
            <a:avLst/>
          </a:prstGeom>
          <a:noFill/>
          <a:ln/>
        </p:spPr>
        <p:txBody>
          <a:bodyPr wrap="square" lIns="0" tIns="0" rIns="0" bIns="0" rtlCol="0" anchor="t"/>
          <a:lstStyle/>
          <a:p>
            <a:pPr marL="0" indent="0">
              <a:spcAft>
                <a:spcPts val="100"/>
              </a:spcAft>
              <a:buNone/>
            </a:pPr>
            <a:r>
              <a:rPr lang="en-US" sz="900" b="1" dirty="0">
                <a:solidFill>
                  <a:srgbClr val="E8740C"/>
                </a:solidFill>
                <a:latin typeface="Arial Black" pitchFamily="34" charset="0"/>
                <a:ea typeface="Arial Black" pitchFamily="34" charset="-122"/>
                <a:cs typeface="Arial Black" pitchFamily="34" charset="-120"/>
              </a:rPr>
              <a:t>CATEGORY:</a:t>
            </a:r>
            <a:endParaRPr lang="en-US" sz="900" dirty="0"/>
          </a:p>
          <a:p>
            <a:pPr marL="0" indent="0">
              <a:buNone/>
            </a:pPr>
            <a:r>
              <a:rPr lang="en-US" sz="1000" dirty="0">
                <a:solidFill>
                  <a:srgbClr val="1A1A1A"/>
                </a:solidFill>
                <a:latin typeface="Calibri" pitchFamily="34" charset="0"/>
                <a:ea typeface="Calibri" pitchFamily="34" charset="-122"/>
                <a:cs typeface="Calibri" pitchFamily="34" charset="-120"/>
              </a:rPr>
              <a:t>Environmental Risk Factor Analysis (Aim 2)</a:t>
            </a:r>
            <a:endParaRPr lang="en-US" sz="1000" dirty="0"/>
          </a:p>
        </p:txBody>
      </p:sp>
      <p:sp>
        <p:nvSpPr>
          <p:cNvPr id="19" name="CalloutText"/>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a:solidFill>
                  <a:srgbClr val="1A1A1A"/>
                </a:solidFill>
                <a:latin typeface="Arial Black" pitchFamily="34" charset="0"/>
                <a:ea typeface="Arial Black" pitchFamily="34" charset="-122"/>
                <a:cs typeface="Arial Black" pitchFamily="34" charset="-120"/>
              </a:rPr>
              <a:t>WHY THIS QUERY?</a:t>
            </a:r>
            <a:endParaRPr lang="en-US" sz="1100"/>
          </a:p>
          <a:p>
            <a:pPr marL="0" indent="0">
              <a:lnSpc>
                <a:spcPct val="130000"/>
              </a:lnSpc>
              <a:buNone/>
            </a:pPr>
            <a:r>
              <a:rPr lang="en-US" sz="900">
                <a:solidFill>
                  <a:srgbClr val="333333"/>
                </a:solidFill>
                <a:latin typeface="Calibri" pitchFamily="34" charset="0"/>
                <a:ea typeface="Calibri" pitchFamily="34" charset="-122"/>
                <a:cs typeface="Calibri" pitchFamily="34" charset="-120"/>
              </a:rPr>
              <a:t>This query was used to investigate whether exposure to pesticides is associated with differences in lesion occurrence and diagnosis patterns.</a:t>
            </a:r>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5: RESULTS &amp; INSIGHT</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Pesticide Exposure and Diagnosis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18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graphicFrame>
        <p:nvGraphicFramePr>
          <p:cNvPr id="8" name="Table 8"/>
          <p:cNvGraphicFramePr>
            <a:graphicFrameLocks noGrp="1"/>
          </p:cNvGraphicFramePr>
          <p:nvPr>
            <p:extLst>
              <p:ext uri="{D42A27DB-BD31-4B8C-83A1-F6EECF244321}">
                <p14:modId xmlns:p14="http://schemas.microsoft.com/office/powerpoint/2010/main" val="1785571832"/>
              </p:ext>
            </p:extLst>
          </p:nvPr>
        </p:nvGraphicFramePr>
        <p:xfrm>
          <a:off x="548640" y="1325880"/>
          <a:ext cx="4572000" cy="3195829"/>
        </p:xfrm>
        <a:graphic>
          <a:graphicData uri="http://schemas.openxmlformats.org/drawingml/2006/table">
            <a:tbl>
              <a:tblPr firstRow="1" bandRow="1">
                <a:noFill/>
              </a:tblPr>
              <a:tblGrid>
                <a:gridCol w="17373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245833">
                <a:tc>
                  <a:txBody>
                    <a:bodyPr/>
                    <a:lstStyle/>
                    <a:p>
                      <a:pPr algn="ctr">
                        <a:buNone/>
                      </a:pPr>
                      <a:r>
                        <a:rPr lang="en-US" sz="900" b="1" dirty="0">
                          <a:solidFill>
                            <a:srgbClr val="FFFFFF"/>
                          </a:solidFill>
                          <a:latin typeface="Calibri" pitchFamily="34" charset="0"/>
                          <a:cs typeface="Calibri" pitchFamily="34" charset="0"/>
                        </a:rPr>
                        <a:t>Pesticide Exposure</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900" b="1" dirty="0">
                          <a:solidFill>
                            <a:srgbClr val="FFFFFF"/>
                          </a:solidFill>
                          <a:latin typeface="Calibri" pitchFamily="34" charset="0"/>
                          <a:cs typeface="Calibri" pitchFamily="34" charset="0"/>
                        </a:rPr>
                        <a:t>Diagnostic</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900" b="1" dirty="0">
                          <a:solidFill>
                            <a:srgbClr val="FFFFFF"/>
                          </a:solidFill>
                          <a:latin typeface="Calibri" pitchFamily="34" charset="0"/>
                          <a:cs typeface="Calibri" pitchFamily="34" charset="0"/>
                        </a:rPr>
                        <a:t>Total Cases</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extLst>
                  <a:ext uri="{0D108BD9-81ED-4DB2-BD59-A6C34878D82A}">
                    <a16:rowId xmlns:a16="http://schemas.microsoft.com/office/drawing/2014/main" val="10000"/>
                  </a:ext>
                </a:extLst>
              </a:tr>
              <a:tr h="245833">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399</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extLst>
                  <a:ext uri="{0D108BD9-81ED-4DB2-BD59-A6C34878D82A}">
                    <a16:rowId xmlns:a16="http://schemas.microsoft.com/office/drawing/2014/main" val="10001"/>
                  </a:ext>
                </a:extLst>
              </a:tr>
              <a:tr h="245833">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146</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2"/>
                  </a:ext>
                </a:extLst>
              </a:tr>
              <a:tr h="245833">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141</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3"/>
                  </a:ext>
                </a:extLst>
              </a:tr>
              <a:tr h="245833">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135</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4"/>
                  </a:ext>
                </a:extLst>
              </a:tr>
              <a:tr h="245833">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34</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5"/>
                  </a:ext>
                </a:extLst>
              </a:tr>
              <a:tr h="245833">
                <a:tc>
                  <a:txBody>
                    <a:bodyPr/>
                    <a:lstStyle/>
                    <a:p>
                      <a:pPr algn="l">
                        <a:buNone/>
                      </a:pPr>
                      <a:r>
                        <a:rPr lang="en-US" sz="9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10</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6"/>
                  </a:ext>
                </a:extLst>
              </a:tr>
              <a:tr h="245833">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127</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7"/>
                  </a:ext>
                </a:extLst>
              </a:tr>
              <a:tr h="245833">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62</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8"/>
                  </a:ext>
                </a:extLst>
              </a:tr>
              <a:tr h="245833">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22</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9"/>
                  </a:ext>
                </a:extLst>
              </a:tr>
              <a:tr h="245833">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7</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0"/>
                  </a:ext>
                </a:extLst>
              </a:tr>
              <a:tr h="245833">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900" dirty="0">
                          <a:solidFill>
                            <a:srgbClr val="1A1A1A"/>
                          </a:solidFill>
                          <a:latin typeface="Calibri" pitchFamily="34" charset="0"/>
                          <a:cs typeface="Calibri" pitchFamily="34" charset="0"/>
                        </a:rPr>
                        <a:t>3</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11"/>
                  </a:ext>
                </a:extLst>
              </a:tr>
              <a:tr h="245833">
                <a:tc>
                  <a:txBody>
                    <a:bodyPr/>
                    <a:lstStyle/>
                    <a:p>
                      <a:pPr algn="l">
                        <a:buNone/>
                      </a:pPr>
                      <a:r>
                        <a:rPr lang="en-US" sz="9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900" dirty="0">
                          <a:solidFill>
                            <a:srgbClr val="1A1A1A"/>
                          </a:solidFill>
                          <a:latin typeface="Calibri" pitchFamily="34" charset="0"/>
                          <a:cs typeface="Calibri" pitchFamily="34" charset="0"/>
                        </a:rPr>
                        <a:t>2</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2"/>
                  </a:ext>
                </a:extLst>
              </a:tr>
            </a:tbl>
          </a:graphicData>
        </a:graphic>
      </p:graphicFrame>
      <p:sp>
        <p:nvSpPr>
          <p:cNvPr id="9" name="Shape 6"/>
          <p:cNvSpPr/>
          <p:nvPr/>
        </p:nvSpPr>
        <p:spPr>
          <a:xfrm>
            <a:off x="5669280" y="1325880"/>
            <a:ext cx="2926080" cy="1645920"/>
          </a:xfrm>
          <a:prstGeom prst="rect">
            <a:avLst/>
          </a:prstGeom>
          <a:solidFill>
            <a:srgbClr val="FFF3E6"/>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5767851" y="1335024"/>
            <a:ext cx="274320" cy="274320"/>
          </a:xfrm>
          <a:prstGeom prst="rect">
            <a:avLst/>
          </a:prstGeom>
        </p:spPr>
      </p:pic>
      <p:sp>
        <p:nvSpPr>
          <p:cNvPr id="11" name="Text 7"/>
          <p:cNvSpPr/>
          <p:nvPr/>
        </p:nvSpPr>
        <p:spPr>
          <a:xfrm>
            <a:off x="6172200" y="1330074"/>
            <a:ext cx="228600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rPr>
              <a:t>KEY FINDING</a:t>
            </a:r>
            <a:endParaRPr lang="en-US" sz="1100" dirty="0"/>
          </a:p>
        </p:txBody>
      </p:sp>
      <p:sp>
        <p:nvSpPr>
          <p:cNvPr id="12" name="Text 8"/>
          <p:cNvSpPr/>
          <p:nvPr/>
        </p:nvSpPr>
        <p:spPr>
          <a:xfrm>
            <a:off x="5806440" y="1682496"/>
            <a:ext cx="2651760" cy="1097280"/>
          </a:xfrm>
          <a:prstGeom prst="rect">
            <a:avLst/>
          </a:prstGeom>
          <a:noFill/>
          <a:ln/>
        </p:spPr>
        <p:txBody>
          <a:bodyPr wrap="square" lIns="0" tIns="0" rIns="0" bIns="0" rtlCol="0" anchor="ctr"/>
          <a:lstStyle/>
          <a:p>
            <a:pPr>
              <a:lnSpc>
                <a:spcPct val="130000"/>
              </a:lnSpc>
            </a:pPr>
            <a:r>
              <a:rPr lang="en-US" sz="1000" dirty="0"/>
              <a:t>Among patients exposed to pesticides, </a:t>
            </a:r>
            <a:r>
              <a:rPr lang="en-US" sz="1000" b="1" dirty="0"/>
              <a:t>BCC is the most common diagnosis</a:t>
            </a:r>
            <a:r>
              <a:rPr lang="en-US" sz="1000" dirty="0"/>
              <a:t>, with </a:t>
            </a:r>
            <a:r>
              <a:rPr lang="en-US" sz="1000" b="1" dirty="0"/>
              <a:t>127 cases</a:t>
            </a:r>
            <a:r>
              <a:rPr lang="en-US" sz="1000" dirty="0"/>
              <a:t>. This is different from the non-exposed group, where </a:t>
            </a:r>
            <a:r>
              <a:rPr lang="en-US" sz="1000" b="1" dirty="0"/>
              <a:t>ACK is the most common</a:t>
            </a:r>
            <a:r>
              <a:rPr lang="en-US" sz="1000" dirty="0"/>
              <a:t>, with </a:t>
            </a:r>
            <a:r>
              <a:rPr lang="en-US" sz="1000" b="1" dirty="0"/>
              <a:t>399 cases</a:t>
            </a:r>
            <a:r>
              <a:rPr lang="en-US" sz="1000" dirty="0"/>
              <a:t>.</a:t>
            </a:r>
          </a:p>
        </p:txBody>
      </p:sp>
      <p:sp>
        <p:nvSpPr>
          <p:cNvPr id="13" name="Shape 9"/>
          <p:cNvSpPr/>
          <p:nvPr/>
        </p:nvSpPr>
        <p:spPr>
          <a:xfrm>
            <a:off x="5760720" y="3136391"/>
            <a:ext cx="2926080" cy="1385317"/>
          </a:xfrm>
          <a:prstGeom prst="rect">
            <a:avLst/>
          </a:prstGeom>
          <a:solidFill>
            <a:srgbClr val="F7F7F7"/>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5806440" y="3188446"/>
            <a:ext cx="274320" cy="274320"/>
          </a:xfrm>
          <a:prstGeom prst="rect">
            <a:avLst/>
          </a:prstGeom>
        </p:spPr>
      </p:pic>
      <p:sp>
        <p:nvSpPr>
          <p:cNvPr id="15" name="Text 10"/>
          <p:cNvSpPr/>
          <p:nvPr/>
        </p:nvSpPr>
        <p:spPr>
          <a:xfrm>
            <a:off x="6240780" y="3211830"/>
            <a:ext cx="228600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RECOMMENDATION</a:t>
            </a:r>
            <a:endParaRPr lang="en-US" sz="1100" dirty="0"/>
          </a:p>
        </p:txBody>
      </p:sp>
      <p:sp>
        <p:nvSpPr>
          <p:cNvPr id="16" name="Text 11"/>
          <p:cNvSpPr/>
          <p:nvPr/>
        </p:nvSpPr>
        <p:spPr>
          <a:xfrm>
            <a:off x="5806440" y="3726180"/>
            <a:ext cx="2651760" cy="457200"/>
          </a:xfrm>
          <a:prstGeom prst="rect">
            <a:avLst/>
          </a:prstGeom>
          <a:noFill/>
          <a:ln/>
        </p:spPr>
        <p:txBody>
          <a:bodyPr wrap="square" lIns="0" tIns="0" rIns="0" bIns="0" rtlCol="0" anchor="ctr"/>
          <a:lstStyle/>
          <a:p>
            <a:pPr>
              <a:lnSpc>
                <a:spcPct val="130000"/>
              </a:lnSpc>
            </a:pPr>
            <a:r>
              <a:rPr lang="en-US" sz="1000" dirty="0"/>
              <a:t>Individuals with occupational or environmental exposure to pesticides should be encouraged to use protective equipment and undergo regular skin examinations to facilitate early detection of potentially harmful lesions.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6: MOST AFFECTED BODY REGION</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Which body region has the highest lesion frequency?</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19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325880"/>
            <a:ext cx="5029200" cy="1051560"/>
          </a:xfrm>
          <a:prstGeom prst="rect">
            <a:avLst/>
          </a:prstGeom>
          <a:solidFill>
            <a:srgbClr val="1E1E1E"/>
          </a:solidFill>
          <a:ln/>
        </p:spPr>
        <p:txBody>
          <a:bodyPr/>
          <a:lstStyle/>
          <a:p>
            <a:endParaRPr lang="en-US"/>
          </a:p>
        </p:txBody>
      </p:sp>
      <p:sp>
        <p:nvSpPr>
          <p:cNvPr id="9" name="Text 7"/>
          <p:cNvSpPr/>
          <p:nvPr/>
        </p:nvSpPr>
        <p:spPr>
          <a:xfrm>
            <a:off x="685800" y="1417320"/>
            <a:ext cx="4754880" cy="868680"/>
          </a:xfrm>
          <a:prstGeom prst="rect">
            <a:avLst/>
          </a:prstGeom>
          <a:noFill/>
          <a:ln/>
        </p:spPr>
        <p:txBody>
          <a:bodyPr wrap="square" lIns="0" tIns="0" rIns="0" bIns="0" rtlCol="0" anchor="t"/>
          <a:lstStyle/>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SELECT region, COUNT(*) AS total_cases</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FROM lesion_info</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GROUP BY region</a:t>
            </a:r>
            <a:endParaRPr lang="en-US" sz="1000" dirty="0"/>
          </a:p>
          <a:p>
            <a:pPr marL="0" indent="0">
              <a:spcAft>
                <a:spcPts val="200"/>
              </a:spcAft>
              <a:buNone/>
            </a:pPr>
            <a:r>
              <a:rPr lang="en-US" sz="1000" dirty="0">
                <a:solidFill>
                  <a:srgbClr val="D4D4D4"/>
                </a:solidFill>
                <a:latin typeface="Consolas" pitchFamily="34" charset="0"/>
                <a:ea typeface="Consolas" pitchFamily="34" charset="-122"/>
                <a:cs typeface="Consolas" pitchFamily="34" charset="-120"/>
              </a:rPr>
              <a:t>ORDER BY total_cases DESC;</a:t>
            </a:r>
            <a:endParaRPr lang="en-US" sz="1000" dirty="0"/>
          </a:p>
        </p:txBody>
      </p:sp>
      <p:sp>
        <p:nvSpPr>
          <p:cNvPr id="10" name="Text 8"/>
          <p:cNvSpPr/>
          <p:nvPr/>
        </p:nvSpPr>
        <p:spPr>
          <a:xfrm>
            <a:off x="548640" y="2606040"/>
            <a:ext cx="457200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ea typeface="Arial Black" pitchFamily="34" charset="-122"/>
                <a:cs typeface="Arial Black" pitchFamily="34" charset="-120"/>
              </a:rPr>
              <a:t>SYSTEMATIC EXPLANATION</a:t>
            </a:r>
            <a:endParaRPr lang="en-US" sz="1200" dirty="0"/>
          </a:p>
        </p:txBody>
      </p:sp>
      <p:sp>
        <p:nvSpPr>
          <p:cNvPr id="11" name="Text 9"/>
          <p:cNvSpPr/>
          <p:nvPr/>
        </p:nvSpPr>
        <p:spPr>
          <a:xfrm>
            <a:off x="548640" y="2926080"/>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SELECT region</a:t>
            </a:r>
            <a:endParaRPr lang="en-US" sz="1000" dirty="0"/>
          </a:p>
        </p:txBody>
      </p:sp>
      <p:sp>
        <p:nvSpPr>
          <p:cNvPr id="12" name="Text 10"/>
          <p:cNvSpPr/>
          <p:nvPr/>
        </p:nvSpPr>
        <p:spPr>
          <a:xfrm>
            <a:off x="548640" y="3127248"/>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Retrieves the body region field from lesion records</a:t>
            </a:r>
            <a:endParaRPr lang="en-US" sz="1000" dirty="0"/>
          </a:p>
        </p:txBody>
      </p:sp>
      <p:sp>
        <p:nvSpPr>
          <p:cNvPr id="13" name="Text 11"/>
          <p:cNvSpPr/>
          <p:nvPr/>
        </p:nvSpPr>
        <p:spPr>
          <a:xfrm>
            <a:off x="548640" y="3328416"/>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COUNT(*) AS total_cases</a:t>
            </a:r>
            <a:endParaRPr lang="en-US" sz="1000" dirty="0"/>
          </a:p>
        </p:txBody>
      </p:sp>
      <p:sp>
        <p:nvSpPr>
          <p:cNvPr id="14" name="Text 12"/>
          <p:cNvSpPr/>
          <p:nvPr/>
        </p:nvSpPr>
        <p:spPr>
          <a:xfrm>
            <a:off x="548640" y="3529584"/>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Counts lesions per region</a:t>
            </a:r>
            <a:endParaRPr lang="en-US" sz="1000" dirty="0"/>
          </a:p>
        </p:txBody>
      </p:sp>
      <p:sp>
        <p:nvSpPr>
          <p:cNvPr id="15" name="Text 13"/>
          <p:cNvSpPr/>
          <p:nvPr/>
        </p:nvSpPr>
        <p:spPr>
          <a:xfrm>
            <a:off x="548640" y="3730752"/>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GROUP BY region</a:t>
            </a:r>
            <a:endParaRPr lang="en-US" sz="1000" dirty="0"/>
          </a:p>
        </p:txBody>
      </p:sp>
      <p:sp>
        <p:nvSpPr>
          <p:cNvPr id="16" name="Text 14"/>
          <p:cNvSpPr/>
          <p:nvPr/>
        </p:nvSpPr>
        <p:spPr>
          <a:xfrm>
            <a:off x="548640" y="3931920"/>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Creates frequency distribution by body area</a:t>
            </a:r>
            <a:endParaRPr lang="en-US" sz="1000" dirty="0"/>
          </a:p>
        </p:txBody>
      </p:sp>
      <p:sp>
        <p:nvSpPr>
          <p:cNvPr id="17" name="Text 15"/>
          <p:cNvSpPr/>
          <p:nvPr/>
        </p:nvSpPr>
        <p:spPr>
          <a:xfrm>
            <a:off x="548640" y="4133088"/>
            <a:ext cx="5029200" cy="2286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ORDER BY total_cases DESC</a:t>
            </a:r>
            <a:endParaRPr lang="en-US" sz="1000" dirty="0"/>
          </a:p>
        </p:txBody>
      </p:sp>
      <p:sp>
        <p:nvSpPr>
          <p:cNvPr id="18" name="Text 16"/>
          <p:cNvSpPr/>
          <p:nvPr/>
        </p:nvSpPr>
        <p:spPr>
          <a:xfrm>
            <a:off x="548640" y="4334256"/>
            <a:ext cx="5029200" cy="201168"/>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Ranks regions from most to least affected</a:t>
            </a:r>
            <a:endParaRPr lang="en-US" sz="1000" dirty="0"/>
          </a:p>
        </p:txBody>
      </p:sp>
      <p:sp>
        <p:nvSpPr>
          <p:cNvPr id="19" name="Shape 17"/>
          <p:cNvSpPr/>
          <p:nvPr/>
        </p:nvSpPr>
        <p:spPr>
          <a:xfrm>
            <a:off x="6217920" y="1200000"/>
            <a:ext cx="2377440" cy="2200000"/>
          </a:xfrm>
          <a:prstGeom prst="rect">
            <a:avLst/>
          </a:prstGeom>
          <a:solidFill>
            <a:srgbClr val="FFF3E6"/>
          </a:solidFill>
          <a:ln/>
        </p:spPr>
        <p:txBody>
          <a:bodyPr/>
          <a:lstStyle/>
          <a:p>
            <a:endParaRPr lang="en-US"/>
          </a:p>
        </p:txBody>
      </p:sp>
      <p:sp>
        <p:nvSpPr>
          <p:cNvPr id="20" name="Text 18"/>
          <p:cNvSpPr/>
          <p:nvPr/>
        </p:nvSpPr>
        <p:spPr>
          <a:xfrm>
            <a:off x="6355080" y="1290000"/>
            <a:ext cx="2103120" cy="500000"/>
          </a:xfrm>
          <a:prstGeom prst="rect">
            <a:avLst/>
          </a:prstGeom>
          <a:noFill/>
          <a:ln/>
        </p:spPr>
        <p:txBody>
          <a:bodyPr wrap="square" lIns="0" tIns="0" rIns="0" bIns="0" rtlCol="0" anchor="t"/>
          <a:lstStyle/>
          <a:p>
            <a:pPr marL="0" indent="0">
              <a:spcAft>
                <a:spcPts val="100"/>
              </a:spcAft>
              <a:buNone/>
            </a:pPr>
            <a:r>
              <a:rPr lang="en-US" sz="900" b="1">
                <a:solidFill>
                  <a:srgbClr val="E8740C"/>
                </a:solidFill>
                <a:latin typeface="Arial Black" pitchFamily="34" charset="0"/>
                <a:ea typeface="Arial Black" pitchFamily="34" charset="-122"/>
                <a:cs typeface="Arial Black" pitchFamily="34" charset="-120"/>
              </a:rPr>
              <a:t>CATEGORY:</a:t>
            </a:r>
            <a:endParaRPr lang="en-US" sz="900"/>
          </a:p>
          <a:p>
            <a:pPr marL="0" indent="0">
              <a:buNone/>
            </a:pPr>
            <a:r>
              <a:rPr lang="en-US" sz="1000">
                <a:solidFill>
                  <a:srgbClr val="1A1A1A"/>
                </a:solidFill>
                <a:latin typeface="Calibri" pitchFamily="34" charset="0"/>
                <a:ea typeface="Calibri" pitchFamily="34" charset="-122"/>
                <a:cs typeface="Calibri" pitchFamily="34" charset="-120"/>
              </a:rPr>
              <a:t>Lesion Characteristics Analysis (Aim 3)</a:t>
            </a:r>
            <a:endParaRPr lang="en-US" sz="1000"/>
          </a:p>
        </p:txBody>
      </p:sp>
      <p:sp>
        <p:nvSpPr>
          <p:cNvPr id="21" name="Text 19"/>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a:solidFill>
                  <a:srgbClr val="1A1A1A"/>
                </a:solidFill>
                <a:latin typeface="Arial Black" pitchFamily="34" charset="0"/>
                <a:ea typeface="Arial Black" pitchFamily="34" charset="-122"/>
                <a:cs typeface="Arial Black" pitchFamily="34" charset="-120"/>
              </a:rPr>
              <a:t>WHY THIS QUERY?</a:t>
            </a:r>
            <a:endParaRPr lang="en-US" sz="1100"/>
          </a:p>
          <a:p>
            <a:pPr marL="0" indent="0">
              <a:lnSpc>
                <a:spcPct val="130000"/>
              </a:lnSpc>
              <a:buNone/>
            </a:pPr>
            <a:r>
              <a:rPr lang="en-US" sz="900">
                <a:solidFill>
                  <a:srgbClr val="333333"/>
                </a:solidFill>
                <a:latin typeface="Calibri" pitchFamily="34" charset="0"/>
                <a:ea typeface="Calibri" pitchFamily="34" charset="-122"/>
                <a:cs typeface="Calibri" pitchFamily="34" charset="-120"/>
              </a:rPr>
              <a:t>This query was used to identify the anatomical regions where skin lesions occur most frequently. Understanding lesion distribution supports clinical assessment and early detection efforts.</a:t>
            </a:r>
            <a:endParaRPr lang="en-US" sz="9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6: RESULTS &amp; INSIGHT</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Most Affected Body Region</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20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graphicFrame>
        <p:nvGraphicFramePr>
          <p:cNvPr id="11" name="Table 11"/>
          <p:cNvGraphicFramePr>
            <a:graphicFrameLocks noGrp="1"/>
          </p:cNvGraphicFramePr>
          <p:nvPr>
            <p:extLst>
              <p:ext uri="{D42A27DB-BD31-4B8C-83A1-F6EECF244321}">
                <p14:modId xmlns:p14="http://schemas.microsoft.com/office/powerpoint/2010/main" val="322452190"/>
              </p:ext>
            </p:extLst>
          </p:nvPr>
        </p:nvGraphicFramePr>
        <p:xfrm>
          <a:off x="548640" y="1330494"/>
          <a:ext cx="4572000" cy="3095205"/>
        </p:xfrm>
        <a:graphic>
          <a:graphicData uri="http://schemas.openxmlformats.org/drawingml/2006/table">
            <a:tbl>
              <a:tblPr firstRow="1" bandRow="1">
                <a:noFil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06347">
                <a:tc>
                  <a:txBody>
                    <a:bodyPr/>
                    <a:lstStyle/>
                    <a:p>
                      <a:pPr algn="ctr">
                        <a:buNone/>
                      </a:pPr>
                      <a:r>
                        <a:rPr lang="en-US" sz="750" b="1" dirty="0">
                          <a:solidFill>
                            <a:srgbClr val="FFFFFF"/>
                          </a:solidFill>
                          <a:latin typeface="Calibri" pitchFamily="34" charset="0"/>
                          <a:cs typeface="Calibri" pitchFamily="34" charset="0"/>
                        </a:rPr>
                        <a:t>Region</a:t>
                      </a:r>
                    </a:p>
                  </a:txBody>
                  <a:tcPr marT="22860" marB="22860"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750" b="1" dirty="0">
                          <a:solidFill>
                            <a:srgbClr val="FFFFFF"/>
                          </a:solidFill>
                          <a:latin typeface="Calibri" pitchFamily="34" charset="0"/>
                          <a:cs typeface="Calibri" pitchFamily="34" charset="0"/>
                        </a:rPr>
                        <a:t>Total Cases</a:t>
                      </a:r>
                    </a:p>
                  </a:txBody>
                  <a:tcPr marT="22860" marB="22860"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extLst>
                  <a:ext uri="{0D108BD9-81ED-4DB2-BD59-A6C34878D82A}">
                    <a16:rowId xmlns:a16="http://schemas.microsoft.com/office/drawing/2014/main" val="10000"/>
                  </a:ext>
                </a:extLst>
              </a:tr>
              <a:tr h="206347">
                <a:tc>
                  <a:txBody>
                    <a:bodyPr/>
                    <a:lstStyle/>
                    <a:p>
                      <a:pPr algn="l">
                        <a:buNone/>
                      </a:pPr>
                      <a:r>
                        <a:rPr lang="en-US" sz="750" dirty="0">
                          <a:solidFill>
                            <a:srgbClr val="1A1A1A"/>
                          </a:solidFill>
                          <a:latin typeface="Calibri" pitchFamily="34" charset="0"/>
                          <a:cs typeface="Calibri" pitchFamily="34" charset="0"/>
                        </a:rPr>
                        <a:t>FACE</a:t>
                      </a:r>
                    </a:p>
                  </a:txBody>
                  <a:tcPr marT="22860" marB="22860"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750" dirty="0">
                          <a:solidFill>
                            <a:srgbClr val="1A1A1A"/>
                          </a:solidFill>
                          <a:latin typeface="Calibri" pitchFamily="34" charset="0"/>
                          <a:cs typeface="Calibri" pitchFamily="34" charset="0"/>
                        </a:rPr>
                        <a:t>278</a:t>
                      </a:r>
                    </a:p>
                  </a:txBody>
                  <a:tcPr marT="22860" marB="22860"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extLst>
                  <a:ext uri="{0D108BD9-81ED-4DB2-BD59-A6C34878D82A}">
                    <a16:rowId xmlns:a16="http://schemas.microsoft.com/office/drawing/2014/main" val="10001"/>
                  </a:ext>
                </a:extLst>
              </a:tr>
              <a:tr h="206347">
                <a:tc>
                  <a:txBody>
                    <a:bodyPr/>
                    <a:lstStyle/>
                    <a:p>
                      <a:pPr algn="l">
                        <a:buNone/>
                      </a:pPr>
                      <a:r>
                        <a:rPr lang="en-US" sz="750" dirty="0">
                          <a:solidFill>
                            <a:srgbClr val="1A1A1A"/>
                          </a:solidFill>
                          <a:latin typeface="Calibri" pitchFamily="34" charset="0"/>
                          <a:cs typeface="Calibri" pitchFamily="34" charset="0"/>
                        </a:rPr>
                        <a:t>FOREARM</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750" dirty="0">
                          <a:solidFill>
                            <a:srgbClr val="1A1A1A"/>
                          </a:solidFill>
                          <a:latin typeface="Calibri" pitchFamily="34" charset="0"/>
                          <a:cs typeface="Calibri" pitchFamily="34" charset="0"/>
                        </a:rPr>
                        <a:t>219</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2"/>
                  </a:ext>
                </a:extLst>
              </a:tr>
              <a:tr h="206347">
                <a:tc>
                  <a:txBody>
                    <a:bodyPr/>
                    <a:lstStyle/>
                    <a:p>
                      <a:pPr algn="l">
                        <a:buNone/>
                      </a:pPr>
                      <a:r>
                        <a:rPr lang="en-US" sz="750" dirty="0">
                          <a:solidFill>
                            <a:srgbClr val="1A1A1A"/>
                          </a:solidFill>
                          <a:latin typeface="Calibri" pitchFamily="34" charset="0"/>
                          <a:cs typeface="Calibri" pitchFamily="34" charset="0"/>
                        </a:rPr>
                        <a:t>CHEST</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750" dirty="0">
                          <a:solidFill>
                            <a:srgbClr val="1A1A1A"/>
                          </a:solidFill>
                          <a:latin typeface="Calibri" pitchFamily="34" charset="0"/>
                          <a:cs typeface="Calibri" pitchFamily="34" charset="0"/>
                        </a:rPr>
                        <a:t>124</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3"/>
                  </a:ext>
                </a:extLst>
              </a:tr>
              <a:tr h="206347">
                <a:tc>
                  <a:txBody>
                    <a:bodyPr/>
                    <a:lstStyle/>
                    <a:p>
                      <a:pPr algn="l">
                        <a:buNone/>
                      </a:pPr>
                      <a:r>
                        <a:rPr lang="en-US" sz="750" dirty="0">
                          <a:solidFill>
                            <a:srgbClr val="1A1A1A"/>
                          </a:solidFill>
                          <a:latin typeface="Calibri" pitchFamily="34" charset="0"/>
                          <a:cs typeface="Calibri" pitchFamily="34" charset="0"/>
                        </a:rPr>
                        <a:t>BACK</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750" dirty="0">
                          <a:solidFill>
                            <a:srgbClr val="1A1A1A"/>
                          </a:solidFill>
                          <a:latin typeface="Calibri" pitchFamily="34" charset="0"/>
                          <a:cs typeface="Calibri" pitchFamily="34" charset="0"/>
                        </a:rPr>
                        <a:t>105</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4"/>
                  </a:ext>
                </a:extLst>
              </a:tr>
              <a:tr h="206347">
                <a:tc>
                  <a:txBody>
                    <a:bodyPr/>
                    <a:lstStyle/>
                    <a:p>
                      <a:pPr algn="l">
                        <a:buNone/>
                      </a:pPr>
                      <a:r>
                        <a:rPr lang="en-US" sz="750" dirty="0">
                          <a:solidFill>
                            <a:srgbClr val="1A1A1A"/>
                          </a:solidFill>
                          <a:latin typeface="Calibri" pitchFamily="34" charset="0"/>
                          <a:cs typeface="Calibri" pitchFamily="34" charset="0"/>
                        </a:rPr>
                        <a:t>ARM</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750" dirty="0">
                          <a:solidFill>
                            <a:srgbClr val="1A1A1A"/>
                          </a:solidFill>
                          <a:latin typeface="Calibri" pitchFamily="34" charset="0"/>
                          <a:cs typeface="Calibri" pitchFamily="34" charset="0"/>
                        </a:rPr>
                        <a:t>92</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5"/>
                  </a:ext>
                </a:extLst>
              </a:tr>
              <a:tr h="206347">
                <a:tc>
                  <a:txBody>
                    <a:bodyPr/>
                    <a:lstStyle/>
                    <a:p>
                      <a:pPr algn="l">
                        <a:buNone/>
                      </a:pPr>
                      <a:r>
                        <a:rPr lang="en-US" sz="750" dirty="0">
                          <a:solidFill>
                            <a:srgbClr val="1A1A1A"/>
                          </a:solidFill>
                          <a:latin typeface="Calibri" pitchFamily="34" charset="0"/>
                          <a:cs typeface="Calibri" pitchFamily="34" charset="0"/>
                        </a:rPr>
                        <a:t>NOSE</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750" dirty="0">
                          <a:solidFill>
                            <a:srgbClr val="1A1A1A"/>
                          </a:solidFill>
                          <a:latin typeface="Calibri" pitchFamily="34" charset="0"/>
                          <a:cs typeface="Calibri" pitchFamily="34" charset="0"/>
                        </a:rPr>
                        <a:t>68</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6"/>
                  </a:ext>
                </a:extLst>
              </a:tr>
              <a:tr h="206347">
                <a:tc>
                  <a:txBody>
                    <a:bodyPr/>
                    <a:lstStyle/>
                    <a:p>
                      <a:pPr algn="l">
                        <a:buNone/>
                      </a:pPr>
                      <a:r>
                        <a:rPr lang="en-US" sz="750" dirty="0">
                          <a:solidFill>
                            <a:srgbClr val="1A1A1A"/>
                          </a:solidFill>
                          <a:latin typeface="Calibri" pitchFamily="34" charset="0"/>
                          <a:cs typeface="Calibri" pitchFamily="34" charset="0"/>
                        </a:rPr>
                        <a:t>HAND</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750" dirty="0">
                          <a:solidFill>
                            <a:srgbClr val="1A1A1A"/>
                          </a:solidFill>
                          <a:latin typeface="Calibri" pitchFamily="34" charset="0"/>
                          <a:cs typeface="Calibri" pitchFamily="34" charset="0"/>
                        </a:rPr>
                        <a:t>55</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7"/>
                  </a:ext>
                </a:extLst>
              </a:tr>
              <a:tr h="206347">
                <a:tc>
                  <a:txBody>
                    <a:bodyPr/>
                    <a:lstStyle/>
                    <a:p>
                      <a:pPr algn="l">
                        <a:buNone/>
                      </a:pPr>
                      <a:r>
                        <a:rPr lang="en-US" sz="750" dirty="0">
                          <a:solidFill>
                            <a:srgbClr val="1A1A1A"/>
                          </a:solidFill>
                          <a:latin typeface="Calibri" pitchFamily="34" charset="0"/>
                          <a:cs typeface="Calibri" pitchFamily="34" charset="0"/>
                        </a:rPr>
                        <a:t>NECK</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750" dirty="0">
                          <a:solidFill>
                            <a:srgbClr val="1A1A1A"/>
                          </a:solidFill>
                          <a:latin typeface="Calibri" pitchFamily="34" charset="0"/>
                          <a:cs typeface="Calibri" pitchFamily="34" charset="0"/>
                        </a:rPr>
                        <a:t>37</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8"/>
                  </a:ext>
                </a:extLst>
              </a:tr>
              <a:tr h="206347">
                <a:tc>
                  <a:txBody>
                    <a:bodyPr/>
                    <a:lstStyle/>
                    <a:p>
                      <a:pPr algn="l">
                        <a:buNone/>
                      </a:pPr>
                      <a:r>
                        <a:rPr lang="en-US" sz="750" dirty="0">
                          <a:solidFill>
                            <a:srgbClr val="1A1A1A"/>
                          </a:solidFill>
                          <a:latin typeface="Calibri" pitchFamily="34" charset="0"/>
                          <a:cs typeface="Calibri" pitchFamily="34" charset="0"/>
                        </a:rPr>
                        <a:t>THIGH</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750" dirty="0">
                          <a:solidFill>
                            <a:srgbClr val="1A1A1A"/>
                          </a:solidFill>
                          <a:latin typeface="Calibri" pitchFamily="34" charset="0"/>
                          <a:cs typeface="Calibri" pitchFamily="34" charset="0"/>
                        </a:rPr>
                        <a:t>35</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9"/>
                  </a:ext>
                </a:extLst>
              </a:tr>
              <a:tr h="206347">
                <a:tc>
                  <a:txBody>
                    <a:bodyPr/>
                    <a:lstStyle/>
                    <a:p>
                      <a:pPr algn="l">
                        <a:buNone/>
                      </a:pPr>
                      <a:r>
                        <a:rPr lang="en-US" sz="750" dirty="0">
                          <a:solidFill>
                            <a:srgbClr val="1A1A1A"/>
                          </a:solidFill>
                          <a:latin typeface="Calibri" pitchFamily="34" charset="0"/>
                          <a:cs typeface="Calibri" pitchFamily="34" charset="0"/>
                        </a:rPr>
                        <a:t>EAR</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750" dirty="0">
                          <a:solidFill>
                            <a:srgbClr val="1A1A1A"/>
                          </a:solidFill>
                          <a:latin typeface="Calibri" pitchFamily="34" charset="0"/>
                          <a:cs typeface="Calibri" pitchFamily="34" charset="0"/>
                        </a:rPr>
                        <a:t>32</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0"/>
                  </a:ext>
                </a:extLst>
              </a:tr>
              <a:tr h="206347">
                <a:tc>
                  <a:txBody>
                    <a:bodyPr/>
                    <a:lstStyle/>
                    <a:p>
                      <a:pPr algn="l">
                        <a:buNone/>
                      </a:pPr>
                      <a:r>
                        <a:rPr lang="en-US" sz="750" dirty="0">
                          <a:solidFill>
                            <a:srgbClr val="1A1A1A"/>
                          </a:solidFill>
                          <a:latin typeface="Calibri" pitchFamily="34" charset="0"/>
                          <a:cs typeface="Calibri" pitchFamily="34" charset="0"/>
                        </a:rPr>
                        <a:t>ABDOMEN</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750" dirty="0">
                          <a:solidFill>
                            <a:srgbClr val="1A1A1A"/>
                          </a:solidFill>
                          <a:latin typeface="Calibri" pitchFamily="34" charset="0"/>
                          <a:cs typeface="Calibri" pitchFamily="34" charset="0"/>
                        </a:rPr>
                        <a:t>20</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11"/>
                  </a:ext>
                </a:extLst>
              </a:tr>
              <a:tr h="206347">
                <a:tc>
                  <a:txBody>
                    <a:bodyPr/>
                    <a:lstStyle/>
                    <a:p>
                      <a:pPr algn="l">
                        <a:buNone/>
                      </a:pPr>
                      <a:r>
                        <a:rPr lang="en-US" sz="750" dirty="0">
                          <a:solidFill>
                            <a:srgbClr val="1A1A1A"/>
                          </a:solidFill>
                          <a:latin typeface="Calibri" pitchFamily="34" charset="0"/>
                          <a:cs typeface="Calibri" pitchFamily="34" charset="0"/>
                        </a:rPr>
                        <a:t>SCALP</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750" dirty="0">
                          <a:solidFill>
                            <a:srgbClr val="1A1A1A"/>
                          </a:solidFill>
                          <a:latin typeface="Calibri" pitchFamily="34" charset="0"/>
                          <a:cs typeface="Calibri" pitchFamily="34" charset="0"/>
                        </a:rPr>
                        <a:t>11</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2"/>
                  </a:ext>
                </a:extLst>
              </a:tr>
              <a:tr h="206347">
                <a:tc>
                  <a:txBody>
                    <a:bodyPr/>
                    <a:lstStyle/>
                    <a:p>
                      <a:pPr algn="l">
                        <a:buNone/>
                      </a:pPr>
                      <a:r>
                        <a:rPr lang="en-US" sz="750" dirty="0">
                          <a:solidFill>
                            <a:srgbClr val="1A1A1A"/>
                          </a:solidFill>
                          <a:latin typeface="Calibri" pitchFamily="34" charset="0"/>
                          <a:cs typeface="Calibri" pitchFamily="34" charset="0"/>
                        </a:rPr>
                        <a:t>LIP</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750" dirty="0">
                          <a:solidFill>
                            <a:srgbClr val="1A1A1A"/>
                          </a:solidFill>
                          <a:latin typeface="Calibri" pitchFamily="34" charset="0"/>
                          <a:cs typeface="Calibri" pitchFamily="34" charset="0"/>
                        </a:rPr>
                        <a:t>7</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13"/>
                  </a:ext>
                </a:extLst>
              </a:tr>
              <a:tr h="206347">
                <a:tc>
                  <a:txBody>
                    <a:bodyPr/>
                    <a:lstStyle/>
                    <a:p>
                      <a:pPr algn="l">
                        <a:buNone/>
                      </a:pPr>
                      <a:r>
                        <a:rPr lang="en-US" sz="750" dirty="0">
                          <a:solidFill>
                            <a:srgbClr val="1A1A1A"/>
                          </a:solidFill>
                          <a:latin typeface="Calibri" pitchFamily="34" charset="0"/>
                          <a:cs typeface="Calibri" pitchFamily="34" charset="0"/>
                        </a:rPr>
                        <a:t>FOOT</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750" dirty="0">
                          <a:solidFill>
                            <a:srgbClr val="1A1A1A"/>
                          </a:solidFill>
                          <a:latin typeface="Calibri" pitchFamily="34" charset="0"/>
                          <a:cs typeface="Calibri" pitchFamily="34" charset="0"/>
                        </a:rPr>
                        <a:t>5</a:t>
                      </a:r>
                    </a:p>
                  </a:txBody>
                  <a:tcPr marT="22860" marB="22860"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14"/>
                  </a:ext>
                </a:extLst>
              </a:tr>
            </a:tbl>
          </a:graphicData>
        </a:graphic>
      </p:graphicFrame>
      <p:sp>
        <p:nvSpPr>
          <p:cNvPr id="12" name="Shape 9"/>
          <p:cNvSpPr/>
          <p:nvPr/>
        </p:nvSpPr>
        <p:spPr>
          <a:xfrm>
            <a:off x="5669280" y="1325880"/>
            <a:ext cx="2926080" cy="1645920"/>
          </a:xfrm>
          <a:prstGeom prst="rect">
            <a:avLst/>
          </a:prstGeom>
          <a:solidFill>
            <a:srgbClr val="FFF3E6"/>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5806440" y="1417320"/>
            <a:ext cx="274320" cy="274320"/>
          </a:xfrm>
          <a:prstGeom prst="rect">
            <a:avLst/>
          </a:prstGeom>
        </p:spPr>
      </p:pic>
      <p:sp>
        <p:nvSpPr>
          <p:cNvPr id="14" name="Text 10"/>
          <p:cNvSpPr/>
          <p:nvPr/>
        </p:nvSpPr>
        <p:spPr>
          <a:xfrm>
            <a:off x="6172200" y="1417320"/>
            <a:ext cx="228600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ea typeface="Arial Black" pitchFamily="34" charset="-122"/>
                <a:cs typeface="Arial Black" pitchFamily="34" charset="-120"/>
              </a:rPr>
              <a:t>KEY FINDING</a:t>
            </a:r>
            <a:endParaRPr lang="en-US" sz="1100" dirty="0"/>
          </a:p>
        </p:txBody>
      </p:sp>
      <p:sp>
        <p:nvSpPr>
          <p:cNvPr id="15" name="Text 11"/>
          <p:cNvSpPr/>
          <p:nvPr/>
        </p:nvSpPr>
        <p:spPr>
          <a:xfrm>
            <a:off x="5806440" y="1783080"/>
            <a:ext cx="2651760" cy="1097280"/>
          </a:xfrm>
          <a:prstGeom prst="rect">
            <a:avLst/>
          </a:prstGeom>
          <a:noFill/>
          <a:ln/>
        </p:spPr>
        <p:txBody>
          <a:bodyPr wrap="square" lIns="0" tIns="0" rIns="0" bIns="0" rtlCol="0" anchor="ctr"/>
          <a:lstStyle/>
          <a:p>
            <a:pPr>
              <a:lnSpc>
                <a:spcPct val="130000"/>
              </a:lnSpc>
            </a:pPr>
            <a:r>
              <a:rPr lang="en-US" sz="1000" dirty="0"/>
              <a:t>The face was the most frequently affected body region with 278 cases, followed by the forearm (219 cases) and chest (124 cases). These regions accounted for the highest number of recorded lesions in the dataset.</a:t>
            </a:r>
          </a:p>
        </p:txBody>
      </p:sp>
      <p:sp>
        <p:nvSpPr>
          <p:cNvPr id="16" name="Shape 12"/>
          <p:cNvSpPr/>
          <p:nvPr/>
        </p:nvSpPr>
        <p:spPr>
          <a:xfrm>
            <a:off x="5669280" y="3154679"/>
            <a:ext cx="2926080" cy="1335677"/>
          </a:xfrm>
          <a:prstGeom prst="rect">
            <a:avLst/>
          </a:prstGeom>
          <a:solidFill>
            <a:srgbClr val="F7F7F7"/>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5806440" y="3246120"/>
            <a:ext cx="274320" cy="274320"/>
          </a:xfrm>
          <a:prstGeom prst="rect">
            <a:avLst/>
          </a:prstGeom>
        </p:spPr>
      </p:pic>
      <p:sp>
        <p:nvSpPr>
          <p:cNvPr id="18" name="Text 13"/>
          <p:cNvSpPr/>
          <p:nvPr/>
        </p:nvSpPr>
        <p:spPr>
          <a:xfrm>
            <a:off x="6172200" y="3246120"/>
            <a:ext cx="228600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RECOMMENDATION</a:t>
            </a:r>
            <a:endParaRPr lang="en-US" sz="1100" dirty="0"/>
          </a:p>
        </p:txBody>
      </p:sp>
      <p:sp>
        <p:nvSpPr>
          <p:cNvPr id="19" name="Text 14"/>
          <p:cNvSpPr/>
          <p:nvPr/>
        </p:nvSpPr>
        <p:spPr>
          <a:xfrm>
            <a:off x="5806440" y="3680454"/>
            <a:ext cx="2651760" cy="640080"/>
          </a:xfrm>
          <a:prstGeom prst="rect">
            <a:avLst/>
          </a:prstGeom>
          <a:noFill/>
          <a:ln/>
        </p:spPr>
        <p:txBody>
          <a:bodyPr wrap="square" lIns="0" tIns="0" rIns="0" bIns="0" rtlCol="0" anchor="ctr"/>
          <a:lstStyle/>
          <a:p>
            <a:pPr>
              <a:lnSpc>
                <a:spcPct val="130000"/>
              </a:lnSpc>
            </a:pPr>
            <a:r>
              <a:rPr lang="en-US" sz="1000" dirty="0"/>
              <a:t>Increase awareness of skin health and encourage regular examination of body regions with higher lesion occurrence, particularly the face, forearm, and chest, to support early detection and timely medical evaluation.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7: AVERAGE LESION SIZE BY DIAGNOSIS</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Which lesion types are largest on average?</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21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200000"/>
            <a:ext cx="5029200" cy="1060000"/>
          </a:xfrm>
          <a:prstGeom prst="rect">
            <a:avLst/>
          </a:prstGeom>
          <a:solidFill>
            <a:srgbClr val="1E1E1E"/>
          </a:solidFill>
          <a:ln/>
        </p:spPr>
        <p:txBody>
          <a:bodyPr/>
          <a:lstStyle/>
          <a:p>
            <a:endParaRPr lang="en-US"/>
          </a:p>
        </p:txBody>
      </p:sp>
      <p:sp>
        <p:nvSpPr>
          <p:cNvPr id="9" name="Text 7"/>
          <p:cNvSpPr/>
          <p:nvPr/>
        </p:nvSpPr>
        <p:spPr>
          <a:xfrm>
            <a:off x="685800" y="1280000"/>
            <a:ext cx="4754880" cy="980000"/>
          </a:xfrm>
          <a:prstGeom prst="rect">
            <a:avLst/>
          </a:prstGeom>
          <a:noFill/>
          <a:ln/>
        </p:spPr>
        <p:txBody>
          <a:bodyPr wrap="square" lIns="0" tIns="0" rIns="0" bIns="0" rtlCol="0" anchor="t"/>
          <a:lstStyle/>
          <a:p>
            <a:pPr>
              <a:spcAft>
                <a:spcPts val="200"/>
              </a:spcAft>
            </a:pPr>
            <a:r>
              <a:rPr lang="en-US" sz="1000" dirty="0">
                <a:solidFill>
                  <a:schemeClr val="bg1">
                    <a:lumMod val="95000"/>
                  </a:schemeClr>
                </a:solidFill>
              </a:rPr>
              <a:t>SELECT diagnostic,</a:t>
            </a:r>
          </a:p>
          <a:p>
            <a:pPr>
              <a:spcAft>
                <a:spcPts val="200"/>
              </a:spcAft>
            </a:pPr>
            <a:r>
              <a:rPr lang="en-US" sz="1000" dirty="0">
                <a:solidFill>
                  <a:schemeClr val="bg1">
                    <a:lumMod val="95000"/>
                  </a:schemeClr>
                </a:solidFill>
              </a:rPr>
              <a:t>       ROUND(AVG((diameter_1 + diameter_2)/2)::numeric, 2 ) AS avg_lesion_size</a:t>
            </a:r>
          </a:p>
          <a:p>
            <a:pPr>
              <a:spcAft>
                <a:spcPts val="200"/>
              </a:spcAft>
            </a:pPr>
            <a:r>
              <a:rPr lang="en-US" sz="1000" dirty="0">
                <a:solidFill>
                  <a:schemeClr val="bg1">
                    <a:lumMod val="95000"/>
                  </a:schemeClr>
                </a:solidFill>
              </a:rPr>
              <a:t>FROM lesion_info</a:t>
            </a:r>
          </a:p>
          <a:p>
            <a:pPr>
              <a:spcAft>
                <a:spcPts val="200"/>
              </a:spcAft>
            </a:pPr>
            <a:r>
              <a:rPr lang="en-US" sz="1000" dirty="0">
                <a:solidFill>
                  <a:schemeClr val="bg1">
                    <a:lumMod val="95000"/>
                  </a:schemeClr>
                </a:solidFill>
              </a:rPr>
              <a:t>GROUP BY diagnostic</a:t>
            </a:r>
          </a:p>
          <a:p>
            <a:pPr>
              <a:spcAft>
                <a:spcPts val="200"/>
              </a:spcAft>
            </a:pPr>
            <a:r>
              <a:rPr lang="en-US" sz="1000" dirty="0">
                <a:solidFill>
                  <a:schemeClr val="bg1">
                    <a:lumMod val="95000"/>
                  </a:schemeClr>
                </a:solidFill>
              </a:rPr>
              <a:t>ORDER BY avg_lesion_size DESC;</a:t>
            </a:r>
          </a:p>
        </p:txBody>
      </p:sp>
      <p:sp>
        <p:nvSpPr>
          <p:cNvPr id="10" name="ExplHead"/>
          <p:cNvSpPr/>
          <p:nvPr/>
        </p:nvSpPr>
        <p:spPr>
          <a:xfrm>
            <a:off x="548640" y="2520000"/>
            <a:ext cx="4572000" cy="274320"/>
          </a:xfrm>
          <a:prstGeom prst="rect">
            <a:avLst/>
          </a:prstGeom>
          <a:noFill/>
          <a:ln/>
        </p:spPr>
        <p:txBody>
          <a:bodyPr wrap="square" lIns="0" tIns="0" rIns="0" bIns="0" rtlCol="0" anchor="ctr"/>
          <a:lstStyle/>
          <a:p>
            <a:pPr marL="0" indent="0">
              <a:buNone/>
            </a:pPr>
            <a:r>
              <a:rPr lang="en-US" sz="1200" b="1">
                <a:solidFill>
                  <a:srgbClr val="1A1A1A"/>
                </a:solidFill>
                <a:latin typeface="Arial Black" pitchFamily="34" charset="0"/>
              </a:rPr>
              <a:t>SYSTEMATIC EXPLANATION</a:t>
            </a:r>
            <a:endParaRPr lang="en-US" sz="1200" dirty="0"/>
          </a:p>
        </p:txBody>
      </p:sp>
      <p:sp>
        <p:nvSpPr>
          <p:cNvPr id="11" name="C1"/>
          <p:cNvSpPr/>
          <p:nvPr/>
        </p:nvSpPr>
        <p:spPr>
          <a:xfrm>
            <a:off x="548640" y="2800000"/>
            <a:ext cx="5029200" cy="175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SELECT diagnostic</a:t>
            </a:r>
          </a:p>
        </p:txBody>
      </p:sp>
      <p:sp>
        <p:nvSpPr>
          <p:cNvPr id="12" name="D1"/>
          <p:cNvSpPr/>
          <p:nvPr/>
        </p:nvSpPr>
        <p:spPr>
          <a:xfrm>
            <a:off x="548640" y="2960000"/>
            <a:ext cx="5029200" cy="155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Retrieves </a:t>
            </a:r>
            <a:r>
              <a:rPr lang="en-US" sz="1000" dirty="0">
                <a:solidFill>
                  <a:srgbClr val="666666"/>
                </a:solidFill>
                <a:latin typeface="Calibri" pitchFamily="34" charset="0"/>
                <a:ea typeface="Calibri" pitchFamily="34" charset="-122"/>
                <a:cs typeface="Calibri" pitchFamily="34" charset="-120"/>
              </a:rPr>
              <a:t>each lesion </a:t>
            </a:r>
            <a:r>
              <a:rPr lang="en-US" sz="1000">
                <a:solidFill>
                  <a:srgbClr val="666666"/>
                </a:solidFill>
                <a:latin typeface="Calibri" pitchFamily="34" charset="0"/>
                <a:ea typeface="Calibri" pitchFamily="34" charset="-122"/>
                <a:cs typeface="Calibri" pitchFamily="34" charset="-120"/>
              </a:rPr>
              <a:t>diagnosis category.</a:t>
            </a:r>
          </a:p>
        </p:txBody>
      </p:sp>
      <p:sp>
        <p:nvSpPr>
          <p:cNvPr id="13" name="C2"/>
          <p:cNvSpPr/>
          <p:nvPr/>
        </p:nvSpPr>
        <p:spPr>
          <a:xfrm>
            <a:off x="548640" y="3120000"/>
            <a:ext cx="5029200" cy="175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(diameter_1 + diameter_2) / 2</a:t>
            </a:r>
          </a:p>
        </p:txBody>
      </p:sp>
      <p:sp>
        <p:nvSpPr>
          <p:cNvPr id="14" name="D2"/>
          <p:cNvSpPr/>
          <p:nvPr/>
        </p:nvSpPr>
        <p:spPr>
          <a:xfrm>
            <a:off x="548640" y="3280000"/>
            <a:ext cx="5029200" cy="155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Calculates the average size of each lesion using its two diameters.</a:t>
            </a:r>
          </a:p>
        </p:txBody>
      </p:sp>
      <p:sp>
        <p:nvSpPr>
          <p:cNvPr id="15" name="C3"/>
          <p:cNvSpPr/>
          <p:nvPr/>
        </p:nvSpPr>
        <p:spPr>
          <a:xfrm>
            <a:off x="548640" y="3440000"/>
            <a:ext cx="5029200" cy="175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AVG(...)</a:t>
            </a:r>
          </a:p>
        </p:txBody>
      </p:sp>
      <p:sp>
        <p:nvSpPr>
          <p:cNvPr id="16" name="D3"/>
          <p:cNvSpPr/>
          <p:nvPr/>
        </p:nvSpPr>
        <p:spPr>
          <a:xfrm>
            <a:off x="548640" y="3600000"/>
            <a:ext cx="5029200" cy="155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Computes the </a:t>
            </a:r>
            <a:r>
              <a:rPr lang="en-US" sz="1000" dirty="0">
                <a:solidFill>
                  <a:srgbClr val="666666"/>
                </a:solidFill>
                <a:latin typeface="Calibri" pitchFamily="34" charset="0"/>
                <a:ea typeface="Calibri" pitchFamily="34" charset="-122"/>
                <a:cs typeface="Calibri" pitchFamily="34" charset="-120"/>
              </a:rPr>
              <a:t>average lesion size </a:t>
            </a:r>
            <a:r>
              <a:rPr lang="en-US" sz="1000">
                <a:solidFill>
                  <a:srgbClr val="666666"/>
                </a:solidFill>
                <a:latin typeface="Calibri" pitchFamily="34" charset="0"/>
                <a:ea typeface="Calibri" pitchFamily="34" charset="-122"/>
                <a:cs typeface="Calibri" pitchFamily="34" charset="-120"/>
              </a:rPr>
              <a:t>for each diagnosis.</a:t>
            </a:r>
          </a:p>
        </p:txBody>
      </p:sp>
      <p:sp>
        <p:nvSpPr>
          <p:cNvPr id="20" name="C4"/>
          <p:cNvSpPr/>
          <p:nvPr/>
        </p:nvSpPr>
        <p:spPr>
          <a:xfrm>
            <a:off x="548640" y="3760000"/>
            <a:ext cx="5029200" cy="175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ROUND(..., 2)</a:t>
            </a:r>
          </a:p>
        </p:txBody>
      </p:sp>
      <p:sp>
        <p:nvSpPr>
          <p:cNvPr id="21" name="D4"/>
          <p:cNvSpPr/>
          <p:nvPr/>
        </p:nvSpPr>
        <p:spPr>
          <a:xfrm>
            <a:off x="548640" y="3920000"/>
            <a:ext cx="5029200" cy="155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Rounds the result to two decimal places.</a:t>
            </a:r>
          </a:p>
        </p:txBody>
      </p:sp>
      <p:sp>
        <p:nvSpPr>
          <p:cNvPr id="22" name="C5"/>
          <p:cNvSpPr/>
          <p:nvPr/>
        </p:nvSpPr>
        <p:spPr>
          <a:xfrm>
            <a:off x="548640" y="4080000"/>
            <a:ext cx="5029200" cy="175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GROUP BY diagnostic</a:t>
            </a:r>
          </a:p>
        </p:txBody>
      </p:sp>
      <p:sp>
        <p:nvSpPr>
          <p:cNvPr id="23" name="D5"/>
          <p:cNvSpPr/>
          <p:nvPr/>
        </p:nvSpPr>
        <p:spPr>
          <a:xfrm>
            <a:off x="548640" y="4240000"/>
            <a:ext cx="5029200" cy="155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Groups lesions by diagnosis type.</a:t>
            </a:r>
          </a:p>
        </p:txBody>
      </p:sp>
      <p:sp>
        <p:nvSpPr>
          <p:cNvPr id="24" name="C6"/>
          <p:cNvSpPr/>
          <p:nvPr/>
        </p:nvSpPr>
        <p:spPr>
          <a:xfrm>
            <a:off x="548640" y="4400000"/>
            <a:ext cx="5029200" cy="175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ORDER BY avg_lesion_size DESC</a:t>
            </a:r>
          </a:p>
        </p:txBody>
      </p:sp>
      <p:sp>
        <p:nvSpPr>
          <p:cNvPr id="25" name="D6"/>
          <p:cNvSpPr/>
          <p:nvPr/>
        </p:nvSpPr>
        <p:spPr>
          <a:xfrm>
            <a:off x="548640" y="4560000"/>
            <a:ext cx="5029200" cy="155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Ranks diagnoses from largest to smallest average lesion size.</a:t>
            </a:r>
          </a:p>
        </p:txBody>
      </p:sp>
      <p:sp>
        <p:nvSpPr>
          <p:cNvPr id="17" name="CalloutBg"/>
          <p:cNvSpPr/>
          <p:nvPr/>
        </p:nvSpPr>
        <p:spPr>
          <a:xfrm>
            <a:off x="6217920" y="1200000"/>
            <a:ext cx="2377440" cy="2200000"/>
          </a:xfrm>
          <a:prstGeom prst="rect">
            <a:avLst/>
          </a:prstGeom>
          <a:solidFill>
            <a:srgbClr val="FFF3E6"/>
          </a:solidFill>
          <a:ln/>
        </p:spPr>
        <p:txBody>
          <a:bodyPr/>
          <a:lstStyle/>
          <a:p>
            <a:endParaRPr lang="en-US"/>
          </a:p>
        </p:txBody>
      </p:sp>
      <p:sp>
        <p:nvSpPr>
          <p:cNvPr id="18" name="CalloutTitle"/>
          <p:cNvSpPr/>
          <p:nvPr/>
        </p:nvSpPr>
        <p:spPr>
          <a:xfrm>
            <a:off x="6355080" y="1290000"/>
            <a:ext cx="2103120" cy="500000"/>
          </a:xfrm>
          <a:prstGeom prst="rect">
            <a:avLst/>
          </a:prstGeom>
          <a:noFill/>
          <a:ln/>
        </p:spPr>
        <p:txBody>
          <a:bodyPr wrap="square" lIns="0" tIns="0" rIns="0" bIns="0" rtlCol="0" anchor="t"/>
          <a:lstStyle/>
          <a:p>
            <a:pPr marL="0" indent="0">
              <a:spcAft>
                <a:spcPts val="100"/>
              </a:spcAft>
              <a:buNone/>
            </a:pPr>
            <a:r>
              <a:rPr lang="en-US" sz="900" b="1">
                <a:solidFill>
                  <a:srgbClr val="E8740C"/>
                </a:solidFill>
                <a:latin typeface="Arial Black" pitchFamily="34" charset="0"/>
                <a:ea typeface="Arial Black" pitchFamily="34" charset="-122"/>
                <a:cs typeface="Arial Black" pitchFamily="34" charset="-120"/>
              </a:rPr>
              <a:t>CATEGORY:</a:t>
            </a:r>
            <a:endParaRPr lang="en-US" sz="900"/>
          </a:p>
          <a:p>
            <a:pPr marL="0" indent="0">
              <a:buNone/>
            </a:pPr>
            <a:r>
              <a:rPr lang="en-US" sz="1000">
                <a:solidFill>
                  <a:srgbClr val="1A1A1A"/>
                </a:solidFill>
                <a:latin typeface="Calibri" pitchFamily="34" charset="0"/>
                <a:ea typeface="Calibri" pitchFamily="34" charset="-122"/>
                <a:cs typeface="Calibri" pitchFamily="34" charset="-120"/>
              </a:rPr>
              <a:t>Lesion Characteristics Analysis (Aim 3)</a:t>
            </a:r>
            <a:endParaRPr lang="en-US" sz="1000"/>
          </a:p>
        </p:txBody>
      </p:sp>
      <p:sp>
        <p:nvSpPr>
          <p:cNvPr id="19" name="CalloutText"/>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a:solidFill>
                  <a:srgbClr val="1A1A1A"/>
                </a:solidFill>
                <a:latin typeface="Arial Black" pitchFamily="34" charset="0"/>
                <a:ea typeface="Arial Black" pitchFamily="34" charset="-122"/>
                <a:cs typeface="Arial Black" pitchFamily="34" charset="-120"/>
              </a:rPr>
              <a:t>WHY THIS QUERY?</a:t>
            </a:r>
            <a:endParaRPr lang="en-US" sz="1100"/>
          </a:p>
          <a:p>
            <a:pPr marL="0" indent="0">
              <a:lnSpc>
                <a:spcPct val="130000"/>
              </a:lnSpc>
              <a:buNone/>
            </a:pPr>
            <a:r>
              <a:rPr lang="en-US" sz="900">
                <a:solidFill>
                  <a:srgbClr val="333333"/>
                </a:solidFill>
                <a:latin typeface="Calibri" pitchFamily="34" charset="0"/>
                <a:ea typeface="Calibri" pitchFamily="34" charset="-122"/>
                <a:cs typeface="Calibri" pitchFamily="34" charset="-120"/>
              </a:rPr>
              <a:t>This query was used to compare lesion sizes across diagnoses and identify lesion types that tend to present with larger dimensions.</a:t>
            </a:r>
            <a:endParaRPr lang="en-US" sz="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7: RESULTS &amp; INSIGHT</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Average Lesion Size by Diagnosis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22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graphicFrame>
        <p:nvGraphicFramePr>
          <p:cNvPr id="11" name="Table 11"/>
          <p:cNvGraphicFramePr>
            <a:graphicFrameLocks noGrp="1"/>
          </p:cNvGraphicFramePr>
          <p:nvPr>
            <p:extLst>
              <p:ext uri="{D42A27DB-BD31-4B8C-83A1-F6EECF244321}">
                <p14:modId xmlns:p14="http://schemas.microsoft.com/office/powerpoint/2010/main" val="5867673"/>
              </p:ext>
            </p:extLst>
          </p:nvPr>
        </p:nvGraphicFramePr>
        <p:xfrm>
          <a:off x="758365" y="1325880"/>
          <a:ext cx="4572000" cy="3017518"/>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tblGrid>
              <a:tr h="431074">
                <a:tc>
                  <a:txBody>
                    <a:bodyPr/>
                    <a:lstStyle/>
                    <a:p>
                      <a:pPr algn="ctr">
                        <a:buNone/>
                      </a:pPr>
                      <a:r>
                        <a:rPr lang="en-US" sz="1000" b="1" dirty="0">
                          <a:solidFill>
                            <a:srgbClr val="FFFFFF"/>
                          </a:solidFill>
                          <a:latin typeface="Calibri" pitchFamily="34" charset="0"/>
                          <a:cs typeface="Calibri" pitchFamily="34" charset="0"/>
                        </a:rPr>
                        <a:t>Diagnostic</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1000" b="1" dirty="0">
                          <a:solidFill>
                            <a:srgbClr val="FFFFFF"/>
                          </a:solidFill>
                          <a:latin typeface="Calibri" pitchFamily="34" charset="0"/>
                          <a:cs typeface="Calibri" pitchFamily="34" charset="0"/>
                        </a:rPr>
                        <a:t>Average Lesion Size</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extLst>
                  <a:ext uri="{0D108BD9-81ED-4DB2-BD59-A6C34878D82A}">
                    <a16:rowId xmlns:a16="http://schemas.microsoft.com/office/drawing/2014/main" val="10000"/>
                  </a:ext>
                </a:extLst>
              </a:tr>
              <a:tr h="431074">
                <a:tc>
                  <a:txBody>
                    <a:bodyPr/>
                    <a:lstStyle/>
                    <a:p>
                      <a:pPr algn="l">
                        <a:buNone/>
                      </a:pPr>
                      <a:r>
                        <a:rPr lang="en-US" sz="1000" dirty="0">
                          <a:solidFill>
                            <a:srgbClr val="1A1A1A"/>
                          </a:solidFill>
                          <a:latin typeface="Calibri" pitchFamily="34" charset="0"/>
                          <a:cs typeface="Calibri" pitchFamily="34" charset="0"/>
                        </a:rPr>
                        <a:t>MEL</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14.09</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extLst>
                  <a:ext uri="{0D108BD9-81ED-4DB2-BD59-A6C34878D82A}">
                    <a16:rowId xmlns:a16="http://schemas.microsoft.com/office/drawing/2014/main" val="10001"/>
                  </a:ext>
                </a:extLst>
              </a:tr>
              <a:tr h="431074">
                <a:tc>
                  <a:txBody>
                    <a:bodyPr/>
                    <a:lstStyle/>
                    <a:p>
                      <a:pPr algn="l">
                        <a:buNone/>
                      </a:pPr>
                      <a:r>
                        <a:rPr lang="en-US" sz="1000" dirty="0">
                          <a:solidFill>
                            <a:srgbClr val="1A1A1A"/>
                          </a:solidFill>
                          <a:latin typeface="Calibri" pitchFamily="34" charset="0"/>
                          <a:cs typeface="Calibri" pitchFamily="34" charset="0"/>
                        </a:rPr>
                        <a:t>SCC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10.46</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2"/>
                  </a:ext>
                </a:extLst>
              </a:tr>
              <a:tr h="431074">
                <a:tc>
                  <a:txBody>
                    <a:bodyPr/>
                    <a:lstStyle/>
                    <a:p>
                      <a:pPr algn="l">
                        <a:buNone/>
                      </a:pPr>
                      <a:r>
                        <a:rPr lang="en-US" sz="1000" dirty="0">
                          <a:solidFill>
                            <a:srgbClr val="1A1A1A"/>
                          </a:solidFill>
                          <a:latin typeface="Calibri" pitchFamily="34" charset="0"/>
                          <a:cs typeface="Calibri" pitchFamily="34" charset="0"/>
                        </a:rPr>
                        <a:t>BCC</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9.97</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3"/>
                  </a:ext>
                </a:extLst>
              </a:tr>
              <a:tr h="431074">
                <a:tc>
                  <a:txBody>
                    <a:bodyPr/>
                    <a:lstStyle/>
                    <a:p>
                      <a:pPr algn="l">
                        <a:buNone/>
                      </a:pPr>
                      <a:r>
                        <a:rPr lang="en-US" sz="1000" dirty="0">
                          <a:solidFill>
                            <a:srgbClr val="1A1A1A"/>
                          </a:solidFill>
                          <a:latin typeface="Calibri" pitchFamily="34" charset="0"/>
                          <a:cs typeface="Calibri" pitchFamily="34" charset="0"/>
                        </a:rPr>
                        <a:t>ACK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2.62</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4"/>
                  </a:ext>
                </a:extLst>
              </a:tr>
              <a:tr h="431074">
                <a:tc>
                  <a:txBody>
                    <a:bodyPr/>
                    <a:lstStyle/>
                    <a:p>
                      <a:pPr algn="l">
                        <a:buNone/>
                      </a:pPr>
                      <a:r>
                        <a:rPr lang="en-US" sz="1000" dirty="0">
                          <a:solidFill>
                            <a:srgbClr val="1A1A1A"/>
                          </a:solidFill>
                          <a:latin typeface="Calibri" pitchFamily="34" charset="0"/>
                          <a:cs typeface="Calibri" pitchFamily="34" charset="0"/>
                        </a:rPr>
                        <a:t>SEK</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0.80</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7F7F7"/>
                    </a:solidFill>
                  </a:tcPr>
                </a:tc>
                <a:extLst>
                  <a:ext uri="{0D108BD9-81ED-4DB2-BD59-A6C34878D82A}">
                    <a16:rowId xmlns:a16="http://schemas.microsoft.com/office/drawing/2014/main" val="10005"/>
                  </a:ext>
                </a:extLst>
              </a:tr>
              <a:tr h="431074">
                <a:tc>
                  <a:txBody>
                    <a:bodyPr/>
                    <a:lstStyle/>
                    <a:p>
                      <a:pPr algn="l">
                        <a:buNone/>
                      </a:pPr>
                      <a:r>
                        <a:rPr lang="en-US" sz="1000" dirty="0">
                          <a:solidFill>
                            <a:srgbClr val="1A1A1A"/>
                          </a:solidFill>
                          <a:latin typeface="Calibri" pitchFamily="34" charset="0"/>
                          <a:cs typeface="Calibri" pitchFamily="34" charset="0"/>
                        </a:rPr>
                        <a:t>NEV</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0.67</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6"/>
                  </a:ext>
                </a:extLst>
              </a:tr>
            </a:tbl>
          </a:graphicData>
        </a:graphic>
      </p:graphicFrame>
      <p:sp>
        <p:nvSpPr>
          <p:cNvPr id="12" name="Shape 9"/>
          <p:cNvSpPr/>
          <p:nvPr/>
        </p:nvSpPr>
        <p:spPr>
          <a:xfrm>
            <a:off x="5669280" y="1325880"/>
            <a:ext cx="2926080" cy="1645920"/>
          </a:xfrm>
          <a:prstGeom prst="rect">
            <a:avLst/>
          </a:prstGeom>
          <a:solidFill>
            <a:srgbClr val="FFF3E6"/>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5806440" y="1417320"/>
            <a:ext cx="274320" cy="274320"/>
          </a:xfrm>
          <a:prstGeom prst="rect">
            <a:avLst/>
          </a:prstGeom>
        </p:spPr>
      </p:pic>
      <p:sp>
        <p:nvSpPr>
          <p:cNvPr id="14" name="Text 10"/>
          <p:cNvSpPr/>
          <p:nvPr/>
        </p:nvSpPr>
        <p:spPr>
          <a:xfrm>
            <a:off x="6172200" y="1417320"/>
            <a:ext cx="228600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ea typeface="Arial Black" pitchFamily="34" charset="-122"/>
                <a:cs typeface="Arial Black" pitchFamily="34" charset="-120"/>
              </a:rPr>
              <a:t>KEY FINDING</a:t>
            </a:r>
            <a:endParaRPr lang="en-US" sz="1100" dirty="0"/>
          </a:p>
        </p:txBody>
      </p:sp>
      <p:sp>
        <p:nvSpPr>
          <p:cNvPr id="15" name="Text 11"/>
          <p:cNvSpPr/>
          <p:nvPr/>
        </p:nvSpPr>
        <p:spPr>
          <a:xfrm>
            <a:off x="5806440" y="1783080"/>
            <a:ext cx="2651760" cy="1097280"/>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MEL (Melanoma) has the largest average size</a:t>
            </a:r>
            <a:r>
              <a:rPr lang="en-US" sz="1000">
                <a:solidFill>
                  <a:srgbClr val="333333"/>
                </a:solidFill>
                <a:latin typeface="Calibri" pitchFamily="34" charset="0"/>
                <a:ea typeface="Calibri" pitchFamily="34" charset="-122"/>
                <a:cs typeface="Calibri" pitchFamily="34" charset="-120"/>
              </a:rPr>
              <a:t> (14.09mm),</a:t>
            </a:r>
            <a:r>
              <a:rPr lang="en-US" sz="1000" dirty="0">
                <a:solidFill>
                  <a:srgbClr val="333333"/>
                </a:solidFill>
                <a:latin typeface="Calibri" pitchFamily="34" charset="0"/>
                <a:ea typeface="Calibri" pitchFamily="34" charset="-122"/>
                <a:cs typeface="Calibri" pitchFamily="34" charset="-120"/>
              </a:rPr>
              <a:t> which is clinically significant as larger melanomas often indicate later-stage diagnosis and poorer prognosis.</a:t>
            </a:r>
            <a:endParaRPr lang="en-US" sz="1000" dirty="0"/>
          </a:p>
        </p:txBody>
      </p:sp>
      <p:sp>
        <p:nvSpPr>
          <p:cNvPr id="16" name="Shape 12"/>
          <p:cNvSpPr/>
          <p:nvPr/>
        </p:nvSpPr>
        <p:spPr>
          <a:xfrm>
            <a:off x="5669280" y="3154680"/>
            <a:ext cx="2926080" cy="1188720"/>
          </a:xfrm>
          <a:prstGeom prst="rect">
            <a:avLst/>
          </a:prstGeom>
          <a:solidFill>
            <a:srgbClr val="F7F7F7"/>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5806440" y="3246120"/>
            <a:ext cx="274320" cy="274320"/>
          </a:xfrm>
          <a:prstGeom prst="rect">
            <a:avLst/>
          </a:prstGeom>
        </p:spPr>
      </p:pic>
      <p:sp>
        <p:nvSpPr>
          <p:cNvPr id="18" name="Text 13"/>
          <p:cNvSpPr/>
          <p:nvPr/>
        </p:nvSpPr>
        <p:spPr>
          <a:xfrm>
            <a:off x="6172200" y="3246120"/>
            <a:ext cx="228600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RECOMMENDATION</a:t>
            </a:r>
            <a:endParaRPr lang="en-US" sz="1100" dirty="0"/>
          </a:p>
        </p:txBody>
      </p:sp>
      <p:sp>
        <p:nvSpPr>
          <p:cNvPr id="19" name="Text 14"/>
          <p:cNvSpPr/>
          <p:nvPr/>
        </p:nvSpPr>
        <p:spPr>
          <a:xfrm>
            <a:off x="5806440" y="3566160"/>
            <a:ext cx="2651760" cy="640080"/>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Focus early detection efforts on melanoma. Smaller size at diagnosis correlates with better survival outcomes.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8: BIOPSY CONFIRMATION</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How many lesions were confirmed via biopsy?</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23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200000"/>
            <a:ext cx="5029200" cy="945096"/>
          </a:xfrm>
          <a:prstGeom prst="rect">
            <a:avLst/>
          </a:prstGeom>
          <a:solidFill>
            <a:srgbClr val="1E1E1E"/>
          </a:solidFill>
          <a:ln/>
        </p:spPr>
        <p:txBody>
          <a:bodyPr/>
          <a:lstStyle/>
          <a:p>
            <a:endParaRPr lang="en-US"/>
          </a:p>
        </p:txBody>
      </p:sp>
      <p:sp>
        <p:nvSpPr>
          <p:cNvPr id="9" name="Text 7"/>
          <p:cNvSpPr/>
          <p:nvPr/>
        </p:nvSpPr>
        <p:spPr>
          <a:xfrm>
            <a:off x="685800" y="1280000"/>
            <a:ext cx="4754880" cy="980000"/>
          </a:xfrm>
          <a:prstGeom prst="rect">
            <a:avLst/>
          </a:prstGeom>
          <a:noFill/>
          <a:ln/>
        </p:spPr>
        <p:txBody>
          <a:bodyPr wrap="square" lIns="0" tIns="0" rIns="0" bIns="0" rtlCol="0" anchor="t"/>
          <a:lstStyle/>
          <a:p>
            <a:pPr>
              <a:spcAft>
                <a:spcPts val="200"/>
              </a:spcAft>
            </a:pPr>
            <a:r>
              <a:rPr lang="en-US" sz="1000" dirty="0">
                <a:solidFill>
                  <a:srgbClr val="D4D4D4"/>
                </a:solidFill>
                <a:latin typeface="Consolas" pitchFamily="34" charset="0"/>
                <a:ea typeface="Consolas" pitchFamily="34" charset="-122"/>
                <a:cs typeface="Consolas" pitchFamily="34" charset="-120"/>
              </a:rPr>
              <a:t>SELECT </a:t>
            </a:r>
            <a:r>
              <a:rPr lang="en-US" sz="1000" dirty="0" err="1">
                <a:solidFill>
                  <a:srgbClr val="D4D4D4"/>
                </a:solidFill>
                <a:latin typeface="Consolas" pitchFamily="34" charset="0"/>
                <a:ea typeface="Consolas" pitchFamily="34" charset="-122"/>
                <a:cs typeface="Consolas" pitchFamily="34" charset="-120"/>
              </a:rPr>
              <a:t>biopsed</a:t>
            </a:r>
            <a:r>
              <a:rPr lang="en-US" sz="1000" dirty="0">
                <a:solidFill>
                  <a:srgbClr val="D4D4D4"/>
                </a:solidFill>
                <a:latin typeface="Consolas" pitchFamily="34" charset="0"/>
                <a:ea typeface="Consolas" pitchFamily="34" charset="-122"/>
                <a:cs typeface="Consolas" pitchFamily="34" charset="-120"/>
              </a:rPr>
              <a:t>,</a:t>
            </a:r>
          </a:p>
          <a:p>
            <a:pPr>
              <a:spcAft>
                <a:spcPts val="200"/>
              </a:spcAft>
            </a:pPr>
            <a:r>
              <a:rPr lang="en-US" sz="1000" dirty="0">
                <a:solidFill>
                  <a:srgbClr val="D4D4D4"/>
                </a:solidFill>
                <a:latin typeface="Consolas" pitchFamily="34" charset="0"/>
                <a:ea typeface="Consolas" pitchFamily="34" charset="-122"/>
                <a:cs typeface="Consolas" pitchFamily="34" charset="-120"/>
              </a:rPr>
              <a:t>       COUNT(*) AS total_cases</a:t>
            </a:r>
          </a:p>
          <a:p>
            <a:pPr>
              <a:spcAft>
                <a:spcPts val="200"/>
              </a:spcAft>
            </a:pPr>
            <a:r>
              <a:rPr lang="en-US" sz="1000" dirty="0">
                <a:solidFill>
                  <a:srgbClr val="D4D4D4"/>
                </a:solidFill>
                <a:latin typeface="Consolas" pitchFamily="34" charset="0"/>
                <a:ea typeface="Consolas" pitchFamily="34" charset="-122"/>
                <a:cs typeface="Consolas" pitchFamily="34" charset="-120"/>
              </a:rPr>
              <a:t>FROM lesion_info</a:t>
            </a:r>
          </a:p>
          <a:p>
            <a:pPr>
              <a:spcAft>
                <a:spcPts val="200"/>
              </a:spcAft>
            </a:pPr>
            <a:r>
              <a:rPr lang="en-US" sz="1000" dirty="0">
                <a:solidFill>
                  <a:srgbClr val="D4D4D4"/>
                </a:solidFill>
                <a:latin typeface="Consolas" pitchFamily="34" charset="0"/>
                <a:ea typeface="Consolas" pitchFamily="34" charset="-122"/>
                <a:cs typeface="Consolas" pitchFamily="34" charset="-120"/>
              </a:rPr>
              <a:t>GROUP BY </a:t>
            </a:r>
            <a:r>
              <a:rPr lang="en-US" sz="1000" dirty="0" err="1">
                <a:solidFill>
                  <a:srgbClr val="D4D4D4"/>
                </a:solidFill>
                <a:latin typeface="Consolas" pitchFamily="34" charset="0"/>
                <a:ea typeface="Consolas" pitchFamily="34" charset="-122"/>
                <a:cs typeface="Consolas" pitchFamily="34" charset="-120"/>
              </a:rPr>
              <a:t>biopsed</a:t>
            </a:r>
            <a:r>
              <a:rPr lang="en-US" sz="1000" dirty="0">
                <a:solidFill>
                  <a:srgbClr val="D4D4D4"/>
                </a:solidFill>
                <a:latin typeface="Consolas" pitchFamily="34" charset="0"/>
                <a:ea typeface="Consolas" pitchFamily="34" charset="-122"/>
                <a:cs typeface="Consolas" pitchFamily="34" charset="-120"/>
              </a:rPr>
              <a:t>;</a:t>
            </a:r>
          </a:p>
        </p:txBody>
      </p:sp>
      <p:sp>
        <p:nvSpPr>
          <p:cNvPr id="10" name="Text 8"/>
          <p:cNvSpPr/>
          <p:nvPr/>
        </p:nvSpPr>
        <p:spPr>
          <a:xfrm>
            <a:off x="548640" y="2520000"/>
            <a:ext cx="4572000" cy="274320"/>
          </a:xfrm>
          <a:prstGeom prst="rect">
            <a:avLst/>
          </a:prstGeom>
          <a:noFill/>
          <a:ln/>
        </p:spPr>
        <p:txBody>
          <a:bodyPr wrap="square" lIns="0" tIns="0" rIns="0" bIns="0" rtlCol="0" anchor="ctr"/>
          <a:lstStyle/>
          <a:p>
            <a:pPr marL="0" indent="0">
              <a:buNone/>
            </a:pPr>
            <a:r>
              <a:rPr lang="en-US" sz="1200" b="1" dirty="0">
                <a:solidFill>
                  <a:srgbClr val="1A1A1A"/>
                </a:solidFill>
                <a:latin typeface="Arial Black" pitchFamily="34" charset="0"/>
                <a:ea typeface="Arial Black" pitchFamily="34" charset="-122"/>
                <a:cs typeface="Arial Black" pitchFamily="34" charset="-120"/>
              </a:rPr>
              <a:t>SYSTEMATIC EXPLANATION</a:t>
            </a:r>
            <a:endParaRPr lang="en-US" sz="1200" dirty="0"/>
          </a:p>
        </p:txBody>
      </p:sp>
      <p:sp>
        <p:nvSpPr>
          <p:cNvPr id="11" name="C1"/>
          <p:cNvSpPr/>
          <p:nvPr/>
        </p:nvSpPr>
        <p:spPr>
          <a:xfrm>
            <a:off x="548640" y="2840000"/>
            <a:ext cx="5029200" cy="2000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SELECT </a:t>
            </a:r>
            <a:r>
              <a:rPr lang="en-US" sz="1000" b="1">
                <a:solidFill>
                  <a:srgbClr val="E8740C"/>
                </a:solidFill>
                <a:latin typeface="Consolas" pitchFamily="34" charset="0"/>
                <a:ea typeface="Consolas" pitchFamily="34" charset="-122"/>
                <a:cs typeface="Consolas" pitchFamily="34" charset="-120"/>
              </a:rPr>
              <a:t>biopsed</a:t>
            </a:r>
          </a:p>
        </p:txBody>
      </p:sp>
      <p:sp>
        <p:nvSpPr>
          <p:cNvPr id="12" name="D1"/>
          <p:cNvSpPr/>
          <p:nvPr/>
        </p:nvSpPr>
        <p:spPr>
          <a:xfrm>
            <a:off x="548640" y="3020000"/>
            <a:ext cx="5029200" cy="18000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Retrieves </a:t>
            </a:r>
            <a:r>
              <a:rPr lang="en-US" sz="1000">
                <a:solidFill>
                  <a:srgbClr val="666666"/>
                </a:solidFill>
                <a:latin typeface="Calibri" pitchFamily="34" charset="0"/>
                <a:ea typeface="Calibri" pitchFamily="34" charset="-122"/>
                <a:cs typeface="Calibri" pitchFamily="34" charset="-120"/>
              </a:rPr>
              <a:t>the </a:t>
            </a:r>
            <a:r>
              <a:rPr lang="en-US" sz="1000" dirty="0">
                <a:solidFill>
                  <a:srgbClr val="666666"/>
                </a:solidFill>
                <a:latin typeface="Calibri" pitchFamily="34" charset="0"/>
                <a:ea typeface="Calibri" pitchFamily="34" charset="-122"/>
                <a:cs typeface="Calibri" pitchFamily="34" charset="-120"/>
              </a:rPr>
              <a:t>biopsy status </a:t>
            </a:r>
            <a:r>
              <a:rPr lang="en-US" sz="1000">
                <a:solidFill>
                  <a:srgbClr val="666666"/>
                </a:solidFill>
                <a:latin typeface="Calibri" pitchFamily="34" charset="0"/>
                <a:ea typeface="Calibri" pitchFamily="34" charset="-122"/>
                <a:cs typeface="Calibri" pitchFamily="34" charset="-120"/>
              </a:rPr>
              <a:t>of each lesion.</a:t>
            </a:r>
          </a:p>
        </p:txBody>
      </p:sp>
      <p:sp>
        <p:nvSpPr>
          <p:cNvPr id="13" name="C2"/>
          <p:cNvSpPr/>
          <p:nvPr/>
        </p:nvSpPr>
        <p:spPr>
          <a:xfrm>
            <a:off x="548640" y="3230000"/>
            <a:ext cx="5029200" cy="2000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COUNT(*)</a:t>
            </a:r>
            <a:r>
              <a:rPr lang="en-US" sz="1000" b="1">
                <a:solidFill>
                  <a:srgbClr val="E8740C"/>
                </a:solidFill>
                <a:latin typeface="Consolas" pitchFamily="34" charset="0"/>
                <a:ea typeface="Consolas" pitchFamily="34" charset="-122"/>
                <a:cs typeface="Consolas" pitchFamily="34" charset="-120"/>
              </a:rPr>
              <a:t> AS total_cases</a:t>
            </a:r>
          </a:p>
        </p:txBody>
      </p:sp>
      <p:sp>
        <p:nvSpPr>
          <p:cNvPr id="14" name="D2"/>
          <p:cNvSpPr/>
          <p:nvPr/>
        </p:nvSpPr>
        <p:spPr>
          <a:xfrm>
            <a:off x="548640" y="3410000"/>
            <a:ext cx="5029200" cy="18000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Counts </a:t>
            </a:r>
            <a:r>
              <a:rPr lang="en-US" sz="1000">
                <a:solidFill>
                  <a:srgbClr val="666666"/>
                </a:solidFill>
                <a:latin typeface="Calibri" pitchFamily="34" charset="0"/>
                <a:ea typeface="Calibri" pitchFamily="34" charset="-122"/>
                <a:cs typeface="Calibri" pitchFamily="34" charset="-120"/>
              </a:rPr>
              <a:t>the number of </a:t>
            </a:r>
            <a:r>
              <a:rPr lang="en-US" sz="1000" dirty="0">
                <a:solidFill>
                  <a:srgbClr val="666666"/>
                </a:solidFill>
                <a:latin typeface="Calibri" pitchFamily="34" charset="0"/>
                <a:ea typeface="Calibri" pitchFamily="34" charset="-122"/>
                <a:cs typeface="Calibri" pitchFamily="34" charset="-120"/>
              </a:rPr>
              <a:t>lesions in each biopsy group</a:t>
            </a:r>
            <a:r>
              <a:rPr lang="en-US" sz="1000">
                <a:solidFill>
                  <a:srgbClr val="666666"/>
                </a:solidFill>
                <a:latin typeface="Calibri" pitchFamily="34" charset="0"/>
                <a:ea typeface="Calibri" pitchFamily="34" charset="-122"/>
                <a:cs typeface="Calibri" pitchFamily="34" charset="-120"/>
              </a:rPr>
              <a:t>.</a:t>
            </a:r>
          </a:p>
        </p:txBody>
      </p:sp>
      <p:sp>
        <p:nvSpPr>
          <p:cNvPr id="15" name="C3"/>
          <p:cNvSpPr/>
          <p:nvPr/>
        </p:nvSpPr>
        <p:spPr>
          <a:xfrm>
            <a:off x="548640" y="3620000"/>
            <a:ext cx="5029200" cy="200000"/>
          </a:xfrm>
          <a:prstGeom prst="rect">
            <a:avLst/>
          </a:prstGeom>
          <a:noFill/>
          <a:ln/>
        </p:spPr>
        <p:txBody>
          <a:bodyPr wrap="square" lIns="0" tIns="0" rIns="0" bIns="0" rtlCol="0" anchor="ctr"/>
          <a:lstStyle/>
          <a:p>
            <a:pPr marL="0" indent="0">
              <a:buNone/>
            </a:pPr>
            <a:r>
              <a:rPr lang="en-US" sz="1000" b="1" dirty="0">
                <a:solidFill>
                  <a:srgbClr val="E8740C"/>
                </a:solidFill>
                <a:latin typeface="Consolas" pitchFamily="34" charset="0"/>
                <a:ea typeface="Consolas" pitchFamily="34" charset="-122"/>
                <a:cs typeface="Consolas" pitchFamily="34" charset="-120"/>
              </a:rPr>
              <a:t>GROUP BY </a:t>
            </a:r>
            <a:r>
              <a:rPr lang="en-US" sz="1000" b="1">
                <a:solidFill>
                  <a:srgbClr val="E8740C"/>
                </a:solidFill>
                <a:latin typeface="Consolas" pitchFamily="34" charset="0"/>
                <a:ea typeface="Consolas" pitchFamily="34" charset="-122"/>
                <a:cs typeface="Consolas" pitchFamily="34" charset="-120"/>
              </a:rPr>
              <a:t>biopsed</a:t>
            </a:r>
          </a:p>
        </p:txBody>
      </p:sp>
      <p:sp>
        <p:nvSpPr>
          <p:cNvPr id="16" name="D3"/>
          <p:cNvSpPr/>
          <p:nvPr/>
        </p:nvSpPr>
        <p:spPr>
          <a:xfrm>
            <a:off x="548640" y="380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Groups lesions based on whether a biopsy was performed</a:t>
            </a:r>
            <a:r>
              <a:rPr lang="en-US" sz="1000" dirty="0">
                <a:solidFill>
                  <a:srgbClr val="666666"/>
                </a:solidFill>
                <a:latin typeface="Calibri" pitchFamily="34" charset="0"/>
                <a:ea typeface="Calibri" pitchFamily="34" charset="-122"/>
                <a:cs typeface="Calibri" pitchFamily="34" charset="-120"/>
              </a:rPr>
              <a:t>.</a:t>
            </a:r>
            <a:endParaRPr lang="en-US" sz="1000">
              <a:solidFill>
                <a:srgbClr val="666666"/>
              </a:solidFill>
              <a:latin typeface="Calibri" pitchFamily="34" charset="0"/>
              <a:ea typeface="Calibri" pitchFamily="34" charset="-122"/>
              <a:cs typeface="Calibri" pitchFamily="34" charset="-120"/>
            </a:endParaRPr>
          </a:p>
        </p:txBody>
      </p:sp>
      <p:sp>
        <p:nvSpPr>
          <p:cNvPr id="17" name="CalloutBg"/>
          <p:cNvSpPr/>
          <p:nvPr/>
        </p:nvSpPr>
        <p:spPr>
          <a:xfrm>
            <a:off x="6217920" y="1200000"/>
            <a:ext cx="2377440" cy="2200000"/>
          </a:xfrm>
          <a:prstGeom prst="rect">
            <a:avLst/>
          </a:prstGeom>
          <a:solidFill>
            <a:srgbClr val="FFF3E6"/>
          </a:solidFill>
          <a:ln/>
        </p:spPr>
        <p:txBody>
          <a:bodyPr/>
          <a:lstStyle/>
          <a:p>
            <a:endParaRPr lang="en-US"/>
          </a:p>
        </p:txBody>
      </p:sp>
      <p:sp>
        <p:nvSpPr>
          <p:cNvPr id="18" name="CalloutTitle"/>
          <p:cNvSpPr/>
          <p:nvPr/>
        </p:nvSpPr>
        <p:spPr>
          <a:xfrm>
            <a:off x="6355080" y="1290000"/>
            <a:ext cx="2103120" cy="500000"/>
          </a:xfrm>
          <a:prstGeom prst="rect">
            <a:avLst/>
          </a:prstGeom>
          <a:noFill/>
          <a:ln/>
        </p:spPr>
        <p:txBody>
          <a:bodyPr wrap="square" lIns="0" tIns="0" rIns="0" bIns="0" rtlCol="0" anchor="t"/>
          <a:lstStyle/>
          <a:p>
            <a:pPr marL="0" indent="0">
              <a:spcAft>
                <a:spcPts val="100"/>
              </a:spcAft>
              <a:buNone/>
            </a:pPr>
            <a:r>
              <a:rPr lang="en-US" sz="900" b="1">
                <a:solidFill>
                  <a:srgbClr val="E8740C"/>
                </a:solidFill>
                <a:latin typeface="Arial Black" pitchFamily="34" charset="0"/>
                <a:ea typeface="Arial Black" pitchFamily="34" charset="-122"/>
                <a:cs typeface="Arial Black" pitchFamily="34" charset="-120"/>
              </a:rPr>
              <a:t>CATEGORY:</a:t>
            </a:r>
            <a:endParaRPr lang="en-US" sz="900"/>
          </a:p>
          <a:p>
            <a:pPr marL="0" indent="0">
              <a:buNone/>
            </a:pPr>
            <a:r>
              <a:rPr lang="en-US" sz="1000">
                <a:solidFill>
                  <a:srgbClr val="1A1A1A"/>
                </a:solidFill>
                <a:latin typeface="Calibri" pitchFamily="34" charset="0"/>
                <a:ea typeface="Calibri" pitchFamily="34" charset="-122"/>
                <a:cs typeface="Calibri" pitchFamily="34" charset="-120"/>
              </a:rPr>
              <a:t>Clinical Validation Analysis (Aim 3)</a:t>
            </a:r>
            <a:endParaRPr lang="en-US" sz="1000"/>
          </a:p>
        </p:txBody>
      </p:sp>
      <p:sp>
        <p:nvSpPr>
          <p:cNvPr id="19" name="CalloutText"/>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a:solidFill>
                  <a:srgbClr val="1A1A1A"/>
                </a:solidFill>
                <a:latin typeface="Arial Black" pitchFamily="34" charset="0"/>
                <a:ea typeface="Arial Black" pitchFamily="34" charset="-122"/>
                <a:cs typeface="Arial Black" pitchFamily="34" charset="-120"/>
              </a:rPr>
              <a:t>WHY THIS QUERY?</a:t>
            </a:r>
            <a:endParaRPr lang="en-US" sz="1100"/>
          </a:p>
          <a:p>
            <a:pPr marL="0" indent="0">
              <a:lnSpc>
                <a:spcPct val="130000"/>
              </a:lnSpc>
              <a:buNone/>
            </a:pPr>
            <a:r>
              <a:rPr lang="en-US" sz="900">
                <a:solidFill>
                  <a:srgbClr val="333333"/>
                </a:solidFill>
                <a:latin typeface="Calibri" pitchFamily="34" charset="0"/>
                <a:ea typeface="Calibri" pitchFamily="34" charset="-122"/>
                <a:cs typeface="Calibri" pitchFamily="34" charset="-120"/>
              </a:rPr>
              <a:t>This query was used to evaluate the extent of biopsy confirmation within the dataset and assess the level of clinical verification of lesion diagnoses.</a:t>
            </a:r>
            <a:endParaRPr 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QUERY 8: RESULTS &amp; INSIGHT</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Biopsy Confirmation</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24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325880"/>
            <a:ext cx="2286000" cy="1097280"/>
          </a:xfrm>
          <a:prstGeom prst="rect">
            <a:avLst/>
          </a:prstGeom>
          <a:solidFill>
            <a:srgbClr val="F7F7F7"/>
          </a:solidFill>
          <a:ln/>
        </p:spPr>
        <p:txBody>
          <a:bodyPr/>
          <a:lstStyle/>
          <a:p>
            <a:endParaRPr lang="en-US"/>
          </a:p>
        </p:txBody>
      </p:sp>
      <p:sp>
        <p:nvSpPr>
          <p:cNvPr id="9" name="Text 7"/>
          <p:cNvSpPr/>
          <p:nvPr/>
        </p:nvSpPr>
        <p:spPr>
          <a:xfrm>
            <a:off x="548640" y="1417320"/>
            <a:ext cx="2286000" cy="603504"/>
          </a:xfrm>
          <a:prstGeom prst="rect">
            <a:avLst/>
          </a:prstGeom>
          <a:noFill/>
          <a:ln/>
        </p:spPr>
        <p:txBody>
          <a:bodyPr wrap="square" lIns="0" tIns="0" rIns="0" bIns="0" rtlCol="0" anchor="b"/>
          <a:lstStyle/>
          <a:p>
            <a:pPr marL="0" indent="0" algn="ctr">
              <a:buNone/>
            </a:pPr>
            <a:r>
              <a:rPr lang="en-US" sz="2800" b="1" dirty="0">
                <a:solidFill>
                  <a:srgbClr val="E8740C"/>
                </a:solidFill>
                <a:latin typeface="Arial Black" pitchFamily="34" charset="0"/>
                <a:ea typeface="Arial Black" pitchFamily="34" charset="-122"/>
                <a:cs typeface="Arial Black" pitchFamily="34" charset="-120"/>
              </a:rPr>
              <a:t>458</a:t>
            </a:r>
            <a:endParaRPr lang="en-US" sz="2800" dirty="0"/>
          </a:p>
        </p:txBody>
      </p:sp>
      <p:sp>
        <p:nvSpPr>
          <p:cNvPr id="10" name="Text 8"/>
          <p:cNvSpPr/>
          <p:nvPr/>
        </p:nvSpPr>
        <p:spPr>
          <a:xfrm>
            <a:off x="640080" y="1984248"/>
            <a:ext cx="2103120" cy="384048"/>
          </a:xfrm>
          <a:prstGeom prst="rect">
            <a:avLst/>
          </a:prstGeom>
          <a:noFill/>
          <a:ln/>
        </p:spPr>
        <p:txBody>
          <a:bodyPr wrap="square" lIns="0" tIns="0" rIns="0" bIns="0" rtlCol="0" anchor="t"/>
          <a:lstStyle/>
          <a:p>
            <a:pPr marL="0" indent="0" algn="ctr">
              <a:buNone/>
            </a:pPr>
            <a:r>
              <a:rPr lang="en-US" sz="900" dirty="0">
                <a:solidFill>
                  <a:srgbClr val="333333"/>
                </a:solidFill>
                <a:latin typeface="Calibri" pitchFamily="34" charset="0"/>
                <a:ea typeface="Calibri" pitchFamily="34" charset="-122"/>
                <a:cs typeface="Calibri" pitchFamily="34" charset="-120"/>
              </a:rPr>
              <a:t>Biopsies Confirmed</a:t>
            </a:r>
            <a:endParaRPr lang="en-US" sz="900" dirty="0"/>
          </a:p>
        </p:txBody>
      </p:sp>
      <p:graphicFrame>
        <p:nvGraphicFramePr>
          <p:cNvPr id="11" name="Table 11"/>
          <p:cNvGraphicFramePr>
            <a:graphicFrameLocks noGrp="1"/>
          </p:cNvGraphicFramePr>
          <p:nvPr>
            <p:extLst>
              <p:ext uri="{D42A27DB-BD31-4B8C-83A1-F6EECF244321}">
                <p14:modId xmlns:p14="http://schemas.microsoft.com/office/powerpoint/2010/main" val="1828476957"/>
              </p:ext>
            </p:extLst>
          </p:nvPr>
        </p:nvGraphicFramePr>
        <p:xfrm>
          <a:off x="548640" y="2651760"/>
          <a:ext cx="4114800" cy="960120"/>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tblGrid>
              <a:tr h="320040">
                <a:tc>
                  <a:txBody>
                    <a:bodyPr/>
                    <a:lstStyle/>
                    <a:p>
                      <a:pPr algn="ctr">
                        <a:buNone/>
                      </a:pPr>
                      <a:r>
                        <a:rPr lang="en-US" sz="1000" b="1" dirty="0">
                          <a:solidFill>
                            <a:srgbClr val="FFFFFF"/>
                          </a:solidFill>
                          <a:latin typeface="Calibri" pitchFamily="34" charset="0"/>
                          <a:cs typeface="Calibri" pitchFamily="34" charset="0"/>
                        </a:rPr>
                        <a:t>Biopsied</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tc>
                  <a:txBody>
                    <a:bodyPr/>
                    <a:lstStyle/>
                    <a:p>
                      <a:pPr algn="ctr">
                        <a:buNone/>
                      </a:pPr>
                      <a:r>
                        <a:rPr lang="en-US" sz="1000" b="1" dirty="0">
                          <a:solidFill>
                            <a:srgbClr val="FFFFFF"/>
                          </a:solidFill>
                          <a:latin typeface="Calibri" pitchFamily="34" charset="0"/>
                          <a:cs typeface="Calibri" pitchFamily="34" charset="0"/>
                        </a:rPr>
                        <a:t>Total Cases</a:t>
                      </a:r>
                    </a:p>
                  </a:txBody>
                  <a:tcPr anchor="ctr">
                    <a:lnL w="12700">
                      <a:solidFill>
                        <a:srgbClr val="E8740C"/>
                      </a:solidFill>
                    </a:lnL>
                    <a:lnR w="12700">
                      <a:solidFill>
                        <a:srgbClr val="E8740C"/>
                      </a:solidFill>
                    </a:lnR>
                    <a:lnT w="12700">
                      <a:solidFill>
                        <a:srgbClr val="E8740C"/>
                      </a:solidFill>
                    </a:lnT>
                    <a:lnB w="12700">
                      <a:solidFill>
                        <a:srgbClr val="E8740C"/>
                      </a:solidFill>
                    </a:lnB>
                    <a:solidFill>
                      <a:srgbClr val="E8740C"/>
                    </a:solidFill>
                  </a:tcPr>
                </a:tc>
                <a:extLst>
                  <a:ext uri="{0D108BD9-81ED-4DB2-BD59-A6C34878D82A}">
                    <a16:rowId xmlns:a16="http://schemas.microsoft.com/office/drawing/2014/main" val="10000"/>
                  </a:ext>
                </a:extLst>
              </a:tr>
              <a:tr h="320040">
                <a:tc>
                  <a:txBody>
                    <a:bodyPr/>
                    <a:lstStyle/>
                    <a:p>
                      <a:pPr algn="l">
                        <a:buNone/>
                      </a:pPr>
                      <a:r>
                        <a:rPr lang="en-US" sz="1000" dirty="0">
                          <a:solidFill>
                            <a:srgbClr val="1A1A1A"/>
                          </a:solidFill>
                          <a:latin typeface="Calibri" pitchFamily="34" charset="0"/>
                          <a:cs typeface="Calibri" pitchFamily="34" charset="0"/>
                        </a:rPr>
                        <a:t>False</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tc>
                  <a:txBody>
                    <a:bodyPr/>
                    <a:lstStyle/>
                    <a:p>
                      <a:pPr algn="ctr">
                        <a:buNone/>
                      </a:pPr>
                      <a:r>
                        <a:rPr lang="en-US" sz="1000" dirty="0">
                          <a:solidFill>
                            <a:srgbClr val="1A1A1A"/>
                          </a:solidFill>
                          <a:latin typeface="Calibri" pitchFamily="34" charset="0"/>
                          <a:cs typeface="Calibri" pitchFamily="34" charset="0"/>
                        </a:rPr>
                        <a:t>630</a:t>
                      </a:r>
                    </a:p>
                  </a:txBody>
                  <a:tcPr anchor="ctr">
                    <a:lnL w="6350">
                      <a:solidFill>
                        <a:srgbClr val="E0E0E0"/>
                      </a:solidFill>
                    </a:lnL>
                    <a:lnR w="6350">
                      <a:solidFill>
                        <a:srgbClr val="E0E0E0"/>
                      </a:solidFill>
                    </a:lnR>
                    <a:lnT w="12700" cap="flat" cmpd="sng" algn="ctr">
                      <a:solidFill>
                        <a:srgbClr val="E8740C"/>
                      </a:solidFill>
                      <a:prstDash val="solid"/>
                      <a:round/>
                      <a:headEnd type="none" w="med" len="med"/>
                      <a:tailEnd type="none" w="med" len="med"/>
                    </a:lnT>
                    <a:lnB w="6350">
                      <a:solidFill>
                        <a:srgbClr val="E0E0E0"/>
                      </a:solidFill>
                    </a:lnB>
                    <a:solidFill>
                      <a:srgbClr val="F7F7F7"/>
                    </a:solidFill>
                  </a:tcPr>
                </a:tc>
                <a:extLst>
                  <a:ext uri="{0D108BD9-81ED-4DB2-BD59-A6C34878D82A}">
                    <a16:rowId xmlns:a16="http://schemas.microsoft.com/office/drawing/2014/main" val="10001"/>
                  </a:ext>
                </a:extLst>
              </a:tr>
              <a:tr h="320040">
                <a:tc>
                  <a:txBody>
                    <a:bodyPr/>
                    <a:lstStyle/>
                    <a:p>
                      <a:pPr algn="l">
                        <a:buNone/>
                      </a:pPr>
                      <a:r>
                        <a:rPr lang="en-US" sz="1000" dirty="0">
                          <a:solidFill>
                            <a:srgbClr val="1A1A1A"/>
                          </a:solidFill>
                          <a:latin typeface="Calibri" pitchFamily="34" charset="0"/>
                          <a:cs typeface="Calibri" pitchFamily="34" charset="0"/>
                        </a:rPr>
                        <a:t>True</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tc>
                  <a:txBody>
                    <a:bodyPr/>
                    <a:lstStyle/>
                    <a:p>
                      <a:pPr algn="ctr">
                        <a:buNone/>
                      </a:pPr>
                      <a:r>
                        <a:rPr lang="en-US" sz="1000" dirty="0">
                          <a:solidFill>
                            <a:srgbClr val="1A1A1A"/>
                          </a:solidFill>
                          <a:latin typeface="Calibri" pitchFamily="34" charset="0"/>
                          <a:cs typeface="Calibri" pitchFamily="34" charset="0"/>
                        </a:rPr>
                        <a:t>458</a:t>
                      </a:r>
                    </a:p>
                  </a:txBody>
                  <a:tcPr anchor="ctr">
                    <a:lnL w="6350">
                      <a:solidFill>
                        <a:srgbClr val="E0E0E0"/>
                      </a:solidFill>
                    </a:lnL>
                    <a:lnR w="6350">
                      <a:solidFill>
                        <a:srgbClr val="E0E0E0"/>
                      </a:solidFill>
                    </a:lnR>
                    <a:lnT w="6350">
                      <a:solidFill>
                        <a:srgbClr val="E0E0E0"/>
                      </a:solidFill>
                    </a:lnT>
                    <a:lnB w="6350">
                      <a:solidFill>
                        <a:srgbClr val="E0E0E0"/>
                      </a:solidFill>
                    </a:lnB>
                    <a:solidFill>
                      <a:srgbClr val="FFFFFF"/>
                    </a:solidFill>
                  </a:tcPr>
                </a:tc>
                <a:extLst>
                  <a:ext uri="{0D108BD9-81ED-4DB2-BD59-A6C34878D82A}">
                    <a16:rowId xmlns:a16="http://schemas.microsoft.com/office/drawing/2014/main" val="10002"/>
                  </a:ext>
                </a:extLst>
              </a:tr>
            </a:tbl>
          </a:graphicData>
        </a:graphic>
      </p:graphicFrame>
      <p:sp>
        <p:nvSpPr>
          <p:cNvPr id="12" name="Shape 9"/>
          <p:cNvSpPr/>
          <p:nvPr/>
        </p:nvSpPr>
        <p:spPr>
          <a:xfrm>
            <a:off x="5669280" y="1325880"/>
            <a:ext cx="2926080" cy="1645920"/>
          </a:xfrm>
          <a:prstGeom prst="rect">
            <a:avLst/>
          </a:prstGeom>
          <a:solidFill>
            <a:srgbClr val="FFF3E6"/>
          </a:solidFill>
          <a:ln/>
        </p:spPr>
        <p:txBody>
          <a:bodyPr/>
          <a:lstStyle/>
          <a:p>
            <a:endParaRPr lang="en-US" dirty="0"/>
          </a:p>
        </p:txBody>
      </p:sp>
      <p:pic>
        <p:nvPicPr>
          <p:cNvPr id="13" name="Image 0" descr="preencoded.png"/>
          <p:cNvPicPr>
            <a:picLocks noChangeAspect="1"/>
          </p:cNvPicPr>
          <p:nvPr/>
        </p:nvPicPr>
        <p:blipFill>
          <a:blip r:embed="rId3"/>
          <a:stretch>
            <a:fillRect/>
          </a:stretch>
        </p:blipFill>
        <p:spPr>
          <a:xfrm>
            <a:off x="5806440" y="1417320"/>
            <a:ext cx="274320" cy="274320"/>
          </a:xfrm>
          <a:prstGeom prst="rect">
            <a:avLst/>
          </a:prstGeom>
        </p:spPr>
      </p:pic>
      <p:sp>
        <p:nvSpPr>
          <p:cNvPr id="14" name="Text 10"/>
          <p:cNvSpPr/>
          <p:nvPr/>
        </p:nvSpPr>
        <p:spPr>
          <a:xfrm>
            <a:off x="6172200" y="1417320"/>
            <a:ext cx="2286000" cy="274320"/>
          </a:xfrm>
          <a:prstGeom prst="rect">
            <a:avLst/>
          </a:prstGeom>
          <a:noFill/>
          <a:ln/>
        </p:spPr>
        <p:txBody>
          <a:bodyPr wrap="square" lIns="0" tIns="0" rIns="0" bIns="0" rtlCol="0" anchor="ctr"/>
          <a:lstStyle/>
          <a:p>
            <a:pPr marL="0" indent="0">
              <a:buNone/>
            </a:pPr>
            <a:r>
              <a:rPr lang="en-US" sz="1100" b="1" dirty="0">
                <a:solidFill>
                  <a:srgbClr val="C45F00"/>
                </a:solidFill>
                <a:latin typeface="Arial Black" pitchFamily="34" charset="0"/>
              </a:rPr>
              <a:t>KEY FINDING</a:t>
            </a:r>
            <a:endParaRPr lang="en-US" sz="1100" dirty="0"/>
          </a:p>
        </p:txBody>
      </p:sp>
      <p:sp>
        <p:nvSpPr>
          <p:cNvPr id="15" name="Text 11"/>
          <p:cNvSpPr/>
          <p:nvPr/>
        </p:nvSpPr>
        <p:spPr>
          <a:xfrm>
            <a:off x="5806440" y="1851660"/>
            <a:ext cx="2651760" cy="1097280"/>
          </a:xfrm>
          <a:prstGeom prst="rect">
            <a:avLst/>
          </a:prstGeom>
          <a:noFill/>
          <a:ln/>
        </p:spPr>
        <p:txBody>
          <a:bodyPr wrap="square" lIns="0" tIns="0" rIns="0" bIns="0" rtlCol="0" anchor="ctr"/>
          <a:lstStyle/>
          <a:p>
            <a:pPr>
              <a:lnSpc>
                <a:spcPct val="130000"/>
              </a:lnSpc>
            </a:pPr>
            <a:r>
              <a:rPr lang="en-US" sz="1000" dirty="0"/>
              <a:t>Analysis of biopsy status revealed that 458 lesions (42.1%) were biopsy-confirmed, while 630 lesions (57.9%) were diagnosed without biopsy confirmation. This indicates that a substantial proportion of lesions were evaluated using other methods</a:t>
            </a:r>
          </a:p>
          <a:p>
            <a:pPr marL="0" indent="0">
              <a:lnSpc>
                <a:spcPct val="130000"/>
              </a:lnSpc>
              <a:buNone/>
            </a:pPr>
            <a:endParaRPr lang="en-US" sz="1000" dirty="0"/>
          </a:p>
        </p:txBody>
      </p:sp>
      <p:sp>
        <p:nvSpPr>
          <p:cNvPr id="16" name="Shape 12"/>
          <p:cNvSpPr/>
          <p:nvPr/>
        </p:nvSpPr>
        <p:spPr>
          <a:xfrm>
            <a:off x="5669280" y="3154680"/>
            <a:ext cx="2926080" cy="1188720"/>
          </a:xfrm>
          <a:prstGeom prst="rect">
            <a:avLst/>
          </a:prstGeom>
          <a:solidFill>
            <a:srgbClr val="F7F7F7"/>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5806440" y="3246120"/>
            <a:ext cx="274320" cy="274320"/>
          </a:xfrm>
          <a:prstGeom prst="rect">
            <a:avLst/>
          </a:prstGeom>
        </p:spPr>
      </p:pic>
      <p:sp>
        <p:nvSpPr>
          <p:cNvPr id="18" name="Text 13"/>
          <p:cNvSpPr/>
          <p:nvPr/>
        </p:nvSpPr>
        <p:spPr>
          <a:xfrm>
            <a:off x="6172200" y="3246120"/>
            <a:ext cx="2286000" cy="27432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RECOMMENDATION</a:t>
            </a:r>
            <a:endParaRPr lang="en-US" sz="1100" dirty="0"/>
          </a:p>
        </p:txBody>
      </p:sp>
      <p:sp>
        <p:nvSpPr>
          <p:cNvPr id="19" name="Text 14"/>
          <p:cNvSpPr/>
          <p:nvPr/>
        </p:nvSpPr>
        <p:spPr>
          <a:xfrm>
            <a:off x="5806440" y="3566160"/>
            <a:ext cx="2651760" cy="640080"/>
          </a:xfrm>
          <a:prstGeom prst="rect">
            <a:avLst/>
          </a:prstGeom>
          <a:noFill/>
          <a:ln/>
        </p:spPr>
        <p:txBody>
          <a:bodyPr wrap="square" lIns="0" tIns="0" rIns="0" bIns="0" rtlCol="0" anchor="ctr"/>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Investigate why </a:t>
            </a:r>
            <a:r>
              <a:rPr lang="en-US" sz="1000">
                <a:solidFill>
                  <a:srgbClr val="333333"/>
                </a:solidFill>
                <a:latin typeface="Calibri" pitchFamily="34" charset="0"/>
                <a:ea typeface="Calibri" pitchFamily="34" charset="-122"/>
                <a:cs typeface="Calibri" pitchFamily="34" charset="-120"/>
              </a:rPr>
              <a:t>~58</a:t>
            </a:r>
            <a:r>
              <a:rPr lang="en-US" sz="1000" dirty="0">
                <a:solidFill>
                  <a:srgbClr val="333333"/>
                </a:solidFill>
                <a:latin typeface="Calibri" pitchFamily="34" charset="0"/>
                <a:ea typeface="Calibri" pitchFamily="34" charset="-122"/>
                <a:cs typeface="Calibri" pitchFamily="34" charset="-120"/>
              </a:rPr>
              <a:t>% of lesions lack biopsy confirmation. Implement follow-up protocols to close this</a:t>
            </a:r>
            <a:r>
              <a:rPr lang="en-US" sz="1000">
                <a:solidFill>
                  <a:srgbClr val="333333"/>
                </a:solidFill>
                <a:latin typeface="Calibri" pitchFamily="34" charset="0"/>
                <a:ea typeface="Calibri" pitchFamily="34" charset="-122"/>
                <a:cs typeface="Calibri" pitchFamily="34" charset="-120"/>
              </a:rPr>
              <a:t> significant</a:t>
            </a:r>
            <a:r>
              <a:rPr lang="en-US" sz="1000" dirty="0">
                <a:solidFill>
                  <a:srgbClr val="333333"/>
                </a:solidFill>
                <a:latin typeface="Calibri" pitchFamily="34" charset="0"/>
                <a:ea typeface="Calibri" pitchFamily="34" charset="-122"/>
                <a:cs typeface="Calibri" pitchFamily="34" charset="-120"/>
              </a:rPr>
              <a:t> diagnostic gap.</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rPr>
              <a:t>SUMMARY OF KEY FINDINGS</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Summary of All Analysis Results</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25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2581078472"/>
              </p:ext>
            </p:extLst>
          </p:nvPr>
        </p:nvGraphicFramePr>
        <p:xfrm>
          <a:off x="548640" y="1280160"/>
          <a:ext cx="8046720" cy="3099816"/>
        </p:xfrm>
        <a:graphic>
          <a:graphicData uri="http://schemas.openxmlformats.org/drawingml/2006/table">
            <a:tbl>
              <a:tblPr/>
              <a:tblGrid>
                <a:gridCol w="4023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320040">
                <a:tc>
                  <a:txBody>
                    <a:bodyPr/>
                    <a:lstStyle/>
                    <a:p>
                      <a:pPr marL="0" indent="0">
                        <a:buNone/>
                      </a:pPr>
                      <a:r>
                        <a:rPr lang="en-US" sz="1100" b="1" dirty="0">
                          <a:solidFill>
                            <a:srgbClr val="FFFFFF"/>
                          </a:solidFill>
                          <a:latin typeface="Arial Black" pitchFamily="34" charset="0"/>
                          <a:ea typeface="Arial Black" charset="0"/>
                          <a:cs typeface="Arial Black" charset="0"/>
                        </a:rPr>
                        <a:t>Analysis Area</a:t>
                      </a:r>
                      <a:endParaRPr lang="en-US" sz="1100" dirty="0">
                        <a:latin typeface="Arial Black" charset="0"/>
                        <a:ea typeface="Arial Black" charset="0"/>
                        <a:cs typeface="Arial Black"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tc>
                  <a:txBody>
                    <a:bodyPr/>
                    <a:lstStyle/>
                    <a:p>
                      <a:pPr marL="0" indent="0">
                        <a:buNone/>
                      </a:pPr>
                      <a:r>
                        <a:rPr lang="en-US" sz="1100" b="1" dirty="0">
                          <a:solidFill>
                            <a:srgbClr val="FFFFFF"/>
                          </a:solidFill>
                          <a:latin typeface="Arial Black" pitchFamily="34" charset="0"/>
                          <a:ea typeface="Arial Black" pitchFamily="34" charset="-122"/>
                          <a:cs typeface="Arial Black" pitchFamily="34" charset="-120"/>
                        </a:rPr>
                        <a:t>Result</a:t>
                      </a:r>
                      <a:endParaRPr lang="en-US" sz="1100" dirty="0">
                        <a:latin typeface="Arial Black" charset="0"/>
                        <a:ea typeface="Arial Black" charset="0"/>
                        <a:cs typeface="Arial Black"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Most Common Lesion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b="1" dirty="0">
                          <a:solidFill>
                            <a:srgbClr val="E8740C"/>
                          </a:solidFill>
                          <a:latin typeface="Calibri" pitchFamily="34" charset="0"/>
                          <a:ea typeface="Calibri" pitchFamily="34" charset="-122"/>
                          <a:cs typeface="Calibri" pitchFamily="34" charset="-120"/>
                        </a:rPr>
                        <a:t>ACK (461 cases)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Gender Pattern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100" b="1" dirty="0">
                          <a:solidFill>
                            <a:srgbClr val="E8740C"/>
                          </a:solidFill>
                          <a:latin typeface="Calibri" pitchFamily="34" charset="0"/>
                          <a:ea typeface="Calibri" pitchFamily="34" charset="-122"/>
                          <a:cs typeface="Calibri" pitchFamily="34" charset="-120"/>
                        </a:rPr>
                        <a:t>Males more affected</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Highest Average Age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b="1">
                          <a:solidFill>
                            <a:srgbClr val="E8740C"/>
                          </a:solidFill>
                          <a:latin typeface="Calibri" pitchFamily="34" charset="0"/>
                          <a:ea typeface="Calibri" pitchFamily="34" charset="-122"/>
                          <a:cs typeface="Calibri" pitchFamily="34" charset="-120"/>
                        </a:rPr>
                        <a:t>SCC (68.5 years)</a:t>
                      </a:r>
                      <a:endParaRPr lang="en-US" sz="110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Smoking Impact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100" b="1" dirty="0">
                          <a:solidFill>
                            <a:srgbClr val="E8740C"/>
                          </a:solidFill>
                          <a:latin typeface="Calibri" pitchFamily="34" charset="0"/>
                          <a:ea typeface="Calibri" pitchFamily="34" charset="-122"/>
                          <a:cs typeface="Calibri" pitchFamily="34" charset="-120"/>
                        </a:rPr>
                        <a:t>Proportional elevation in smokers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Pesticide Impact</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b="1" dirty="0">
                          <a:solidFill>
                            <a:srgbClr val="E8740C"/>
                          </a:solidFill>
                          <a:latin typeface="Calibri" pitchFamily="34" charset="0"/>
                          <a:ea typeface="Calibri" pitchFamily="34" charset="-122"/>
                          <a:cs typeface="Calibri" pitchFamily="34" charset="-120"/>
                        </a:rPr>
                        <a:t>Elevated rates in exposed patients</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Most Affected Region</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100" b="1">
                          <a:solidFill>
                            <a:srgbClr val="E8740C"/>
                          </a:solidFill>
                          <a:latin typeface="Calibri" pitchFamily="34" charset="0"/>
                          <a:ea typeface="Calibri" pitchFamily="34" charset="-122"/>
                          <a:cs typeface="Calibri" pitchFamily="34" charset="-120"/>
                        </a:rPr>
                        <a:t>FACE (278 cases)</a:t>
                      </a:r>
                      <a:endParaRPr lang="en-US" sz="110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Largest Lesion Type</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00" b="1" dirty="0">
                          <a:solidFill>
                            <a:srgbClr val="E8740C"/>
                          </a:solidFill>
                          <a:latin typeface="Calibri" pitchFamily="34" charset="0"/>
                          <a:ea typeface="Calibri" pitchFamily="34" charset="-122"/>
                          <a:cs typeface="Calibri" pitchFamily="34" charset="-120"/>
                        </a:rPr>
                        <a:t>MEL (Melanoma)</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Biopsy Confirmed</a:t>
                      </a:r>
                      <a:endParaRPr lang="en-US" sz="11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100" b="1">
                          <a:solidFill>
                            <a:srgbClr val="E8740C"/>
                          </a:solidFill>
                          <a:latin typeface="Calibri" pitchFamily="34" charset="0"/>
                          <a:ea typeface="Calibri" pitchFamily="34" charset="-122"/>
                          <a:cs typeface="Calibri" pitchFamily="34" charset="-120"/>
                        </a:rPr>
                        <a:t>458 (42%)</a:t>
                      </a:r>
                      <a:endParaRPr lang="en-US" sz="110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RECOMMENDATIONS</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Data-Driven Actions for Healthcare Improvement</a:t>
            </a:r>
            <a:endParaRPr lang="en-US" sz="1200" dirty="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dirty="0">
                <a:solidFill>
                  <a:srgbClr val="666666"/>
                </a:solidFill>
                <a:latin typeface="Calibri" pitchFamily="34" charset="0"/>
                <a:ea typeface="Calibri" pitchFamily="34" charset="-122"/>
                <a:cs typeface="Calibri" pitchFamily="34" charset="-120"/>
              </a:rPr>
              <a:t>26 /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
        <p:nvSpPr>
          <p:cNvPr id="8" name="Shape 6"/>
          <p:cNvSpPr/>
          <p:nvPr/>
        </p:nvSpPr>
        <p:spPr>
          <a:xfrm>
            <a:off x="548640" y="1280160"/>
            <a:ext cx="2468880" cy="1371600"/>
          </a:xfrm>
          <a:prstGeom prst="rect">
            <a:avLst/>
          </a:prstGeom>
          <a:solidFill>
            <a:srgbClr val="F7F7F7"/>
          </a:solidFill>
          <a:ln/>
        </p:spPr>
        <p:txBody>
          <a:bodyPr/>
          <a:lstStyle/>
          <a:p>
            <a:endParaRPr lang="en-US"/>
          </a:p>
        </p:txBody>
      </p:sp>
      <p:sp>
        <p:nvSpPr>
          <p:cNvPr id="9" name="Text 7"/>
          <p:cNvSpPr/>
          <p:nvPr/>
        </p:nvSpPr>
        <p:spPr>
          <a:xfrm>
            <a:off x="685800" y="1371600"/>
            <a:ext cx="457200" cy="365760"/>
          </a:xfrm>
          <a:prstGeom prst="rect">
            <a:avLst/>
          </a:prstGeom>
          <a:noFill/>
          <a:ln/>
        </p:spPr>
        <p:txBody>
          <a:bodyPr wrap="square" lIns="0" tIns="0" rIns="0" bIns="0" rtlCol="0" anchor="ctr"/>
          <a:lstStyle/>
          <a:p>
            <a:pPr marL="0" indent="0">
              <a:buNone/>
            </a:pPr>
            <a:r>
              <a:rPr lang="en-US" sz="2000" b="1" dirty="0">
                <a:solidFill>
                  <a:srgbClr val="E8740C"/>
                </a:solidFill>
                <a:latin typeface="Arial Black" pitchFamily="34" charset="0"/>
                <a:ea typeface="Arial Black" pitchFamily="34" charset="-122"/>
                <a:cs typeface="Arial Black" pitchFamily="34" charset="-120"/>
              </a:rPr>
              <a:t>01</a:t>
            </a:r>
            <a:endParaRPr lang="en-US" sz="2000" dirty="0"/>
          </a:p>
        </p:txBody>
      </p:sp>
      <p:sp>
        <p:nvSpPr>
          <p:cNvPr id="10" name="Text 8"/>
          <p:cNvSpPr/>
          <p:nvPr/>
        </p:nvSpPr>
        <p:spPr>
          <a:xfrm>
            <a:off x="1097280" y="1389888"/>
            <a:ext cx="1737360" cy="32004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ACK Screening</a:t>
            </a:r>
            <a:endParaRPr lang="en-US" sz="1100" dirty="0"/>
          </a:p>
        </p:txBody>
      </p:sp>
      <p:sp>
        <p:nvSpPr>
          <p:cNvPr id="11" name="Text 9"/>
          <p:cNvSpPr/>
          <p:nvPr/>
        </p:nvSpPr>
        <p:spPr>
          <a:xfrm>
            <a:off x="685800" y="1783080"/>
            <a:ext cx="2194560" cy="777240"/>
          </a:xfrm>
          <a:prstGeom prst="rect">
            <a:avLst/>
          </a:prstGeom>
          <a:noFill/>
          <a:ln/>
        </p:spPr>
        <p:txBody>
          <a:bodyPr wrap="square" lIns="0" tIns="0" rIns="0" bIns="0" rtlCol="0" anchor="t"/>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Prioritize screening programs for Actinic Keratosis, the most prevalent pre-cancerous condition</a:t>
            </a:r>
            <a:endParaRPr lang="en-US" sz="1000" dirty="0"/>
          </a:p>
        </p:txBody>
      </p:sp>
      <p:sp>
        <p:nvSpPr>
          <p:cNvPr id="12" name="Shape 10"/>
          <p:cNvSpPr/>
          <p:nvPr/>
        </p:nvSpPr>
        <p:spPr>
          <a:xfrm>
            <a:off x="3337560" y="1280160"/>
            <a:ext cx="2468880" cy="1371600"/>
          </a:xfrm>
          <a:prstGeom prst="rect">
            <a:avLst/>
          </a:prstGeom>
          <a:solidFill>
            <a:srgbClr val="F7F7F7"/>
          </a:solidFill>
          <a:ln/>
        </p:spPr>
        <p:txBody>
          <a:bodyPr/>
          <a:lstStyle/>
          <a:p>
            <a:endParaRPr lang="en-US"/>
          </a:p>
        </p:txBody>
      </p:sp>
      <p:sp>
        <p:nvSpPr>
          <p:cNvPr id="13" name="Text 11"/>
          <p:cNvSpPr/>
          <p:nvPr/>
        </p:nvSpPr>
        <p:spPr>
          <a:xfrm>
            <a:off x="3474720" y="1371600"/>
            <a:ext cx="457200" cy="365760"/>
          </a:xfrm>
          <a:prstGeom prst="rect">
            <a:avLst/>
          </a:prstGeom>
          <a:noFill/>
          <a:ln/>
        </p:spPr>
        <p:txBody>
          <a:bodyPr wrap="square" lIns="0" tIns="0" rIns="0" bIns="0" rtlCol="0" anchor="ctr"/>
          <a:lstStyle/>
          <a:p>
            <a:pPr marL="0" indent="0">
              <a:buNone/>
            </a:pPr>
            <a:r>
              <a:rPr lang="en-US" sz="2000" b="1" dirty="0">
                <a:solidFill>
                  <a:srgbClr val="E8740C"/>
                </a:solidFill>
                <a:latin typeface="Arial Black" pitchFamily="34" charset="0"/>
                <a:ea typeface="Arial Black" pitchFamily="34" charset="-122"/>
                <a:cs typeface="Arial Black" pitchFamily="34" charset="-120"/>
              </a:rPr>
              <a:t>02</a:t>
            </a:r>
            <a:endParaRPr lang="en-US" sz="2000" dirty="0"/>
          </a:p>
        </p:txBody>
      </p:sp>
      <p:sp>
        <p:nvSpPr>
          <p:cNvPr id="14" name="Text 12"/>
          <p:cNvSpPr/>
          <p:nvPr/>
        </p:nvSpPr>
        <p:spPr>
          <a:xfrm>
            <a:off x="3886200" y="1389888"/>
            <a:ext cx="1737360" cy="32004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Gender-Targeted Outreach</a:t>
            </a:r>
            <a:endParaRPr lang="en-US" sz="1100" dirty="0"/>
          </a:p>
        </p:txBody>
      </p:sp>
      <p:sp>
        <p:nvSpPr>
          <p:cNvPr id="15" name="Text 13"/>
          <p:cNvSpPr/>
          <p:nvPr/>
        </p:nvSpPr>
        <p:spPr>
          <a:xfrm>
            <a:off x="3474720" y="1783080"/>
            <a:ext cx="2194560" cy="777240"/>
          </a:xfrm>
          <a:prstGeom prst="rect">
            <a:avLst/>
          </a:prstGeom>
          <a:noFill/>
          <a:ln/>
        </p:spPr>
        <p:txBody>
          <a:bodyPr wrap="square" lIns="0" tIns="0" rIns="0" bIns="0" rtlCol="0" anchor="t"/>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Implement male-focused awareness campaigns for skin cancer prevention and early detection</a:t>
            </a:r>
            <a:endParaRPr lang="en-US" sz="1000" dirty="0"/>
          </a:p>
        </p:txBody>
      </p:sp>
      <p:sp>
        <p:nvSpPr>
          <p:cNvPr id="16" name="Shape 14"/>
          <p:cNvSpPr/>
          <p:nvPr/>
        </p:nvSpPr>
        <p:spPr>
          <a:xfrm>
            <a:off x="6126480" y="1280160"/>
            <a:ext cx="2468880" cy="1371600"/>
          </a:xfrm>
          <a:prstGeom prst="rect">
            <a:avLst/>
          </a:prstGeom>
          <a:solidFill>
            <a:srgbClr val="F7F7F7"/>
          </a:solidFill>
          <a:ln/>
        </p:spPr>
        <p:txBody>
          <a:bodyPr/>
          <a:lstStyle/>
          <a:p>
            <a:endParaRPr lang="en-US"/>
          </a:p>
        </p:txBody>
      </p:sp>
      <p:sp>
        <p:nvSpPr>
          <p:cNvPr id="17" name="Text 15"/>
          <p:cNvSpPr/>
          <p:nvPr/>
        </p:nvSpPr>
        <p:spPr>
          <a:xfrm>
            <a:off x="6263640" y="1371600"/>
            <a:ext cx="457200" cy="365760"/>
          </a:xfrm>
          <a:prstGeom prst="rect">
            <a:avLst/>
          </a:prstGeom>
          <a:noFill/>
          <a:ln/>
        </p:spPr>
        <p:txBody>
          <a:bodyPr wrap="square" lIns="0" tIns="0" rIns="0" bIns="0" rtlCol="0" anchor="ctr"/>
          <a:lstStyle/>
          <a:p>
            <a:pPr marL="0" indent="0">
              <a:buNone/>
            </a:pPr>
            <a:r>
              <a:rPr lang="en-US" sz="2000" b="1" dirty="0">
                <a:solidFill>
                  <a:srgbClr val="E8740C"/>
                </a:solidFill>
                <a:latin typeface="Arial Black" pitchFamily="34" charset="0"/>
                <a:ea typeface="Arial Black" pitchFamily="34" charset="-122"/>
                <a:cs typeface="Arial Black" pitchFamily="34" charset="-120"/>
              </a:rPr>
              <a:t>03</a:t>
            </a:r>
            <a:endParaRPr lang="en-US" sz="2000" dirty="0"/>
          </a:p>
        </p:txBody>
      </p:sp>
      <p:sp>
        <p:nvSpPr>
          <p:cNvPr id="18" name="Text 16"/>
          <p:cNvSpPr/>
          <p:nvPr/>
        </p:nvSpPr>
        <p:spPr>
          <a:xfrm>
            <a:off x="6675120" y="1389888"/>
            <a:ext cx="1737360" cy="32004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Age-Stratified Protocols</a:t>
            </a:r>
            <a:endParaRPr lang="en-US" sz="1100" dirty="0"/>
          </a:p>
        </p:txBody>
      </p:sp>
      <p:sp>
        <p:nvSpPr>
          <p:cNvPr id="19" name="Text 17"/>
          <p:cNvSpPr/>
          <p:nvPr/>
        </p:nvSpPr>
        <p:spPr>
          <a:xfrm>
            <a:off x="6263640" y="1783080"/>
            <a:ext cx="2194560" cy="777240"/>
          </a:xfrm>
          <a:prstGeom prst="rect">
            <a:avLst/>
          </a:prstGeom>
          <a:noFill/>
          <a:ln/>
        </p:spPr>
        <p:txBody>
          <a:bodyPr wrap="square" lIns="0" tIns="0" rIns="0" bIns="0" rtlCol="0" anchor="t"/>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Enhanced monitoring for patients over 60, particularly for SCC and ACK</a:t>
            </a:r>
            <a:endParaRPr lang="en-US" sz="1000" dirty="0"/>
          </a:p>
        </p:txBody>
      </p:sp>
      <p:sp>
        <p:nvSpPr>
          <p:cNvPr id="20" name="Shape 18"/>
          <p:cNvSpPr/>
          <p:nvPr/>
        </p:nvSpPr>
        <p:spPr>
          <a:xfrm>
            <a:off x="548640" y="2926080"/>
            <a:ext cx="2468880" cy="1371600"/>
          </a:xfrm>
          <a:prstGeom prst="rect">
            <a:avLst/>
          </a:prstGeom>
          <a:solidFill>
            <a:srgbClr val="F7F7F7"/>
          </a:solidFill>
          <a:ln/>
        </p:spPr>
        <p:txBody>
          <a:bodyPr/>
          <a:lstStyle/>
          <a:p>
            <a:endParaRPr lang="en-US"/>
          </a:p>
        </p:txBody>
      </p:sp>
      <p:sp>
        <p:nvSpPr>
          <p:cNvPr id="21" name="Text 19"/>
          <p:cNvSpPr/>
          <p:nvPr/>
        </p:nvSpPr>
        <p:spPr>
          <a:xfrm>
            <a:off x="685800" y="3017520"/>
            <a:ext cx="457200" cy="365760"/>
          </a:xfrm>
          <a:prstGeom prst="rect">
            <a:avLst/>
          </a:prstGeom>
          <a:noFill/>
          <a:ln/>
        </p:spPr>
        <p:txBody>
          <a:bodyPr wrap="square" lIns="0" tIns="0" rIns="0" bIns="0" rtlCol="0" anchor="ctr"/>
          <a:lstStyle/>
          <a:p>
            <a:pPr marL="0" indent="0">
              <a:buNone/>
            </a:pPr>
            <a:r>
              <a:rPr lang="en-US" sz="2000" b="1" dirty="0">
                <a:solidFill>
                  <a:srgbClr val="E8740C"/>
                </a:solidFill>
                <a:latin typeface="Arial Black" pitchFamily="34" charset="0"/>
                <a:ea typeface="Arial Black" pitchFamily="34" charset="-122"/>
                <a:cs typeface="Arial Black" pitchFamily="34" charset="-120"/>
              </a:rPr>
              <a:t>04</a:t>
            </a:r>
            <a:endParaRPr lang="en-US" sz="2000" dirty="0"/>
          </a:p>
        </p:txBody>
      </p:sp>
      <p:sp>
        <p:nvSpPr>
          <p:cNvPr id="22" name="Text 20"/>
          <p:cNvSpPr/>
          <p:nvPr/>
        </p:nvSpPr>
        <p:spPr>
          <a:xfrm>
            <a:off x="1097280" y="3035808"/>
            <a:ext cx="1737360" cy="32004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Lifestyle Integration</a:t>
            </a:r>
            <a:endParaRPr lang="en-US" sz="1100" dirty="0"/>
          </a:p>
        </p:txBody>
      </p:sp>
      <p:sp>
        <p:nvSpPr>
          <p:cNvPr id="23" name="Text 21"/>
          <p:cNvSpPr/>
          <p:nvPr/>
        </p:nvSpPr>
        <p:spPr>
          <a:xfrm>
            <a:off x="685800" y="3429000"/>
            <a:ext cx="2194560" cy="777240"/>
          </a:xfrm>
          <a:prstGeom prst="rect">
            <a:avLst/>
          </a:prstGeom>
          <a:noFill/>
          <a:ln/>
        </p:spPr>
        <p:txBody>
          <a:bodyPr wrap="square" lIns="0" tIns="0" rIns="0" bIns="0" rtlCol="0" anchor="t"/>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Include smoking cessation and pesticide exposure assessments in dermatology workflows</a:t>
            </a:r>
            <a:endParaRPr lang="en-US" sz="1000" dirty="0"/>
          </a:p>
        </p:txBody>
      </p:sp>
      <p:sp>
        <p:nvSpPr>
          <p:cNvPr id="24" name="Shape 22"/>
          <p:cNvSpPr/>
          <p:nvPr/>
        </p:nvSpPr>
        <p:spPr>
          <a:xfrm>
            <a:off x="3337560" y="2926080"/>
            <a:ext cx="2468880" cy="1371600"/>
          </a:xfrm>
          <a:prstGeom prst="rect">
            <a:avLst/>
          </a:prstGeom>
          <a:solidFill>
            <a:srgbClr val="F7F7F7"/>
          </a:solidFill>
          <a:ln/>
        </p:spPr>
        <p:txBody>
          <a:bodyPr/>
          <a:lstStyle/>
          <a:p>
            <a:endParaRPr lang="en-US"/>
          </a:p>
        </p:txBody>
      </p:sp>
      <p:sp>
        <p:nvSpPr>
          <p:cNvPr id="25" name="Text 23"/>
          <p:cNvSpPr/>
          <p:nvPr/>
        </p:nvSpPr>
        <p:spPr>
          <a:xfrm>
            <a:off x="3474720" y="3017520"/>
            <a:ext cx="457200" cy="365760"/>
          </a:xfrm>
          <a:prstGeom prst="rect">
            <a:avLst/>
          </a:prstGeom>
          <a:noFill/>
          <a:ln/>
        </p:spPr>
        <p:txBody>
          <a:bodyPr wrap="square" lIns="0" tIns="0" rIns="0" bIns="0" rtlCol="0" anchor="ctr"/>
          <a:lstStyle/>
          <a:p>
            <a:pPr marL="0" indent="0">
              <a:buNone/>
            </a:pPr>
            <a:r>
              <a:rPr lang="en-US" sz="2000" b="1" dirty="0">
                <a:solidFill>
                  <a:srgbClr val="E8740C"/>
                </a:solidFill>
                <a:latin typeface="Arial Black" pitchFamily="34" charset="0"/>
                <a:ea typeface="Arial Black" pitchFamily="34" charset="-122"/>
                <a:cs typeface="Arial Black" pitchFamily="34" charset="-120"/>
              </a:rPr>
              <a:t>05</a:t>
            </a:r>
            <a:endParaRPr lang="en-US" sz="2000" dirty="0"/>
          </a:p>
        </p:txBody>
      </p:sp>
      <p:sp>
        <p:nvSpPr>
          <p:cNvPr id="26" name="Text 24"/>
          <p:cNvSpPr/>
          <p:nvPr/>
        </p:nvSpPr>
        <p:spPr>
          <a:xfrm>
            <a:off x="3886200" y="3035808"/>
            <a:ext cx="1737360" cy="32004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rPr>
              <a:t>Early Detection</a:t>
            </a:r>
            <a:endParaRPr lang="en-US" sz="1100" dirty="0"/>
          </a:p>
        </p:txBody>
      </p:sp>
      <p:sp>
        <p:nvSpPr>
          <p:cNvPr id="27" name="Text 25"/>
          <p:cNvSpPr/>
          <p:nvPr/>
        </p:nvSpPr>
        <p:spPr>
          <a:xfrm>
            <a:off x="3497580" y="3268980"/>
            <a:ext cx="2194560" cy="777240"/>
          </a:xfrm>
          <a:prstGeom prst="rect">
            <a:avLst/>
          </a:prstGeom>
          <a:noFill/>
          <a:ln/>
        </p:spPr>
        <p:txBody>
          <a:bodyPr wrap="square" lIns="0" tIns="0" rIns="0" bIns="0" rtlCol="0" anchor="t"/>
          <a:lstStyle/>
          <a:p>
            <a:pPr>
              <a:lnSpc>
                <a:spcPct val="130000"/>
              </a:lnSpc>
            </a:pPr>
            <a:r>
              <a:rPr lang="en-US" sz="1000" dirty="0"/>
              <a:t>Encourage regular examination of body regions with higher lesion occurrence, particularly the face and forearm to support early detection and timely medical evaluation. </a:t>
            </a:r>
          </a:p>
        </p:txBody>
      </p:sp>
      <p:sp>
        <p:nvSpPr>
          <p:cNvPr id="28" name="Shape 26"/>
          <p:cNvSpPr/>
          <p:nvPr/>
        </p:nvSpPr>
        <p:spPr>
          <a:xfrm>
            <a:off x="6126480" y="2926080"/>
            <a:ext cx="2468880" cy="1371600"/>
          </a:xfrm>
          <a:prstGeom prst="rect">
            <a:avLst/>
          </a:prstGeom>
          <a:solidFill>
            <a:srgbClr val="F7F7F7"/>
          </a:solidFill>
          <a:ln/>
        </p:spPr>
        <p:txBody>
          <a:bodyPr/>
          <a:lstStyle/>
          <a:p>
            <a:endParaRPr lang="en-US"/>
          </a:p>
        </p:txBody>
      </p:sp>
      <p:sp>
        <p:nvSpPr>
          <p:cNvPr id="29" name="Text 27"/>
          <p:cNvSpPr/>
          <p:nvPr/>
        </p:nvSpPr>
        <p:spPr>
          <a:xfrm>
            <a:off x="6263640" y="3017520"/>
            <a:ext cx="457200" cy="365760"/>
          </a:xfrm>
          <a:prstGeom prst="rect">
            <a:avLst/>
          </a:prstGeom>
          <a:noFill/>
          <a:ln/>
        </p:spPr>
        <p:txBody>
          <a:bodyPr wrap="square" lIns="0" tIns="0" rIns="0" bIns="0" rtlCol="0" anchor="ctr"/>
          <a:lstStyle/>
          <a:p>
            <a:pPr marL="0" indent="0">
              <a:buNone/>
            </a:pPr>
            <a:r>
              <a:rPr lang="en-US" sz="2000" b="1" dirty="0">
                <a:solidFill>
                  <a:srgbClr val="E8740C"/>
                </a:solidFill>
                <a:latin typeface="Arial Black" pitchFamily="34" charset="0"/>
                <a:ea typeface="Arial Black" pitchFamily="34" charset="-122"/>
                <a:cs typeface="Arial Black" pitchFamily="34" charset="-120"/>
              </a:rPr>
              <a:t>06</a:t>
            </a:r>
            <a:endParaRPr lang="en-US" sz="2000" dirty="0"/>
          </a:p>
        </p:txBody>
      </p:sp>
      <p:sp>
        <p:nvSpPr>
          <p:cNvPr id="30" name="Text 28"/>
          <p:cNvSpPr/>
          <p:nvPr/>
        </p:nvSpPr>
        <p:spPr>
          <a:xfrm>
            <a:off x="6675120" y="3035808"/>
            <a:ext cx="1737360" cy="320040"/>
          </a:xfrm>
          <a:prstGeom prst="rect">
            <a:avLst/>
          </a:prstGeom>
          <a:noFill/>
          <a:ln/>
        </p:spPr>
        <p:txBody>
          <a:bodyPr wrap="square" lIns="0" tIns="0" rIns="0" bIns="0" rtlCol="0" anchor="ctr"/>
          <a:lstStyle/>
          <a:p>
            <a:pPr marL="0" indent="0">
              <a:buNone/>
            </a:pPr>
            <a:r>
              <a:rPr lang="en-US" sz="1100" b="1" dirty="0">
                <a:solidFill>
                  <a:srgbClr val="1A1A1A"/>
                </a:solidFill>
                <a:latin typeface="Arial Black" pitchFamily="34" charset="0"/>
                <a:ea typeface="Arial Black" pitchFamily="34" charset="-122"/>
                <a:cs typeface="Arial Black" pitchFamily="34" charset="-120"/>
              </a:rPr>
              <a:t>Biopsy Gap Closure</a:t>
            </a:r>
            <a:endParaRPr lang="en-US" sz="1100" dirty="0"/>
          </a:p>
        </p:txBody>
      </p:sp>
      <p:sp>
        <p:nvSpPr>
          <p:cNvPr id="31" name="Text 29"/>
          <p:cNvSpPr/>
          <p:nvPr/>
        </p:nvSpPr>
        <p:spPr>
          <a:xfrm>
            <a:off x="6263640" y="3429000"/>
            <a:ext cx="2194560" cy="777240"/>
          </a:xfrm>
          <a:prstGeom prst="rect">
            <a:avLst/>
          </a:prstGeom>
          <a:noFill/>
          <a:ln/>
        </p:spPr>
        <p:txBody>
          <a:bodyPr wrap="square" lIns="0" tIns="0" rIns="0" bIns="0" rtlCol="0" anchor="t"/>
          <a:lstStyle/>
          <a:p>
            <a:pPr marL="0" indent="0">
              <a:lnSpc>
                <a:spcPct val="130000"/>
              </a:lnSpc>
              <a:buNone/>
            </a:pPr>
            <a:r>
              <a:rPr lang="en-US" sz="1000" dirty="0">
                <a:solidFill>
                  <a:srgbClr val="333333"/>
                </a:solidFill>
                <a:latin typeface="Calibri" pitchFamily="34" charset="0"/>
                <a:ea typeface="Calibri" pitchFamily="34" charset="-122"/>
                <a:cs typeface="Calibri" pitchFamily="34" charset="-120"/>
              </a:rPr>
              <a:t>Investigate and resolve the </a:t>
            </a:r>
            <a:r>
              <a:rPr lang="en-US" sz="1000">
                <a:solidFill>
                  <a:srgbClr val="333333"/>
                </a:solidFill>
                <a:latin typeface="Calibri" pitchFamily="34" charset="0"/>
                <a:ea typeface="Calibri" pitchFamily="34" charset="-122"/>
                <a:cs typeface="Calibri" pitchFamily="34" charset="-120"/>
              </a:rPr>
              <a:t>~58</a:t>
            </a:r>
            <a:r>
              <a:rPr lang="en-US" sz="1000" dirty="0">
                <a:solidFill>
                  <a:srgbClr val="333333"/>
                </a:solidFill>
                <a:latin typeface="Calibri" pitchFamily="34" charset="0"/>
                <a:ea typeface="Calibri" pitchFamily="34" charset="-122"/>
                <a:cs typeface="Calibri" pitchFamily="34" charset="-120"/>
              </a:rPr>
              <a:t>% unconfirmed biopsy gap to strengthen diagnostics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1600" b="1">
                <a:solidFill>
                  <a:srgbClr val="FFFFFF"/>
                </a:solidFill>
                <a:latin typeface="Arial Black" pitchFamily="34" charset="0"/>
                <a:ea typeface="Arial Black" pitchFamily="34" charset="-122"/>
                <a:cs typeface="Arial Black" pitchFamily="34" charset="-120"/>
              </a:rPr>
              <a:t>MACHINE LEARNING-READY DATASET CREATION</a:t>
            </a:r>
            <a:endParaRPr lang="en-US" sz="220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a:solidFill>
                  <a:srgbClr val="666666"/>
                </a:solidFill>
                <a:latin typeface="Calibri" pitchFamily="34" charset="0"/>
                <a:ea typeface="Calibri" pitchFamily="34" charset="-122"/>
                <a:cs typeface="Calibri" pitchFamily="34" charset="-120"/>
              </a:rPr>
              <a:t>27 / 32</a:t>
            </a:r>
            <a:endParaRPr lang="en-US" sz="90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a:solidFill>
                  <a:srgbClr val="666666"/>
                </a:solidFill>
                <a:latin typeface="Calibri" pitchFamily="34" charset="0"/>
                <a:ea typeface="Calibri" pitchFamily="34" charset="-122"/>
                <a:cs typeface="Calibri" pitchFamily="34" charset="-120"/>
              </a:rPr>
              <a:t>Pod Polaris  |  10Alytics</a:t>
            </a:r>
            <a:endParaRPr lang="en-US" sz="900"/>
          </a:p>
        </p:txBody>
      </p:sp>
      <p:sp>
        <p:nvSpPr>
          <p:cNvPr id="8" name="CodeBg"/>
          <p:cNvSpPr/>
          <p:nvPr/>
        </p:nvSpPr>
        <p:spPr>
          <a:xfrm>
            <a:off x="548640" y="1180000"/>
            <a:ext cx="5029200" cy="1285096"/>
          </a:xfrm>
          <a:prstGeom prst="rect">
            <a:avLst/>
          </a:prstGeom>
          <a:solidFill>
            <a:srgbClr val="1E1E1E"/>
          </a:solidFill>
          <a:ln/>
        </p:spPr>
        <p:txBody>
          <a:bodyPr/>
          <a:lstStyle/>
          <a:p>
            <a:endParaRPr lang="en-US"/>
          </a:p>
        </p:txBody>
      </p:sp>
      <p:sp>
        <p:nvSpPr>
          <p:cNvPr id="9" name="CodeText"/>
          <p:cNvSpPr/>
          <p:nvPr/>
        </p:nvSpPr>
        <p:spPr>
          <a:xfrm>
            <a:off x="685800" y="1240000"/>
            <a:ext cx="4754880" cy="1160000"/>
          </a:xfrm>
          <a:prstGeom prst="rect">
            <a:avLst/>
          </a:prstGeom>
          <a:noFill/>
          <a:ln/>
        </p:spPr>
        <p:txBody>
          <a:bodyPr wrap="square" lIns="0" tIns="0" rIns="0" bIns="0" rtlCol="0" anchor="t"/>
          <a:lstStyle/>
          <a:p>
            <a:pPr marL="0" indent="0">
              <a:spcAft>
                <a:spcPts val="100"/>
              </a:spcAft>
              <a:buNone/>
            </a:pPr>
            <a:r>
              <a:rPr lang="en-US" sz="900" dirty="0">
                <a:solidFill>
                  <a:srgbClr val="D4D4D4"/>
                </a:solidFill>
                <a:latin typeface="Consolas"/>
              </a:rPr>
              <a:t>CREATE TABLE ml_dataset AS</a:t>
            </a:r>
          </a:p>
          <a:p>
            <a:pPr marL="0" indent="0">
              <a:spcAft>
                <a:spcPts val="100"/>
              </a:spcAft>
              <a:buNone/>
            </a:pPr>
            <a:r>
              <a:rPr lang="en-US" sz="900">
                <a:solidFill>
                  <a:srgbClr val="D4D4D4"/>
                </a:solidFill>
                <a:latin typeface="Consolas"/>
              </a:rPr>
              <a:t>SELECT p.patient_id, p.age, p.gender,</a:t>
            </a:r>
            <a:endParaRPr lang="en-US" sz="900" dirty="0">
              <a:solidFill>
                <a:srgbClr val="D4D4D4"/>
              </a:solidFill>
              <a:latin typeface="Consolas"/>
            </a:endParaRPr>
          </a:p>
          <a:p>
            <a:pPr marL="0" indent="0">
              <a:spcAft>
                <a:spcPts val="100"/>
              </a:spcAft>
              <a:buNone/>
            </a:pPr>
            <a:r>
              <a:rPr lang="en-US" sz="900">
                <a:solidFill>
                  <a:srgbClr val="D4D4D4"/>
                </a:solidFill>
                <a:latin typeface="Consolas"/>
              </a:rPr>
              <a:t>       p.smoke, p.pesticide,</a:t>
            </a:r>
            <a:endParaRPr lang="en-US" sz="900" dirty="0">
              <a:solidFill>
                <a:srgbClr val="D4D4D4"/>
              </a:solidFill>
              <a:latin typeface="Consolas"/>
            </a:endParaRPr>
          </a:p>
          <a:p>
            <a:pPr marL="0" indent="0">
              <a:spcAft>
                <a:spcPts val="100"/>
              </a:spcAft>
              <a:buNone/>
            </a:pPr>
            <a:r>
              <a:rPr lang="en-US" sz="900">
                <a:solidFill>
                  <a:srgbClr val="D4D4D4"/>
                </a:solidFill>
                <a:latin typeface="Consolas"/>
              </a:rPr>
              <a:t>       l.diagnostic, l.region,</a:t>
            </a:r>
            <a:endParaRPr lang="en-US" sz="900" dirty="0">
              <a:solidFill>
                <a:srgbClr val="D4D4D4"/>
              </a:solidFill>
              <a:latin typeface="Consolas"/>
            </a:endParaRPr>
          </a:p>
          <a:p>
            <a:pPr marL="0" indent="0">
              <a:spcAft>
                <a:spcPts val="100"/>
              </a:spcAft>
              <a:buNone/>
            </a:pPr>
            <a:r>
              <a:rPr lang="en-US" sz="900" dirty="0">
                <a:solidFill>
                  <a:srgbClr val="D4D4D4"/>
                </a:solidFill>
                <a:latin typeface="Consolas"/>
              </a:rPr>
              <a:t>       ROUND(((l.diameter_1+l.diameter_2)/2)::numeric,2) </a:t>
            </a:r>
            <a:r>
              <a:rPr lang="en-US" sz="900">
                <a:solidFill>
                  <a:srgbClr val="D4D4D4"/>
                </a:solidFill>
                <a:latin typeface="Consolas"/>
              </a:rPr>
              <a:t>AS lesion_size,</a:t>
            </a:r>
            <a:endParaRPr lang="en-US" sz="900" dirty="0">
              <a:solidFill>
                <a:srgbClr val="D4D4D4"/>
              </a:solidFill>
              <a:latin typeface="Consolas"/>
            </a:endParaRPr>
          </a:p>
          <a:p>
            <a:pPr marL="0" indent="0">
              <a:spcAft>
                <a:spcPts val="100"/>
              </a:spcAft>
              <a:buNone/>
            </a:pPr>
            <a:r>
              <a:rPr lang="en-US" sz="900">
                <a:solidFill>
                  <a:srgbClr val="D4D4D4"/>
                </a:solidFill>
                <a:latin typeface="Consolas"/>
              </a:rPr>
              <a:t>       l.biopsed</a:t>
            </a:r>
            <a:endParaRPr lang="en-US" sz="900" dirty="0">
              <a:solidFill>
                <a:srgbClr val="D4D4D4"/>
              </a:solidFill>
              <a:latin typeface="Consolas"/>
            </a:endParaRPr>
          </a:p>
          <a:p>
            <a:pPr marL="0" indent="0">
              <a:spcAft>
                <a:spcPts val="100"/>
              </a:spcAft>
              <a:buNone/>
            </a:pPr>
            <a:r>
              <a:rPr lang="en-US" sz="900">
                <a:solidFill>
                  <a:srgbClr val="D4D4D4"/>
                </a:solidFill>
                <a:latin typeface="Consolas"/>
              </a:rPr>
              <a:t>FROM patient_info </a:t>
            </a:r>
            <a:r>
              <a:rPr lang="en-US" sz="900" dirty="0">
                <a:solidFill>
                  <a:srgbClr val="D4D4D4"/>
                </a:solidFill>
                <a:latin typeface="Consolas"/>
              </a:rPr>
              <a:t>p</a:t>
            </a:r>
          </a:p>
          <a:p>
            <a:pPr marL="0" indent="0">
              <a:spcAft>
                <a:spcPts val="100"/>
              </a:spcAft>
              <a:buNone/>
            </a:pPr>
            <a:r>
              <a:rPr lang="en-US" sz="900">
                <a:solidFill>
                  <a:srgbClr val="D4D4D4"/>
                </a:solidFill>
                <a:latin typeface="Consolas"/>
              </a:rPr>
              <a:t>JOIN lesion_info </a:t>
            </a:r>
            <a:r>
              <a:rPr lang="en-US" sz="900" dirty="0">
                <a:solidFill>
                  <a:srgbClr val="D4D4D4"/>
                </a:solidFill>
                <a:latin typeface="Consolas"/>
              </a:rPr>
              <a:t>l </a:t>
            </a:r>
            <a:r>
              <a:rPr lang="en-US" sz="900">
                <a:solidFill>
                  <a:srgbClr val="D4D4D4"/>
                </a:solidFill>
                <a:latin typeface="Consolas"/>
              </a:rPr>
              <a:t>ON p.patient_id = l.patient_id;</a:t>
            </a:r>
            <a:endParaRPr lang="en-US" sz="900" dirty="0">
              <a:solidFill>
                <a:srgbClr val="D4D4D4"/>
              </a:solidFill>
              <a:latin typeface="Consolas"/>
            </a:endParaRPr>
          </a:p>
        </p:txBody>
      </p:sp>
      <p:sp>
        <p:nvSpPr>
          <p:cNvPr id="10" name="ExplHead"/>
          <p:cNvSpPr/>
          <p:nvPr/>
        </p:nvSpPr>
        <p:spPr>
          <a:xfrm>
            <a:off x="548640" y="2520000"/>
            <a:ext cx="4572000" cy="274320"/>
          </a:xfrm>
          <a:prstGeom prst="rect">
            <a:avLst/>
          </a:prstGeom>
          <a:noFill/>
          <a:ln/>
        </p:spPr>
        <p:txBody>
          <a:bodyPr wrap="square" lIns="0" tIns="0" rIns="0" bIns="0" rtlCol="0" anchor="ctr"/>
          <a:lstStyle/>
          <a:p>
            <a:pPr marL="0" indent="0">
              <a:buNone/>
            </a:pPr>
            <a:r>
              <a:rPr lang="en-US" sz="1200" b="1">
                <a:solidFill>
                  <a:srgbClr val="1A1A1A"/>
                </a:solidFill>
                <a:latin typeface="Arial Black" pitchFamily="34" charset="0"/>
              </a:rPr>
              <a:t>WHAT WAS DONE?</a:t>
            </a:r>
            <a:endParaRPr lang="en-US" sz="1200"/>
          </a:p>
        </p:txBody>
      </p:sp>
      <p:sp>
        <p:nvSpPr>
          <p:cNvPr id="11" name="C1"/>
          <p:cNvSpPr/>
          <p:nvPr/>
        </p:nvSpPr>
        <p:spPr>
          <a:xfrm>
            <a:off x="548640" y="284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Combined Data</a:t>
            </a:r>
            <a:endParaRPr lang="en-US" sz="1000"/>
          </a:p>
        </p:txBody>
      </p:sp>
      <p:sp>
        <p:nvSpPr>
          <p:cNvPr id="12" name="D1"/>
          <p:cNvSpPr/>
          <p:nvPr/>
        </p:nvSpPr>
        <p:spPr>
          <a:xfrm>
            <a:off x="548640" y="302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Combined patient demographics and lesion information into a single structured dataset.</a:t>
            </a:r>
            <a:endParaRPr lang="en-US" sz="1000"/>
          </a:p>
        </p:txBody>
      </p:sp>
      <p:sp>
        <p:nvSpPr>
          <p:cNvPr id="13" name="C2"/>
          <p:cNvSpPr/>
          <p:nvPr/>
        </p:nvSpPr>
        <p:spPr>
          <a:xfrm>
            <a:off x="548640" y="323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Joined Tables</a:t>
            </a:r>
            <a:endParaRPr lang="en-US" sz="1000"/>
          </a:p>
        </p:txBody>
      </p:sp>
      <p:sp>
        <p:nvSpPr>
          <p:cNvPr id="14" name="D2"/>
          <p:cNvSpPr/>
          <p:nvPr/>
        </p:nvSpPr>
        <p:spPr>
          <a:xfrm>
            <a:off x="548640" y="341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Joined patient_info and lesion_info using patient_id.</a:t>
            </a:r>
            <a:endParaRPr lang="en-US" sz="1000"/>
          </a:p>
        </p:txBody>
      </p:sp>
      <p:sp>
        <p:nvSpPr>
          <p:cNvPr id="15" name="C3"/>
          <p:cNvSpPr/>
          <p:nvPr/>
        </p:nvSpPr>
        <p:spPr>
          <a:xfrm>
            <a:off x="548640" y="362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Key Variables</a:t>
            </a:r>
            <a:endParaRPr lang="en-US" sz="1000"/>
          </a:p>
        </p:txBody>
      </p:sp>
      <p:sp>
        <p:nvSpPr>
          <p:cNvPr id="16" name="D3"/>
          <p:cNvSpPr/>
          <p:nvPr/>
        </p:nvSpPr>
        <p:spPr>
          <a:xfrm>
            <a:off x="548640" y="380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Selected key variables relevant for machine learning.</a:t>
            </a:r>
            <a:endParaRPr lang="en-US" sz="1000"/>
          </a:p>
        </p:txBody>
      </p:sp>
      <p:sp>
        <p:nvSpPr>
          <p:cNvPr id="17" name="C4"/>
          <p:cNvSpPr/>
          <p:nvPr/>
        </p:nvSpPr>
        <p:spPr>
          <a:xfrm>
            <a:off x="548640" y="401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New Table</a:t>
            </a:r>
            <a:endParaRPr lang="en-US" sz="1000"/>
          </a:p>
        </p:txBody>
      </p:sp>
      <p:sp>
        <p:nvSpPr>
          <p:cNvPr id="18" name="D4"/>
          <p:cNvSpPr/>
          <p:nvPr/>
        </p:nvSpPr>
        <p:spPr>
          <a:xfrm>
            <a:off x="548640" y="419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Created a new table called ml_dataset.</a:t>
            </a:r>
            <a:endParaRPr lang="en-US" sz="1000"/>
          </a:p>
        </p:txBody>
      </p:sp>
      <p:sp>
        <p:nvSpPr>
          <p:cNvPr id="19" name="C5"/>
          <p:cNvSpPr/>
          <p:nvPr/>
        </p:nvSpPr>
        <p:spPr>
          <a:xfrm>
            <a:off x="548640" y="4400000"/>
            <a:ext cx="5029200" cy="200000"/>
          </a:xfrm>
          <a:prstGeom prst="rect">
            <a:avLst/>
          </a:prstGeom>
          <a:noFill/>
          <a:ln/>
        </p:spPr>
        <p:txBody>
          <a:bodyPr wrap="square" lIns="0" tIns="0" rIns="0" bIns="0" rtlCol="0" anchor="ctr"/>
          <a:lstStyle/>
          <a:p>
            <a:pPr marL="0" indent="0">
              <a:buNone/>
            </a:pPr>
            <a:r>
              <a:rPr lang="en-US" sz="1000" b="1">
                <a:solidFill>
                  <a:srgbClr val="E8740C"/>
                </a:solidFill>
                <a:latin typeface="Consolas" pitchFamily="34" charset="0"/>
                <a:ea typeface="Consolas" pitchFamily="34" charset="-122"/>
                <a:cs typeface="Consolas" pitchFamily="34" charset="-120"/>
              </a:rPr>
              <a:t>ML-Ready Format</a:t>
            </a:r>
            <a:endParaRPr lang="en-US" sz="1000"/>
          </a:p>
        </p:txBody>
      </p:sp>
      <p:sp>
        <p:nvSpPr>
          <p:cNvPr id="23" name="D5"/>
          <p:cNvSpPr/>
          <p:nvPr/>
        </p:nvSpPr>
        <p:spPr>
          <a:xfrm>
            <a:off x="548640" y="4580000"/>
            <a:ext cx="5029200" cy="180000"/>
          </a:xfrm>
          <a:prstGeom prst="rect">
            <a:avLst/>
          </a:prstGeom>
          <a:noFill/>
          <a:ln/>
        </p:spPr>
        <p:txBody>
          <a:bodyPr wrap="square" lIns="0" tIns="0" rIns="0" bIns="0" rtlCol="0" anchor="ctr"/>
          <a:lstStyle/>
          <a:p>
            <a:pPr marL="0" indent="0">
              <a:buNone/>
            </a:pPr>
            <a:r>
              <a:rPr lang="en-US" sz="1000">
                <a:solidFill>
                  <a:srgbClr val="666666"/>
                </a:solidFill>
                <a:latin typeface="Calibri" pitchFamily="34" charset="0"/>
                <a:ea typeface="Calibri" pitchFamily="34" charset="-122"/>
                <a:cs typeface="Calibri" pitchFamily="34" charset="-120"/>
              </a:rPr>
              <a:t>Prepared data in a format suitable for future predictive analytics and AI model development.</a:t>
            </a:r>
            <a:endParaRPr lang="en-US" sz="1000"/>
          </a:p>
        </p:txBody>
      </p:sp>
      <p:sp>
        <p:nvSpPr>
          <p:cNvPr id="20" name="CalloutBg"/>
          <p:cNvSpPr/>
          <p:nvPr/>
        </p:nvSpPr>
        <p:spPr>
          <a:xfrm>
            <a:off x="6217920" y="1200000"/>
            <a:ext cx="2377440" cy="2200000"/>
          </a:xfrm>
          <a:prstGeom prst="rect">
            <a:avLst/>
          </a:prstGeom>
          <a:solidFill>
            <a:srgbClr val="FFF3E6"/>
          </a:solidFill>
          <a:ln/>
        </p:spPr>
        <p:txBody>
          <a:bodyPr/>
          <a:lstStyle/>
          <a:p>
            <a:endParaRPr lang="en-US"/>
          </a:p>
        </p:txBody>
      </p:sp>
      <p:sp>
        <p:nvSpPr>
          <p:cNvPr id="22" name="CalloutText"/>
          <p:cNvSpPr/>
          <p:nvPr/>
        </p:nvSpPr>
        <p:spPr>
          <a:xfrm>
            <a:off x="6355080" y="1850000"/>
            <a:ext cx="2103120" cy="1450000"/>
          </a:xfrm>
          <a:prstGeom prst="rect">
            <a:avLst/>
          </a:prstGeom>
          <a:noFill/>
          <a:ln/>
        </p:spPr>
        <p:txBody>
          <a:bodyPr wrap="square" lIns="0" tIns="0" rIns="0" bIns="0" rtlCol="0" anchor="t"/>
          <a:lstStyle/>
          <a:p>
            <a:pPr marL="0" indent="0">
              <a:spcAft>
                <a:spcPts val="200"/>
              </a:spcAft>
              <a:buNone/>
            </a:pPr>
            <a:r>
              <a:rPr lang="en-US" sz="1100" b="1" dirty="0">
                <a:solidFill>
                  <a:srgbClr val="1A1A1A"/>
                </a:solidFill>
                <a:latin typeface="Arial Black" pitchFamily="34" charset="0"/>
                <a:ea typeface="Arial Black" pitchFamily="34" charset="-122"/>
                <a:cs typeface="Arial Black" pitchFamily="34" charset="-120"/>
              </a:rPr>
              <a:t>RESULT</a:t>
            </a:r>
            <a:endParaRPr lang="en-US" sz="1100" dirty="0"/>
          </a:p>
          <a:p>
            <a:pPr marL="0" indent="0">
              <a:lnSpc>
                <a:spcPct val="130000"/>
              </a:lnSpc>
              <a:buNone/>
            </a:pPr>
            <a:r>
              <a:rPr lang="en-US" sz="900" dirty="0">
                <a:solidFill>
                  <a:srgbClr val="333333"/>
                </a:solidFill>
                <a:latin typeface="Calibri" pitchFamily="34" charset="0"/>
                <a:ea typeface="Calibri" pitchFamily="34" charset="-122"/>
                <a:cs typeface="Calibri" pitchFamily="34" charset="-120"/>
              </a:rPr>
              <a:t>A consolidated dataset containing demographic, environmental, and lesion-specific features for each patient.</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opBar"/>
          <p:cNvSpPr/>
          <p:nvPr/>
        </p:nvSpPr>
        <p:spPr>
          <a:xfrm>
            <a:off x="0" y="0"/>
            <a:ext cx="9144000" cy="960120"/>
          </a:xfrm>
          <a:prstGeom prst="rect">
            <a:avLst/>
          </a:prstGeom>
          <a:solidFill>
            <a:srgbClr val="1A1A1A"/>
          </a:solidFill>
          <a:ln/>
        </p:spPr>
        <p:txBody>
          <a:bodyPr/>
          <a:lstStyle/>
          <a:p>
            <a:endParaRPr lang="en-US"/>
          </a:p>
        </p:txBody>
      </p:sp>
      <p:sp>
        <p:nvSpPr>
          <p:cNvPr id="3" name="OrangeLine"/>
          <p:cNvSpPr/>
          <p:nvPr/>
        </p:nvSpPr>
        <p:spPr>
          <a:xfrm>
            <a:off x="0" y="960120"/>
            <a:ext cx="9144000" cy="54864"/>
          </a:xfrm>
          <a:prstGeom prst="rect">
            <a:avLst/>
          </a:prstGeom>
          <a:solidFill>
            <a:srgbClr val="E8740C"/>
          </a:solidFill>
          <a:ln/>
        </p:spPr>
        <p:txBody>
          <a:bodyPr/>
          <a:lstStyle/>
          <a:p>
            <a:endParaRPr lang="en-US"/>
          </a:p>
        </p:txBody>
      </p:sp>
      <p:sp>
        <p:nvSpPr>
          <p:cNvPr id="4" name="Title"/>
          <p:cNvSpPr/>
          <p:nvPr/>
        </p:nvSpPr>
        <p:spPr>
          <a:xfrm>
            <a:off x="548640" y="137160"/>
            <a:ext cx="7772400" cy="430000"/>
          </a:xfrm>
          <a:prstGeom prst="rect">
            <a:avLst/>
          </a:prstGeom>
          <a:noFill/>
          <a:ln/>
        </p:spPr>
        <p:txBody>
          <a:bodyPr wrap="square" lIns="0" tIns="0" rIns="0" bIns="0" rtlCol="0" anchor="ctr"/>
          <a:lstStyle/>
          <a:p>
            <a:pPr marL="0" indent="0">
              <a:buNone/>
            </a:pPr>
            <a:r>
              <a:rPr lang="en-US" sz="2000" b="1">
                <a:solidFill>
                  <a:srgbClr val="FFFFFF"/>
                </a:solidFill>
                <a:latin typeface="Arial Black"/>
              </a:rPr>
              <a:t>SAMPLE OUTPUT OF ml_dataset</a:t>
            </a:r>
          </a:p>
        </p:txBody>
      </p:sp>
      <p:sp>
        <p:nvSpPr>
          <p:cNvPr id="5" name="Subtitle"/>
          <p:cNvSpPr/>
          <p:nvPr/>
        </p:nvSpPr>
        <p:spPr>
          <a:xfrm>
            <a:off x="548640" y="566928"/>
            <a:ext cx="7772400" cy="320040"/>
          </a:xfrm>
          <a:prstGeom prst="rect">
            <a:avLst/>
          </a:prstGeom>
          <a:noFill/>
          <a:ln/>
        </p:spPr>
        <p:txBody>
          <a:bodyPr wrap="square" lIns="0" tIns="0" rIns="0" bIns="0" rtlCol="0" anchor="ctr"/>
          <a:lstStyle/>
          <a:p>
            <a:pPr marL="0" indent="0">
              <a:buNone/>
            </a:pPr>
            <a:r>
              <a:rPr lang="en-US" sz="1200">
                <a:solidFill>
                  <a:srgbClr val="E8740C"/>
                </a:solidFill>
                <a:latin typeface="Calibri"/>
              </a:rPr>
              <a:t>Structured Data Ready for AI Applications</a:t>
            </a:r>
          </a:p>
        </p:txBody>
      </p:sp>
      <p:sp>
        <p:nvSpPr>
          <p:cNvPr id="6" name="PageNum"/>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a:solidFill>
                  <a:srgbClr val="666666"/>
                </a:solidFill>
                <a:latin typeface="Calibri"/>
              </a:rPr>
              <a:t>28 / 32</a:t>
            </a:r>
          </a:p>
        </p:txBody>
      </p:sp>
      <p:sp>
        <p:nvSpPr>
          <p:cNvPr id="7" name="Footer"/>
          <p:cNvSpPr/>
          <p:nvPr/>
        </p:nvSpPr>
        <p:spPr>
          <a:xfrm>
            <a:off x="548640" y="4800600"/>
            <a:ext cx="3657600" cy="274320"/>
          </a:xfrm>
          <a:prstGeom prst="rect">
            <a:avLst/>
          </a:prstGeom>
          <a:noFill/>
          <a:ln/>
        </p:spPr>
        <p:txBody>
          <a:bodyPr wrap="square" lIns="0" tIns="0" rIns="0" bIns="0" rtlCol="0" anchor="ctr"/>
          <a:lstStyle/>
          <a:p>
            <a:pPr marL="0" indent="0">
              <a:buNone/>
            </a:pPr>
            <a:r>
              <a:rPr lang="en-US" sz="900">
                <a:solidFill>
                  <a:srgbClr val="666666"/>
                </a:solidFill>
                <a:latin typeface="Calibri"/>
              </a:rPr>
              <a:t>Pod Polaris  |  10Alytics</a:t>
            </a:r>
          </a:p>
        </p:txBody>
      </p:sp>
      <p:sp>
        <p:nvSpPr>
          <p:cNvPr id="100" name="QueryBlock"/>
          <p:cNvSpPr/>
          <p:nvPr/>
        </p:nvSpPr>
        <p:spPr>
          <a:xfrm>
            <a:off x="280000" y="1100000"/>
            <a:ext cx="5400000" cy="594576"/>
          </a:xfrm>
          <a:prstGeom prst="rect">
            <a:avLst/>
          </a:prstGeom>
          <a:solidFill>
            <a:srgbClr val="1E1E1E"/>
          </a:solidFill>
          <a:ln/>
        </p:spPr>
        <p:txBody>
          <a:bodyPr/>
          <a:lstStyle/>
          <a:p>
            <a:endParaRPr lang="en-US"/>
          </a:p>
        </p:txBody>
      </p:sp>
      <p:sp>
        <p:nvSpPr>
          <p:cNvPr id="101" name="QueryText"/>
          <p:cNvSpPr/>
          <p:nvPr/>
        </p:nvSpPr>
        <p:spPr>
          <a:xfrm>
            <a:off x="420000" y="1170000"/>
            <a:ext cx="5120000" cy="260000"/>
          </a:xfrm>
          <a:prstGeom prst="rect">
            <a:avLst/>
          </a:prstGeom>
          <a:noFill/>
          <a:ln/>
        </p:spPr>
        <p:txBody>
          <a:bodyPr wrap="square" lIns="0" tIns="0" rIns="0" bIns="0" rtlCol="0" anchor="t"/>
          <a:lstStyle/>
          <a:p>
            <a:pPr marL="0" indent="0">
              <a:buNone/>
            </a:pPr>
            <a:r>
              <a:rPr lang="en-US" sz="1100" dirty="0">
                <a:solidFill>
                  <a:srgbClr val="D4D4D4"/>
                </a:solidFill>
                <a:latin typeface="Consolas" pitchFamily="34" charset="0"/>
                <a:ea typeface="Consolas" pitchFamily="34" charset="-122"/>
                <a:cs typeface="Consolas" pitchFamily="34" charset="-120"/>
              </a:rPr>
              <a:t>Select </a:t>
            </a:r>
            <a:r>
              <a:rPr lang="en-US" sz="1100">
                <a:solidFill>
                  <a:srgbClr val="D4D4D4"/>
                </a:solidFill>
                <a:latin typeface="Consolas" pitchFamily="34" charset="0"/>
                <a:ea typeface="Consolas" pitchFamily="34" charset="-122"/>
                <a:cs typeface="Consolas" pitchFamily="34" charset="-120"/>
              </a:rPr>
              <a:t>* </a:t>
            </a:r>
          </a:p>
          <a:p>
            <a:pPr marL="0" indent="0">
              <a:buNone/>
            </a:pPr>
            <a:r>
              <a:rPr lang="en-US" sz="1100">
                <a:solidFill>
                  <a:srgbClr val="D4D4D4"/>
                </a:solidFill>
                <a:latin typeface="Consolas" pitchFamily="34" charset="0"/>
                <a:ea typeface="Consolas" pitchFamily="34" charset="-122"/>
                <a:cs typeface="Consolas" pitchFamily="34" charset="-120"/>
              </a:rPr>
              <a:t>from ml_dataset </a:t>
            </a:r>
          </a:p>
          <a:p>
            <a:pPr marL="0" indent="0">
              <a:buNone/>
            </a:pPr>
            <a:r>
              <a:rPr lang="en-US" sz="1100">
                <a:solidFill>
                  <a:srgbClr val="D4D4D4"/>
                </a:solidFill>
                <a:latin typeface="Consolas" pitchFamily="34" charset="0"/>
                <a:ea typeface="Consolas" pitchFamily="34" charset="-122"/>
                <a:cs typeface="Consolas" pitchFamily="34" charset="-120"/>
              </a:rPr>
              <a:t>limit 10;</a:t>
            </a:r>
            <a:endParaRPr lang="en-US" sz="1100" dirty="0">
              <a:solidFill>
                <a:srgbClr val="D4D4D4"/>
              </a:solidFill>
              <a:latin typeface="Consolas" pitchFamily="34" charset="0"/>
              <a:ea typeface="Consolas" pitchFamily="34" charset="-122"/>
              <a:cs typeface="Consolas" pitchFamily="34" charset="-120"/>
            </a:endParaRPr>
          </a:p>
        </p:txBody>
      </p:sp>
      <p:graphicFrame>
        <p:nvGraphicFramePr>
          <p:cNvPr id="20" name="DataTable"/>
          <p:cNvGraphicFramePr>
            <a:graphicFrameLocks noGrp="1"/>
          </p:cNvGraphicFramePr>
          <p:nvPr>
            <p:extLst>
              <p:ext uri="{D42A27DB-BD31-4B8C-83A1-F6EECF244321}">
                <p14:modId xmlns:p14="http://schemas.microsoft.com/office/powerpoint/2010/main" val="2897983991"/>
              </p:ext>
            </p:extLst>
          </p:nvPr>
        </p:nvGraphicFramePr>
        <p:xfrm>
          <a:off x="310000" y="1975104"/>
          <a:ext cx="5400000" cy="2804894"/>
        </p:xfrm>
        <a:graphic>
          <a:graphicData uri="http://schemas.openxmlformats.org/drawingml/2006/table">
            <a:tbl>
              <a:tblPr/>
              <a:tblGrid>
                <a:gridCol w="780000">
                  <a:extLst>
                    <a:ext uri="{9D8B030D-6E8A-4147-A177-3AD203B41FA5}">
                      <a16:colId xmlns:a16="http://schemas.microsoft.com/office/drawing/2014/main" val="20000"/>
                    </a:ext>
                  </a:extLst>
                </a:gridCol>
                <a:gridCol w="380000">
                  <a:extLst>
                    <a:ext uri="{9D8B030D-6E8A-4147-A177-3AD203B41FA5}">
                      <a16:colId xmlns:a16="http://schemas.microsoft.com/office/drawing/2014/main" val="20001"/>
                    </a:ext>
                  </a:extLst>
                </a:gridCol>
                <a:gridCol w="560000">
                  <a:extLst>
                    <a:ext uri="{9D8B030D-6E8A-4147-A177-3AD203B41FA5}">
                      <a16:colId xmlns:a16="http://schemas.microsoft.com/office/drawing/2014/main" val="20002"/>
                    </a:ext>
                  </a:extLst>
                </a:gridCol>
                <a:gridCol w="520000">
                  <a:extLst>
                    <a:ext uri="{9D8B030D-6E8A-4147-A177-3AD203B41FA5}">
                      <a16:colId xmlns:a16="http://schemas.microsoft.com/office/drawing/2014/main" val="20003"/>
                    </a:ext>
                  </a:extLst>
                </a:gridCol>
                <a:gridCol w="640000">
                  <a:extLst>
                    <a:ext uri="{9D8B030D-6E8A-4147-A177-3AD203B41FA5}">
                      <a16:colId xmlns:a16="http://schemas.microsoft.com/office/drawing/2014/main" val="20004"/>
                    </a:ext>
                  </a:extLst>
                </a:gridCol>
                <a:gridCol w="640000">
                  <a:extLst>
                    <a:ext uri="{9D8B030D-6E8A-4147-A177-3AD203B41FA5}">
                      <a16:colId xmlns:a16="http://schemas.microsoft.com/office/drawing/2014/main" val="20005"/>
                    </a:ext>
                  </a:extLst>
                </a:gridCol>
                <a:gridCol w="680000">
                  <a:extLst>
                    <a:ext uri="{9D8B030D-6E8A-4147-A177-3AD203B41FA5}">
                      <a16:colId xmlns:a16="http://schemas.microsoft.com/office/drawing/2014/main" val="20006"/>
                    </a:ext>
                  </a:extLst>
                </a:gridCol>
                <a:gridCol w="680000">
                  <a:extLst>
                    <a:ext uri="{9D8B030D-6E8A-4147-A177-3AD203B41FA5}">
                      <a16:colId xmlns:a16="http://schemas.microsoft.com/office/drawing/2014/main" val="20007"/>
                    </a:ext>
                  </a:extLst>
                </a:gridCol>
                <a:gridCol w="520000">
                  <a:extLst>
                    <a:ext uri="{9D8B030D-6E8A-4147-A177-3AD203B41FA5}">
                      <a16:colId xmlns:a16="http://schemas.microsoft.com/office/drawing/2014/main" val="20008"/>
                    </a:ext>
                  </a:extLst>
                </a:gridCol>
              </a:tblGrid>
              <a:tr h="262184">
                <a:tc>
                  <a:txBody>
                    <a:bodyPr/>
                    <a:lstStyle/>
                    <a:p>
                      <a:pPr marL="0" indent="0" algn="ctr">
                        <a:buNone/>
                      </a:pPr>
                      <a:r>
                        <a:rPr lang="en-US" sz="800" b="1">
                          <a:solidFill>
                            <a:srgbClr val="FFFFFF"/>
                          </a:solidFill>
                          <a:latin typeface="Calibri"/>
                        </a:rPr>
                        <a:t>patient_id</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tc>
                  <a:txBody>
                    <a:bodyPr/>
                    <a:lstStyle/>
                    <a:p>
                      <a:pPr marL="0" indent="0" algn="ctr">
                        <a:buNone/>
                      </a:pPr>
                      <a:r>
                        <a:rPr lang="en-US" sz="800" b="1">
                          <a:solidFill>
                            <a:srgbClr val="FFFFFF"/>
                          </a:solidFill>
                          <a:latin typeface="Calibri"/>
                        </a:rPr>
                        <a:t>age</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tc>
                  <a:txBody>
                    <a:bodyPr/>
                    <a:lstStyle/>
                    <a:p>
                      <a:pPr marL="0" indent="0" algn="ctr">
                        <a:buNone/>
                      </a:pPr>
                      <a:r>
                        <a:rPr lang="en-US" sz="800" b="1">
                          <a:solidFill>
                            <a:srgbClr val="FFFFFF"/>
                          </a:solidFill>
                          <a:latin typeface="Calibri"/>
                        </a:rPr>
                        <a:t>gender</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tc>
                  <a:txBody>
                    <a:bodyPr/>
                    <a:lstStyle/>
                    <a:p>
                      <a:pPr marL="0" indent="0" algn="ctr">
                        <a:buNone/>
                      </a:pPr>
                      <a:r>
                        <a:rPr lang="en-US" sz="800" b="1">
                          <a:solidFill>
                            <a:srgbClr val="FFFFFF"/>
                          </a:solidFill>
                          <a:latin typeface="Calibri"/>
                        </a:rPr>
                        <a:t>smoke</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tc>
                  <a:txBody>
                    <a:bodyPr/>
                    <a:lstStyle/>
                    <a:p>
                      <a:pPr marL="0" indent="0" algn="ctr">
                        <a:buNone/>
                      </a:pPr>
                      <a:r>
                        <a:rPr lang="en-US" sz="800" b="1" dirty="0">
                          <a:solidFill>
                            <a:srgbClr val="FFFFFF"/>
                          </a:solidFill>
                          <a:latin typeface="Calibri"/>
                        </a:rPr>
                        <a:t>pesticide</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tc>
                  <a:txBody>
                    <a:bodyPr/>
                    <a:lstStyle/>
                    <a:p>
                      <a:pPr marL="0" indent="0" algn="ctr">
                        <a:buNone/>
                      </a:pPr>
                      <a:r>
                        <a:rPr lang="en-US" sz="800" b="1">
                          <a:solidFill>
                            <a:srgbClr val="FFFFFF"/>
                          </a:solidFill>
                          <a:latin typeface="Calibri"/>
                        </a:rPr>
                        <a:t>diagnostic</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tc>
                  <a:txBody>
                    <a:bodyPr/>
                    <a:lstStyle/>
                    <a:p>
                      <a:pPr marL="0" indent="0" algn="ctr">
                        <a:buNone/>
                      </a:pPr>
                      <a:r>
                        <a:rPr lang="en-US" sz="800" b="1">
                          <a:solidFill>
                            <a:srgbClr val="FFFFFF"/>
                          </a:solidFill>
                          <a:latin typeface="Calibri"/>
                        </a:rPr>
                        <a:t>region</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tc>
                  <a:txBody>
                    <a:bodyPr/>
                    <a:lstStyle/>
                    <a:p>
                      <a:pPr marL="0" indent="0" algn="ctr">
                        <a:buNone/>
                      </a:pPr>
                      <a:r>
                        <a:rPr lang="en-US" sz="800" b="1">
                          <a:solidFill>
                            <a:srgbClr val="FFFFFF"/>
                          </a:solidFill>
                          <a:latin typeface="Calibri"/>
                        </a:rPr>
                        <a:t>lesion_size</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tc>
                  <a:txBody>
                    <a:bodyPr/>
                    <a:lstStyle/>
                    <a:p>
                      <a:pPr marL="0" indent="0" algn="ctr">
                        <a:buNone/>
                      </a:pPr>
                      <a:r>
                        <a:rPr lang="en-US" sz="800" b="1">
                          <a:solidFill>
                            <a:srgbClr val="FFFFFF"/>
                          </a:solidFill>
                          <a:latin typeface="Calibri"/>
                        </a:rPr>
                        <a:t>biopsed</a:t>
                      </a:r>
                    </a:p>
                  </a:txBody>
                  <a:tcPr>
                    <a:lnL w="6350">
                      <a:solidFill>
                        <a:srgbClr val="DDDDDD"/>
                      </a:solidFill>
                    </a:lnL>
                    <a:lnR w="6350">
                      <a:solidFill>
                        <a:srgbClr val="DDDDDD"/>
                      </a:solidFill>
                    </a:lnR>
                    <a:lnT w="6350">
                      <a:solidFill>
                        <a:srgbClr val="DDDDDD"/>
                      </a:solidFill>
                    </a:lnT>
                    <a:lnB w="6350">
                      <a:solidFill>
                        <a:srgbClr val="DDDDDD"/>
                      </a:solidFill>
                    </a:lnB>
                    <a:solidFill>
                      <a:srgbClr val="1A1A1A"/>
                    </a:solidFill>
                  </a:tcPr>
                </a:tc>
                <a:extLst>
                  <a:ext uri="{0D108BD9-81ED-4DB2-BD59-A6C34878D82A}">
                    <a16:rowId xmlns:a16="http://schemas.microsoft.com/office/drawing/2014/main" val="10000"/>
                  </a:ext>
                </a:extLst>
              </a:tr>
              <a:tr h="254271">
                <a:tc>
                  <a:txBody>
                    <a:bodyPr/>
                    <a:lstStyle/>
                    <a:p>
                      <a:pPr marL="0" indent="0" algn="ctr">
                        <a:buNone/>
                      </a:pPr>
                      <a:r>
                        <a:rPr lang="en-US" sz="800">
                          <a:solidFill>
                            <a:srgbClr val="333333"/>
                          </a:solidFill>
                          <a:latin typeface="Calibri"/>
                        </a:rPr>
                        <a:t>PAT_100</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14</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NEV</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FACE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5.00</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TRUE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extLst>
                  <a:ext uri="{0D108BD9-81ED-4DB2-BD59-A6C34878D82A}">
                    <a16:rowId xmlns:a16="http://schemas.microsoft.com/office/drawing/2014/main" val="10001"/>
                  </a:ext>
                </a:extLst>
              </a:tr>
              <a:tr h="254271">
                <a:tc>
                  <a:txBody>
                    <a:bodyPr/>
                    <a:lstStyle/>
                    <a:p>
                      <a:pPr marL="0" indent="0" algn="ctr">
                        <a:buNone/>
                      </a:pPr>
                      <a:r>
                        <a:rPr lang="en-US" sz="800">
                          <a:solidFill>
                            <a:srgbClr val="333333"/>
                          </a:solidFill>
                          <a:latin typeface="Calibri"/>
                        </a:rPr>
                        <a:t>PAT_1000</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65</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dirty="0">
                          <a:solidFill>
                            <a:srgbClr val="333333"/>
                          </a:solidFill>
                          <a:latin typeface="Calibri"/>
                        </a:rPr>
                        <a:t>SEK</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EAR</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0.00</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extLst>
                  <a:ext uri="{0D108BD9-81ED-4DB2-BD59-A6C34878D82A}">
                    <a16:rowId xmlns:a16="http://schemas.microsoft.com/office/drawing/2014/main" val="10002"/>
                  </a:ext>
                </a:extLst>
              </a:tr>
              <a:tr h="254271">
                <a:tc>
                  <a:txBody>
                    <a:bodyPr/>
                    <a:lstStyle/>
                    <a:p>
                      <a:pPr marL="0" indent="0" algn="ctr">
                        <a:buNone/>
                      </a:pPr>
                      <a:r>
                        <a:rPr lang="en-US" sz="800">
                          <a:solidFill>
                            <a:srgbClr val="333333"/>
                          </a:solidFill>
                          <a:latin typeface="Calibri"/>
                        </a:rPr>
                        <a:t>PAT_1006</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63</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ACK</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FOREARM</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0.00</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extLst>
                  <a:ext uri="{0D108BD9-81ED-4DB2-BD59-A6C34878D82A}">
                    <a16:rowId xmlns:a16="http://schemas.microsoft.com/office/drawing/2014/main" val="10003"/>
                  </a:ext>
                </a:extLst>
              </a:tr>
              <a:tr h="254271">
                <a:tc>
                  <a:txBody>
                    <a:bodyPr/>
                    <a:lstStyle/>
                    <a:p>
                      <a:pPr marL="0" indent="0" algn="ctr">
                        <a:buNone/>
                      </a:pPr>
                      <a:r>
                        <a:rPr lang="en-US" sz="800">
                          <a:solidFill>
                            <a:srgbClr val="333333"/>
                          </a:solidFill>
                          <a:latin typeface="Calibri"/>
                        </a:rPr>
                        <a:t>PAT_1008</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64</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SEK</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FACE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0.00</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extLst>
                  <a:ext uri="{0D108BD9-81ED-4DB2-BD59-A6C34878D82A}">
                    <a16:rowId xmlns:a16="http://schemas.microsoft.com/office/drawing/2014/main" val="10004"/>
                  </a:ext>
                </a:extLst>
              </a:tr>
              <a:tr h="254271">
                <a:tc>
                  <a:txBody>
                    <a:bodyPr/>
                    <a:lstStyle/>
                    <a:p>
                      <a:pPr marL="0" indent="0" algn="ctr">
                        <a:buNone/>
                      </a:pPr>
                      <a:r>
                        <a:rPr lang="en-US" sz="800">
                          <a:solidFill>
                            <a:srgbClr val="333333"/>
                          </a:solidFill>
                          <a:latin typeface="Calibri"/>
                        </a:rPr>
                        <a:t>PAT_101</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59</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TRUE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BCC</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NECK</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17.50</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TRUE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extLst>
                  <a:ext uri="{0D108BD9-81ED-4DB2-BD59-A6C34878D82A}">
                    <a16:rowId xmlns:a16="http://schemas.microsoft.com/office/drawing/2014/main" val="10005"/>
                  </a:ext>
                </a:extLst>
              </a:tr>
              <a:tr h="254271">
                <a:tc>
                  <a:txBody>
                    <a:bodyPr/>
                    <a:lstStyle/>
                    <a:p>
                      <a:pPr marL="0" indent="0" algn="ctr">
                        <a:buNone/>
                      </a:pPr>
                      <a:r>
                        <a:rPr lang="en-US" sz="800">
                          <a:solidFill>
                            <a:srgbClr val="333333"/>
                          </a:solidFill>
                          <a:latin typeface="Calibri"/>
                        </a:rPr>
                        <a:t>PAT_1013</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43</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ACK</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BACK</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0.00</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extLst>
                  <a:ext uri="{0D108BD9-81ED-4DB2-BD59-A6C34878D82A}">
                    <a16:rowId xmlns:a16="http://schemas.microsoft.com/office/drawing/2014/main" val="10006"/>
                  </a:ext>
                </a:extLst>
              </a:tr>
              <a:tr h="254271">
                <a:tc>
                  <a:txBody>
                    <a:bodyPr/>
                    <a:lstStyle/>
                    <a:p>
                      <a:pPr marL="0" indent="0" algn="ctr">
                        <a:buNone/>
                      </a:pPr>
                      <a:r>
                        <a:rPr lang="en-US" sz="800">
                          <a:solidFill>
                            <a:srgbClr val="333333"/>
                          </a:solidFill>
                          <a:latin typeface="Calibri"/>
                        </a:rPr>
                        <a:t>PAT_1014</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41</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ACK</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FOREARM</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0.00</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dirty="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extLst>
                  <a:ext uri="{0D108BD9-81ED-4DB2-BD59-A6C34878D82A}">
                    <a16:rowId xmlns:a16="http://schemas.microsoft.com/office/drawing/2014/main" val="10007"/>
                  </a:ext>
                </a:extLst>
              </a:tr>
              <a:tr h="254271">
                <a:tc>
                  <a:txBody>
                    <a:bodyPr/>
                    <a:lstStyle/>
                    <a:p>
                      <a:pPr marL="0" indent="0" algn="ctr">
                        <a:buNone/>
                      </a:pPr>
                      <a:r>
                        <a:rPr lang="en-US" sz="800">
                          <a:solidFill>
                            <a:srgbClr val="333333"/>
                          </a:solidFill>
                          <a:latin typeface="Calibri"/>
                        </a:rPr>
                        <a:t>PAT_1017</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67</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ACK</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FACE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0.00</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extLst>
                  <a:ext uri="{0D108BD9-81ED-4DB2-BD59-A6C34878D82A}">
                    <a16:rowId xmlns:a16="http://schemas.microsoft.com/office/drawing/2014/main" val="10008"/>
                  </a:ext>
                </a:extLst>
              </a:tr>
              <a:tr h="254271">
                <a:tc>
                  <a:txBody>
                    <a:bodyPr/>
                    <a:lstStyle/>
                    <a:p>
                      <a:pPr marL="0" indent="0" algn="ctr">
                        <a:buNone/>
                      </a:pPr>
                      <a:r>
                        <a:rPr lang="en-US" sz="800">
                          <a:solidFill>
                            <a:srgbClr val="333333"/>
                          </a:solidFill>
                          <a:latin typeface="Calibri"/>
                        </a:rPr>
                        <a:t>PAT_1018</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37</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ACK</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ARM</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0.00</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FFFFF"/>
                    </a:solidFill>
                  </a:tcPr>
                </a:tc>
                <a:extLst>
                  <a:ext uri="{0D108BD9-81ED-4DB2-BD59-A6C34878D82A}">
                    <a16:rowId xmlns:a16="http://schemas.microsoft.com/office/drawing/2014/main" val="10009"/>
                  </a:ext>
                </a:extLst>
              </a:tr>
              <a:tr h="254271">
                <a:tc>
                  <a:txBody>
                    <a:bodyPr/>
                    <a:lstStyle/>
                    <a:p>
                      <a:pPr marL="0" indent="0" algn="ctr">
                        <a:buNone/>
                      </a:pPr>
                      <a:r>
                        <a:rPr lang="en-US" sz="800">
                          <a:solidFill>
                            <a:srgbClr val="333333"/>
                          </a:solidFill>
                          <a:latin typeface="Calibri"/>
                        </a:rPr>
                        <a:t>PAT_1019</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48</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MALE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ACK</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ARM</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a:solidFill>
                            <a:srgbClr val="333333"/>
                          </a:solidFill>
                          <a:latin typeface="Calibri"/>
                        </a:rPr>
                        <a:t>0.00</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tc>
                  <a:txBody>
                    <a:bodyPr/>
                    <a:lstStyle/>
                    <a:p>
                      <a:pPr marL="0" indent="0" algn="ctr">
                        <a:buNone/>
                      </a:pPr>
                      <a:r>
                        <a:rPr lang="en-US" sz="800" dirty="0">
                          <a:solidFill>
                            <a:srgbClr val="333333"/>
                          </a:solidFill>
                          <a:latin typeface="Calibri"/>
                        </a:rPr>
                        <a:t>FALSE</a:t>
                      </a:r>
                    </a:p>
                  </a:txBody>
                  <a:tcPr>
                    <a:lnL w="6350">
                      <a:solidFill>
                        <a:srgbClr val="DDDDDD"/>
                      </a:solidFill>
                    </a:lnL>
                    <a:lnR w="6350">
                      <a:solidFill>
                        <a:srgbClr val="DDDDDD"/>
                      </a:solidFill>
                    </a:lnR>
                    <a:lnT w="6350">
                      <a:solidFill>
                        <a:srgbClr val="DDDDDD"/>
                      </a:solidFill>
                    </a:lnT>
                    <a:lnB w="6350">
                      <a:solidFill>
                        <a:srgbClr val="DDDDDD"/>
                      </a:solidFill>
                    </a:lnB>
                    <a:solidFill>
                      <a:srgbClr val="FAFAFA"/>
                    </a:solidFill>
                  </a:tcPr>
                </a:tc>
                <a:extLst>
                  <a:ext uri="{0D108BD9-81ED-4DB2-BD59-A6C34878D82A}">
                    <a16:rowId xmlns:a16="http://schemas.microsoft.com/office/drawing/2014/main" val="10010"/>
                  </a:ext>
                </a:extLst>
              </a:tr>
            </a:tbl>
          </a:graphicData>
        </a:graphic>
      </p:graphicFrame>
      <p:sp>
        <p:nvSpPr>
          <p:cNvPr id="30" name="PanelBg"/>
          <p:cNvSpPr/>
          <p:nvPr/>
        </p:nvSpPr>
        <p:spPr>
          <a:xfrm>
            <a:off x="5840000" y="1130000"/>
            <a:ext cx="3050000" cy="2200000"/>
          </a:xfrm>
          <a:prstGeom prst="rect">
            <a:avLst/>
          </a:prstGeom>
          <a:solidFill>
            <a:srgbClr val="FFF3E6"/>
          </a:solidFill>
          <a:ln/>
        </p:spPr>
        <p:txBody>
          <a:bodyPr/>
          <a:lstStyle/>
          <a:p>
            <a:endParaRPr lang="en-US"/>
          </a:p>
        </p:txBody>
      </p:sp>
      <p:sp>
        <p:nvSpPr>
          <p:cNvPr id="31" name="PanelTitle"/>
          <p:cNvSpPr/>
          <p:nvPr/>
        </p:nvSpPr>
        <p:spPr>
          <a:xfrm>
            <a:off x="5970000" y="1620000"/>
            <a:ext cx="2790000" cy="280000"/>
          </a:xfrm>
          <a:prstGeom prst="rect">
            <a:avLst/>
          </a:prstGeom>
          <a:noFill/>
          <a:ln/>
        </p:spPr>
        <p:txBody>
          <a:bodyPr wrap="square" lIns="0" tIns="0" rIns="0" bIns="0" rtlCol="0" anchor="ctr"/>
          <a:lstStyle/>
          <a:p>
            <a:pPr marL="0" indent="0">
              <a:buNone/>
            </a:pPr>
            <a:r>
              <a:rPr lang="en-US" sz="1200" b="1">
                <a:solidFill>
                  <a:srgbClr val="C45F00"/>
                </a:solidFill>
                <a:latin typeface="Arial Black"/>
              </a:rPr>
              <a:t>DATASET SUMMARY</a:t>
            </a:r>
          </a:p>
        </p:txBody>
      </p:sp>
      <p:sp>
        <p:nvSpPr>
          <p:cNvPr id="32" name="PanelBody"/>
          <p:cNvSpPr/>
          <p:nvPr/>
        </p:nvSpPr>
        <p:spPr>
          <a:xfrm>
            <a:off x="5970000" y="1960000"/>
            <a:ext cx="2790000" cy="1730000"/>
          </a:xfrm>
          <a:prstGeom prst="rect">
            <a:avLst/>
          </a:prstGeom>
          <a:noFill/>
          <a:ln/>
        </p:spPr>
        <p:txBody>
          <a:bodyPr wrap="square" lIns="0" tIns="0" rIns="0" bIns="0" rtlCol="0" anchor="t"/>
          <a:lstStyle/>
          <a:p>
            <a:pPr marL="120000" indent="-120000">
              <a:lnSpc>
                <a:spcPct val="115000"/>
              </a:lnSpc>
              <a:spcAft>
                <a:spcPts val="350"/>
              </a:spcAft>
              <a:buClr>
                <a:srgbClr val="E8740C"/>
              </a:buClr>
              <a:buFont typeface="Arial"/>
              <a:buChar char="•"/>
            </a:pPr>
            <a:r>
              <a:rPr lang="en-US" sz="900" b="1">
                <a:solidFill>
                  <a:srgbClr val="1A1A1A"/>
                </a:solidFill>
                <a:latin typeface="Calibri"/>
              </a:rPr>
              <a:t>9 Features</a:t>
            </a:r>
            <a:r>
              <a:rPr lang="en-US" sz="900">
                <a:solidFill>
                  <a:srgbClr val="333333"/>
                </a:solidFill>
                <a:latin typeface="Calibri"/>
              </a:rPr>
              <a:t> — Per Patient</a:t>
            </a:r>
          </a:p>
          <a:p>
            <a:pPr marL="120000" indent="-120000">
              <a:lnSpc>
                <a:spcPct val="115000"/>
              </a:lnSpc>
              <a:spcAft>
                <a:spcPts val="350"/>
              </a:spcAft>
              <a:buClr>
                <a:srgbClr val="E8740C"/>
              </a:buClr>
              <a:buFont typeface="Arial"/>
              <a:buChar char="•"/>
            </a:pPr>
            <a:r>
              <a:rPr lang="en-US" sz="900" b="1">
                <a:solidFill>
                  <a:srgbClr val="1A1A1A"/>
                </a:solidFill>
                <a:latin typeface="Calibri"/>
              </a:rPr>
              <a:t>Demographic</a:t>
            </a:r>
            <a:r>
              <a:rPr lang="en-US" sz="900">
                <a:solidFill>
                  <a:srgbClr val="333333"/>
                </a:solidFill>
                <a:latin typeface="Calibri"/>
              </a:rPr>
              <a:t> — Age, Gender</a:t>
            </a:r>
          </a:p>
          <a:p>
            <a:pPr marL="120000" indent="-120000">
              <a:lnSpc>
                <a:spcPct val="115000"/>
              </a:lnSpc>
              <a:spcAft>
                <a:spcPts val="350"/>
              </a:spcAft>
              <a:buClr>
                <a:srgbClr val="E8740C"/>
              </a:buClr>
              <a:buFont typeface="Arial"/>
              <a:buChar char="•"/>
            </a:pPr>
            <a:r>
              <a:rPr lang="en-US" sz="900" b="1">
                <a:solidFill>
                  <a:srgbClr val="1A1A1A"/>
                </a:solidFill>
                <a:latin typeface="Calibri"/>
              </a:rPr>
              <a:t>Environmental</a:t>
            </a:r>
            <a:r>
              <a:rPr lang="en-US" sz="900">
                <a:solidFill>
                  <a:srgbClr val="333333"/>
                </a:solidFill>
                <a:latin typeface="Calibri"/>
              </a:rPr>
              <a:t> — Smoking, Pesticide Exposure</a:t>
            </a:r>
          </a:p>
          <a:p>
            <a:pPr marL="120000" indent="-120000">
              <a:lnSpc>
                <a:spcPct val="115000"/>
              </a:lnSpc>
              <a:spcAft>
                <a:spcPts val="350"/>
              </a:spcAft>
              <a:buClr>
                <a:srgbClr val="E8740C"/>
              </a:buClr>
              <a:buFont typeface="Arial"/>
              <a:buChar char="•"/>
            </a:pPr>
            <a:r>
              <a:rPr lang="en-US" sz="900" b="1">
                <a:solidFill>
                  <a:srgbClr val="1A1A1A"/>
                </a:solidFill>
                <a:latin typeface="Calibri"/>
              </a:rPr>
              <a:t>Clinical</a:t>
            </a:r>
            <a:r>
              <a:rPr lang="en-US" sz="900">
                <a:solidFill>
                  <a:srgbClr val="333333"/>
                </a:solidFill>
                <a:latin typeface="Calibri"/>
              </a:rPr>
              <a:t> — Region, Lesion Size</a:t>
            </a:r>
          </a:p>
          <a:p>
            <a:pPr marL="120000" indent="-120000">
              <a:lnSpc>
                <a:spcPct val="115000"/>
              </a:lnSpc>
              <a:spcAft>
                <a:spcPts val="350"/>
              </a:spcAft>
              <a:buClr>
                <a:srgbClr val="E8740C"/>
              </a:buClr>
              <a:buFont typeface="Arial"/>
              <a:buChar char="•"/>
            </a:pPr>
            <a:r>
              <a:rPr lang="en-US" sz="900" b="1">
                <a:solidFill>
                  <a:srgbClr val="1A1A1A"/>
                </a:solidFill>
                <a:latin typeface="Calibri"/>
              </a:rPr>
              <a:t>Diagnostic Outcome</a:t>
            </a:r>
            <a:r>
              <a:rPr lang="en-US" sz="900">
                <a:solidFill>
                  <a:srgbClr val="333333"/>
                </a:solidFill>
                <a:latin typeface="Calibri"/>
              </a:rPr>
              <a:t> — Diagnosis, Biopsy Status</a:t>
            </a:r>
          </a:p>
          <a:p>
            <a:pPr marL="120000" indent="-120000">
              <a:lnSpc>
                <a:spcPct val="115000"/>
              </a:lnSpc>
              <a:spcAft>
                <a:spcPts val="350"/>
              </a:spcAft>
              <a:buClr>
                <a:srgbClr val="E8740C"/>
              </a:buClr>
              <a:buFont typeface="Arial"/>
              <a:buChar char="•"/>
            </a:pPr>
            <a:r>
              <a:rPr lang="en-US" sz="900" b="1">
                <a:solidFill>
                  <a:srgbClr val="1A1A1A"/>
                </a:solidFill>
                <a:latin typeface="Calibri"/>
              </a:rPr>
              <a:t>Ready for</a:t>
            </a:r>
            <a:r>
              <a:rPr lang="en-US" sz="900">
                <a:solidFill>
                  <a:srgbClr val="333333"/>
                </a:solidFill>
                <a:latin typeface="Calibri"/>
              </a:rPr>
              <a:t> — Supervised Machine Learning</a:t>
            </a:r>
          </a:p>
        </p:txBody>
      </p:sp>
      <p:sp>
        <p:nvSpPr>
          <p:cNvPr id="40" name="Caption"/>
          <p:cNvSpPr/>
          <p:nvPr/>
        </p:nvSpPr>
        <p:spPr>
          <a:xfrm>
            <a:off x="5840000" y="3655288"/>
            <a:ext cx="2790000" cy="1050000"/>
          </a:xfrm>
          <a:prstGeom prst="rect">
            <a:avLst/>
          </a:prstGeom>
          <a:solidFill>
            <a:srgbClr val="F5F5F5"/>
          </a:solidFill>
          <a:ln>
            <a:solidFill>
              <a:srgbClr val="E8740C"/>
            </a:solidFill>
          </a:ln>
        </p:spPr>
        <p:txBody>
          <a:bodyPr wrap="square" lIns="180000" tIns="100000" rIns="180000" bIns="100000" rtlCol="0" anchor="ctr"/>
          <a:lstStyle/>
          <a:p>
            <a:pPr marL="0" indent="0">
              <a:buNone/>
            </a:pPr>
            <a:r>
              <a:rPr lang="en-US" sz="1000" b="1" dirty="0">
                <a:solidFill>
                  <a:srgbClr val="E8740C"/>
                </a:solidFill>
                <a:latin typeface="Calibri"/>
              </a:rPr>
              <a:t>Note: </a:t>
            </a:r>
            <a:r>
              <a:rPr lang="en-US" sz="1000" i="1" dirty="0">
                <a:solidFill>
                  <a:srgbClr val="333333"/>
                </a:solidFill>
                <a:latin typeface="Calibri"/>
              </a:rPr>
              <a:t>This query was used to verify that the machine-learning-ready dataset was </a:t>
            </a:r>
            <a:r>
              <a:rPr lang="en-US" sz="1000" i="1">
                <a:solidFill>
                  <a:srgbClr val="333333"/>
                </a:solidFill>
                <a:latin typeface="Calibri"/>
              </a:rPr>
              <a:t>successfully created.</a:t>
            </a:r>
            <a:endParaRPr lang="en-US" sz="1000" i="1" dirty="0">
              <a:solidFill>
                <a:srgbClr val="333333"/>
              </a:solidFill>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opBar"/>
          <p:cNvSpPr/>
          <p:nvPr/>
        </p:nvSpPr>
        <p:spPr>
          <a:xfrm>
            <a:off x="0" y="0"/>
            <a:ext cx="9144000" cy="960120"/>
          </a:xfrm>
          <a:prstGeom prst="rect">
            <a:avLst/>
          </a:prstGeom>
          <a:solidFill>
            <a:srgbClr val="1A1A1A"/>
          </a:solidFill>
          <a:ln/>
        </p:spPr>
        <p:txBody>
          <a:bodyPr/>
          <a:lstStyle/>
          <a:p>
            <a:endParaRPr lang="en-US"/>
          </a:p>
        </p:txBody>
      </p:sp>
      <p:sp>
        <p:nvSpPr>
          <p:cNvPr id="3" name="OrangeLine"/>
          <p:cNvSpPr/>
          <p:nvPr/>
        </p:nvSpPr>
        <p:spPr>
          <a:xfrm>
            <a:off x="0" y="960120"/>
            <a:ext cx="9144000" cy="54864"/>
          </a:xfrm>
          <a:prstGeom prst="rect">
            <a:avLst/>
          </a:prstGeom>
          <a:solidFill>
            <a:srgbClr val="E8740C"/>
          </a:solidFill>
          <a:ln/>
        </p:spPr>
        <p:txBody>
          <a:bodyPr/>
          <a:lstStyle/>
          <a:p>
            <a:endParaRPr lang="en-US"/>
          </a:p>
        </p:txBody>
      </p:sp>
      <p:sp>
        <p:nvSpPr>
          <p:cNvPr id="4" name="Title"/>
          <p:cNvSpPr/>
          <p:nvPr/>
        </p:nvSpPr>
        <p:spPr>
          <a:xfrm>
            <a:off x="548640" y="137160"/>
            <a:ext cx="7772400" cy="430000"/>
          </a:xfrm>
          <a:prstGeom prst="rect">
            <a:avLst/>
          </a:prstGeom>
          <a:noFill/>
          <a:ln/>
        </p:spPr>
        <p:txBody>
          <a:bodyPr wrap="square" lIns="0" tIns="0" rIns="0" bIns="0" rtlCol="0" anchor="ctr"/>
          <a:lstStyle/>
          <a:p>
            <a:pPr marL="0" indent="0">
              <a:buNone/>
            </a:pPr>
            <a:r>
              <a:rPr lang="en-US" sz="2000" b="1">
                <a:solidFill>
                  <a:srgbClr val="FFFFFF"/>
                </a:solidFill>
                <a:latin typeface="Arial Black"/>
              </a:rPr>
              <a:t>POTENTIAL AI APPLICATIONS</a:t>
            </a:r>
          </a:p>
        </p:txBody>
      </p:sp>
      <p:sp>
        <p:nvSpPr>
          <p:cNvPr id="5" name="Subtitle"/>
          <p:cNvSpPr/>
          <p:nvPr/>
        </p:nvSpPr>
        <p:spPr>
          <a:xfrm>
            <a:off x="548640" y="566928"/>
            <a:ext cx="7772400" cy="320040"/>
          </a:xfrm>
          <a:prstGeom prst="rect">
            <a:avLst/>
          </a:prstGeom>
          <a:noFill/>
          <a:ln/>
        </p:spPr>
        <p:txBody>
          <a:bodyPr wrap="square" lIns="0" tIns="0" rIns="0" bIns="0" rtlCol="0" anchor="ctr"/>
          <a:lstStyle/>
          <a:p>
            <a:pPr marL="0" indent="0">
              <a:buNone/>
            </a:pPr>
            <a:r>
              <a:rPr lang="en-US" sz="1200">
                <a:solidFill>
                  <a:srgbClr val="E8740C"/>
                </a:solidFill>
                <a:latin typeface="Calibri"/>
              </a:rPr>
              <a:t>From Structured Data to AI-Driven Healthcare Solutions</a:t>
            </a:r>
          </a:p>
        </p:txBody>
      </p:sp>
      <p:sp>
        <p:nvSpPr>
          <p:cNvPr id="6" name="PageNum"/>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a:solidFill>
                  <a:srgbClr val="666666"/>
                </a:solidFill>
                <a:latin typeface="Calibri"/>
              </a:rPr>
              <a:t>29 / 32</a:t>
            </a:r>
          </a:p>
        </p:txBody>
      </p:sp>
      <p:sp>
        <p:nvSpPr>
          <p:cNvPr id="7" name="Footer"/>
          <p:cNvSpPr/>
          <p:nvPr/>
        </p:nvSpPr>
        <p:spPr>
          <a:xfrm>
            <a:off x="548640" y="4800600"/>
            <a:ext cx="3657600" cy="274320"/>
          </a:xfrm>
          <a:prstGeom prst="rect">
            <a:avLst/>
          </a:prstGeom>
          <a:noFill/>
          <a:ln/>
        </p:spPr>
        <p:txBody>
          <a:bodyPr wrap="square" lIns="0" tIns="0" rIns="0" bIns="0" rtlCol="0" anchor="ctr"/>
          <a:lstStyle/>
          <a:p>
            <a:pPr marL="0" indent="0">
              <a:buNone/>
            </a:pPr>
            <a:r>
              <a:rPr lang="en-US" sz="900">
                <a:solidFill>
                  <a:srgbClr val="666666"/>
                </a:solidFill>
                <a:latin typeface="Calibri"/>
              </a:rPr>
              <a:t>Pod Polaris  |  10Alytics</a:t>
            </a:r>
          </a:p>
        </p:txBody>
      </p:sp>
      <p:sp>
        <p:nvSpPr>
          <p:cNvPr id="10" name="E1Label"/>
          <p:cNvSpPr/>
          <p:nvPr/>
        </p:nvSpPr>
        <p:spPr>
          <a:xfrm>
            <a:off x="548640" y="1130000"/>
            <a:ext cx="3962400" cy="240000"/>
          </a:xfrm>
          <a:prstGeom prst="rect">
            <a:avLst/>
          </a:prstGeom>
          <a:noFill/>
          <a:ln/>
        </p:spPr>
        <p:txBody>
          <a:bodyPr wrap="square" lIns="0" tIns="0" rIns="0" bIns="0" rtlCol="0" anchor="ctr"/>
          <a:lstStyle/>
          <a:p>
            <a:pPr marL="0" indent="0">
              <a:buNone/>
            </a:pPr>
            <a:r>
              <a:rPr lang="en-US" sz="1100" b="1">
                <a:solidFill>
                  <a:srgbClr val="E8740C"/>
                </a:solidFill>
                <a:latin typeface="Arial Black"/>
              </a:rPr>
              <a:t>EXAMPLE 1</a:t>
            </a:r>
          </a:p>
        </p:txBody>
      </p:sp>
      <p:sp>
        <p:nvSpPr>
          <p:cNvPr id="11" name="E1HeadBg"/>
          <p:cNvSpPr/>
          <p:nvPr/>
        </p:nvSpPr>
        <p:spPr>
          <a:xfrm>
            <a:off x="548640" y="1395000"/>
            <a:ext cx="3962400" cy="370000"/>
          </a:xfrm>
          <a:prstGeom prst="rect">
            <a:avLst/>
          </a:prstGeom>
          <a:solidFill>
            <a:srgbClr val="1A1A1A"/>
          </a:solidFill>
          <a:ln/>
        </p:spPr>
        <p:txBody>
          <a:bodyPr wrap="square" lIns="120000" tIns="0" rIns="120000" bIns="0" rtlCol="0" anchor="ctr"/>
          <a:lstStyle/>
          <a:p>
            <a:pPr marL="0" indent="0">
              <a:buNone/>
            </a:pPr>
            <a:r>
              <a:rPr lang="en-US" sz="1300" b="1">
                <a:solidFill>
                  <a:srgbClr val="FFFFFF"/>
                </a:solidFill>
                <a:latin typeface="Arial Black"/>
              </a:rPr>
              <a:t>DIAGNOSIS PREDICTION</a:t>
            </a:r>
          </a:p>
        </p:txBody>
      </p:sp>
      <p:sp>
        <p:nvSpPr>
          <p:cNvPr id="12" name="E1InputBox"/>
          <p:cNvSpPr/>
          <p:nvPr/>
        </p:nvSpPr>
        <p:spPr>
          <a:xfrm>
            <a:off x="548640" y="1790000"/>
            <a:ext cx="3962400" cy="1500000"/>
          </a:xfrm>
          <a:prstGeom prst="rect">
            <a:avLst/>
          </a:prstGeom>
          <a:solidFill>
            <a:srgbClr val="FFF3E6"/>
          </a:solidFill>
          <a:ln/>
        </p:spPr>
        <p:txBody>
          <a:bodyPr wrap="square" lIns="120000" tIns="100000" rIns="120000" bIns="100000" rtlCol="0" anchor="t"/>
          <a:lstStyle/>
          <a:p>
            <a:pPr marL="0" indent="0">
              <a:spcAft>
                <a:spcPts val="300"/>
              </a:spcAft>
              <a:buNone/>
            </a:pPr>
            <a:r>
              <a:rPr lang="en-US" sz="1000" b="1">
                <a:solidFill>
                  <a:srgbClr val="666666"/>
                </a:solidFill>
                <a:latin typeface="Arial Black"/>
              </a:rPr>
              <a:t>INPUT</a:t>
            </a:r>
          </a:p>
          <a:p>
            <a:pPr marL="0" indent="0">
              <a:spcAft>
                <a:spcPts val="200"/>
              </a:spcAft>
              <a:buNone/>
            </a:pPr>
            <a:r>
              <a:rPr lang="en-US" sz="1000">
                <a:solidFill>
                  <a:srgbClr val="666666"/>
                </a:solidFill>
                <a:latin typeface="Calibri"/>
              </a:rPr>
              <a:t>Age: </a:t>
            </a:r>
            <a:r>
              <a:rPr lang="en-US" sz="1000" b="1">
                <a:solidFill>
                  <a:srgbClr val="1A1A1A"/>
                </a:solidFill>
                <a:latin typeface="Calibri"/>
              </a:rPr>
              <a:t>68</a:t>
            </a:r>
          </a:p>
          <a:p>
            <a:pPr marL="0" indent="0">
              <a:spcAft>
                <a:spcPts val="200"/>
              </a:spcAft>
              <a:buNone/>
            </a:pPr>
            <a:r>
              <a:rPr lang="en-US" sz="1000">
                <a:solidFill>
                  <a:srgbClr val="666666"/>
                </a:solidFill>
                <a:latin typeface="Calibri"/>
              </a:rPr>
              <a:t>Gender: </a:t>
            </a:r>
            <a:r>
              <a:rPr lang="en-US" sz="1000" b="1">
                <a:solidFill>
                  <a:srgbClr val="1A1A1A"/>
                </a:solidFill>
                <a:latin typeface="Calibri"/>
              </a:rPr>
              <a:t>Male</a:t>
            </a:r>
          </a:p>
          <a:p>
            <a:pPr marL="0" indent="0">
              <a:spcAft>
                <a:spcPts val="200"/>
              </a:spcAft>
              <a:buNone/>
            </a:pPr>
            <a:r>
              <a:rPr lang="en-US" sz="1000">
                <a:solidFill>
                  <a:srgbClr val="666666"/>
                </a:solidFill>
                <a:latin typeface="Calibri"/>
              </a:rPr>
              <a:t>Region: </a:t>
            </a:r>
            <a:r>
              <a:rPr lang="en-US" sz="1000" b="1">
                <a:solidFill>
                  <a:srgbClr val="1A1A1A"/>
                </a:solidFill>
                <a:latin typeface="Calibri"/>
              </a:rPr>
              <a:t>FACE</a:t>
            </a:r>
          </a:p>
          <a:p>
            <a:pPr marL="0" indent="0">
              <a:spcAft>
                <a:spcPts val="200"/>
              </a:spcAft>
              <a:buNone/>
            </a:pPr>
            <a:r>
              <a:rPr lang="en-US" sz="1000">
                <a:solidFill>
                  <a:srgbClr val="666666"/>
                </a:solidFill>
                <a:latin typeface="Calibri"/>
              </a:rPr>
              <a:t>Lesion Size: </a:t>
            </a:r>
            <a:r>
              <a:rPr lang="en-US" sz="1000" b="1">
                <a:solidFill>
                  <a:srgbClr val="1A1A1A"/>
                </a:solidFill>
                <a:latin typeface="Calibri"/>
              </a:rPr>
              <a:t>10.5 mm</a:t>
            </a:r>
          </a:p>
          <a:p>
            <a:pPr marL="0" indent="0">
              <a:buNone/>
            </a:pPr>
            <a:r>
              <a:rPr lang="en-US" sz="1000">
                <a:solidFill>
                  <a:srgbClr val="666666"/>
                </a:solidFill>
                <a:latin typeface="Calibri"/>
              </a:rPr>
              <a:t>Smoking: </a:t>
            </a:r>
            <a:r>
              <a:rPr lang="en-US" sz="1000" b="1">
                <a:solidFill>
                  <a:srgbClr val="1A1A1A"/>
                </a:solidFill>
                <a:latin typeface="Calibri"/>
              </a:rPr>
              <a:t>Yes</a:t>
            </a:r>
          </a:p>
        </p:txBody>
      </p:sp>
      <p:sp>
        <p:nvSpPr>
          <p:cNvPr id="13" name="E1PredBg"/>
          <p:cNvSpPr/>
          <p:nvPr/>
        </p:nvSpPr>
        <p:spPr>
          <a:xfrm>
            <a:off x="548640" y="3320000"/>
            <a:ext cx="3962400" cy="370000"/>
          </a:xfrm>
          <a:prstGeom prst="rect">
            <a:avLst/>
          </a:prstGeom>
          <a:solidFill>
            <a:srgbClr val="1A1A1A"/>
          </a:solidFill>
          <a:ln/>
        </p:spPr>
        <p:txBody>
          <a:bodyPr wrap="square" lIns="120000" tIns="0" rIns="120000" bIns="0" rtlCol="0" anchor="ctr"/>
          <a:lstStyle/>
          <a:p>
            <a:pPr marL="0" indent="0">
              <a:buNone/>
            </a:pPr>
            <a:r>
              <a:rPr lang="en-US" sz="1100" b="1">
                <a:solidFill>
                  <a:srgbClr val="FFFFFF"/>
                </a:solidFill>
                <a:latin typeface="Arial Black"/>
              </a:rPr>
              <a:t>AI PREDICTION: </a:t>
            </a:r>
            <a:r>
              <a:rPr lang="en-US" sz="1100" b="1">
                <a:solidFill>
                  <a:srgbClr val="E8740C"/>
                </a:solidFill>
                <a:latin typeface="Arial Black"/>
              </a:rPr>
              <a:t>SCC</a:t>
            </a:r>
          </a:p>
        </p:txBody>
      </p:sp>
      <p:sp>
        <p:nvSpPr>
          <p:cNvPr id="14" name="E1Purpose"/>
          <p:cNvSpPr/>
          <p:nvPr/>
        </p:nvSpPr>
        <p:spPr>
          <a:xfrm>
            <a:off x="548640" y="3740000"/>
            <a:ext cx="3962400" cy="900000"/>
          </a:xfrm>
          <a:prstGeom prst="rect">
            <a:avLst/>
          </a:prstGeom>
          <a:noFill/>
          <a:ln/>
        </p:spPr>
        <p:txBody>
          <a:bodyPr wrap="square" lIns="0" tIns="0" rIns="0" bIns="0" rtlCol="0" anchor="t"/>
          <a:lstStyle/>
          <a:p>
            <a:pPr marL="0" indent="0">
              <a:lnSpc>
                <a:spcPct val="130000"/>
              </a:lnSpc>
              <a:buNone/>
            </a:pPr>
            <a:r>
              <a:rPr lang="en-US" sz="1000" b="1">
                <a:solidFill>
                  <a:srgbClr val="666666"/>
                </a:solidFill>
                <a:latin typeface="Calibri"/>
              </a:rPr>
              <a:t>Purpose: </a:t>
            </a:r>
            <a:r>
              <a:rPr lang="en-US" sz="1000">
                <a:solidFill>
                  <a:srgbClr val="333333"/>
                </a:solidFill>
                <a:latin typeface="Calibri"/>
              </a:rPr>
              <a:t>Predict the most likely lesion diagnosis using patient and lesion characteristics.</a:t>
            </a:r>
          </a:p>
        </p:txBody>
      </p:sp>
      <p:sp>
        <p:nvSpPr>
          <p:cNvPr id="20" name="E2Label"/>
          <p:cNvSpPr/>
          <p:nvPr/>
        </p:nvSpPr>
        <p:spPr>
          <a:xfrm>
            <a:off x="4632960" y="1130000"/>
            <a:ext cx="3962400" cy="240000"/>
          </a:xfrm>
          <a:prstGeom prst="rect">
            <a:avLst/>
          </a:prstGeom>
          <a:noFill/>
          <a:ln/>
        </p:spPr>
        <p:txBody>
          <a:bodyPr wrap="square" lIns="0" tIns="0" rIns="0" bIns="0" rtlCol="0" anchor="ctr"/>
          <a:lstStyle/>
          <a:p>
            <a:pPr marL="0" indent="0">
              <a:buNone/>
            </a:pPr>
            <a:r>
              <a:rPr lang="en-US" sz="1100" b="1">
                <a:solidFill>
                  <a:srgbClr val="E8740C"/>
                </a:solidFill>
                <a:latin typeface="Arial Black"/>
              </a:rPr>
              <a:t>EXAMPLE 2</a:t>
            </a:r>
          </a:p>
        </p:txBody>
      </p:sp>
      <p:sp>
        <p:nvSpPr>
          <p:cNvPr id="21" name="E2HeadBg"/>
          <p:cNvSpPr/>
          <p:nvPr/>
        </p:nvSpPr>
        <p:spPr>
          <a:xfrm>
            <a:off x="4632960" y="1395000"/>
            <a:ext cx="3962400" cy="370000"/>
          </a:xfrm>
          <a:prstGeom prst="rect">
            <a:avLst/>
          </a:prstGeom>
          <a:solidFill>
            <a:srgbClr val="1A1A1A"/>
          </a:solidFill>
          <a:ln/>
        </p:spPr>
        <p:txBody>
          <a:bodyPr wrap="square" lIns="120000" tIns="0" rIns="120000" bIns="0" rtlCol="0" anchor="ctr"/>
          <a:lstStyle/>
          <a:p>
            <a:pPr marL="0" indent="0">
              <a:buNone/>
            </a:pPr>
            <a:r>
              <a:rPr lang="en-US" sz="1300" b="1">
                <a:solidFill>
                  <a:srgbClr val="FFFFFF"/>
                </a:solidFill>
                <a:latin typeface="Arial Black"/>
              </a:rPr>
              <a:t>BIOPSY RECOMMENDATION</a:t>
            </a:r>
          </a:p>
        </p:txBody>
      </p:sp>
      <p:sp>
        <p:nvSpPr>
          <p:cNvPr id="22" name="E2InputBox"/>
          <p:cNvSpPr/>
          <p:nvPr/>
        </p:nvSpPr>
        <p:spPr>
          <a:xfrm>
            <a:off x="4632960" y="1790000"/>
            <a:ext cx="3962400" cy="1500000"/>
          </a:xfrm>
          <a:prstGeom prst="rect">
            <a:avLst/>
          </a:prstGeom>
          <a:solidFill>
            <a:srgbClr val="FFF3E6"/>
          </a:solidFill>
          <a:ln/>
        </p:spPr>
        <p:txBody>
          <a:bodyPr wrap="square" lIns="120000" tIns="100000" rIns="120000" bIns="100000" rtlCol="0" anchor="t"/>
          <a:lstStyle/>
          <a:p>
            <a:pPr marL="0" indent="0">
              <a:spcAft>
                <a:spcPts val="300"/>
              </a:spcAft>
              <a:buNone/>
            </a:pPr>
            <a:r>
              <a:rPr lang="en-US" sz="1000" b="1">
                <a:solidFill>
                  <a:srgbClr val="666666"/>
                </a:solidFill>
                <a:latin typeface="Arial Black"/>
              </a:rPr>
              <a:t>INPUT</a:t>
            </a:r>
          </a:p>
          <a:p>
            <a:pPr marL="0" indent="0">
              <a:spcAft>
                <a:spcPts val="200"/>
              </a:spcAft>
              <a:buNone/>
            </a:pPr>
            <a:r>
              <a:rPr lang="en-US" sz="1000">
                <a:solidFill>
                  <a:srgbClr val="666666"/>
                </a:solidFill>
                <a:latin typeface="Calibri"/>
              </a:rPr>
              <a:t>Age: </a:t>
            </a:r>
            <a:r>
              <a:rPr lang="en-US" sz="1000" b="1">
                <a:solidFill>
                  <a:srgbClr val="1A1A1A"/>
                </a:solidFill>
                <a:latin typeface="Calibri"/>
              </a:rPr>
              <a:t>72</a:t>
            </a:r>
          </a:p>
          <a:p>
            <a:pPr marL="0" indent="0">
              <a:spcAft>
                <a:spcPts val="200"/>
              </a:spcAft>
              <a:buNone/>
            </a:pPr>
            <a:r>
              <a:rPr lang="en-US" sz="1000">
                <a:solidFill>
                  <a:srgbClr val="666666"/>
                </a:solidFill>
                <a:latin typeface="Calibri"/>
              </a:rPr>
              <a:t>Region: </a:t>
            </a:r>
            <a:r>
              <a:rPr lang="en-US" sz="1000" b="1">
                <a:solidFill>
                  <a:srgbClr val="1A1A1A"/>
                </a:solidFill>
                <a:latin typeface="Calibri"/>
              </a:rPr>
              <a:t>FACE</a:t>
            </a:r>
          </a:p>
          <a:p>
            <a:pPr marL="0" indent="0">
              <a:spcAft>
                <a:spcPts val="200"/>
              </a:spcAft>
              <a:buNone/>
            </a:pPr>
            <a:r>
              <a:rPr lang="en-US" sz="1000">
                <a:solidFill>
                  <a:srgbClr val="666666"/>
                </a:solidFill>
                <a:latin typeface="Calibri"/>
              </a:rPr>
              <a:t>Lesion Size: </a:t>
            </a:r>
            <a:r>
              <a:rPr lang="en-US" sz="1000" b="1">
                <a:solidFill>
                  <a:srgbClr val="1A1A1A"/>
                </a:solidFill>
                <a:latin typeface="Calibri"/>
              </a:rPr>
              <a:t>14 mm</a:t>
            </a:r>
          </a:p>
          <a:p>
            <a:pPr marL="0" indent="0">
              <a:spcAft>
                <a:spcPts val="200"/>
              </a:spcAft>
              <a:buNone/>
            </a:pPr>
            <a:r>
              <a:rPr lang="en-US" sz="1000">
                <a:solidFill>
                  <a:srgbClr val="666666"/>
                </a:solidFill>
                <a:latin typeface="Calibri"/>
              </a:rPr>
              <a:t>Diagnosis: </a:t>
            </a:r>
            <a:r>
              <a:rPr lang="en-US" sz="1000" b="1">
                <a:solidFill>
                  <a:srgbClr val="1A1A1A"/>
                </a:solidFill>
                <a:latin typeface="Calibri"/>
              </a:rPr>
              <a:t>MEL</a:t>
            </a:r>
          </a:p>
          <a:p>
            <a:pPr marL="0" indent="0">
              <a:buNone/>
            </a:pPr>
            <a:r>
              <a:rPr lang="en-US" sz="1000">
                <a:solidFill>
                  <a:srgbClr val="666666"/>
                </a:solidFill>
                <a:latin typeface="Calibri"/>
              </a:rPr>
              <a:t>Smoking: </a:t>
            </a:r>
            <a:r>
              <a:rPr lang="en-US" sz="1000" b="1">
                <a:solidFill>
                  <a:srgbClr val="1A1A1A"/>
                </a:solidFill>
                <a:latin typeface="Calibri"/>
              </a:rPr>
              <a:t>—</a:t>
            </a:r>
          </a:p>
        </p:txBody>
      </p:sp>
      <p:sp>
        <p:nvSpPr>
          <p:cNvPr id="23" name="E2PredBg"/>
          <p:cNvSpPr/>
          <p:nvPr/>
        </p:nvSpPr>
        <p:spPr>
          <a:xfrm>
            <a:off x="4632960" y="3320000"/>
            <a:ext cx="3962400" cy="370000"/>
          </a:xfrm>
          <a:prstGeom prst="rect">
            <a:avLst/>
          </a:prstGeom>
          <a:solidFill>
            <a:srgbClr val="1A1A1A"/>
          </a:solidFill>
          <a:ln/>
        </p:spPr>
        <p:txBody>
          <a:bodyPr wrap="square" lIns="120000" tIns="0" rIns="120000" bIns="0" rtlCol="0" anchor="ctr"/>
          <a:lstStyle/>
          <a:p>
            <a:pPr marL="0" indent="0">
              <a:buNone/>
            </a:pPr>
            <a:r>
              <a:rPr lang="en-US" sz="1100" b="1">
                <a:solidFill>
                  <a:srgbClr val="FFFFFF"/>
                </a:solidFill>
                <a:latin typeface="Arial Black"/>
              </a:rPr>
              <a:t>AI PREDICTION: </a:t>
            </a:r>
            <a:r>
              <a:rPr lang="en-US" sz="1100" b="1">
                <a:solidFill>
                  <a:srgbClr val="E8740C"/>
                </a:solidFill>
                <a:latin typeface="Arial Black"/>
              </a:rPr>
              <a:t>BIOPSY: YES</a:t>
            </a:r>
          </a:p>
        </p:txBody>
      </p:sp>
      <p:sp>
        <p:nvSpPr>
          <p:cNvPr id="24" name="E2Purpose"/>
          <p:cNvSpPr/>
          <p:nvPr/>
        </p:nvSpPr>
        <p:spPr>
          <a:xfrm>
            <a:off x="4632960" y="3740000"/>
            <a:ext cx="3962400" cy="900000"/>
          </a:xfrm>
          <a:prstGeom prst="rect">
            <a:avLst/>
          </a:prstGeom>
          <a:noFill/>
          <a:ln/>
        </p:spPr>
        <p:txBody>
          <a:bodyPr wrap="square" lIns="0" tIns="0" rIns="0" bIns="0" rtlCol="0" anchor="t"/>
          <a:lstStyle/>
          <a:p>
            <a:pPr marL="0" indent="0">
              <a:lnSpc>
                <a:spcPct val="130000"/>
              </a:lnSpc>
              <a:buNone/>
            </a:pPr>
            <a:r>
              <a:rPr lang="en-US" sz="1000" b="1">
                <a:solidFill>
                  <a:srgbClr val="666666"/>
                </a:solidFill>
                <a:latin typeface="Calibri"/>
              </a:rPr>
              <a:t>Purpose: </a:t>
            </a:r>
            <a:r>
              <a:rPr lang="en-US" sz="1000">
                <a:solidFill>
                  <a:srgbClr val="333333"/>
                </a:solidFill>
                <a:latin typeface="Calibri"/>
              </a:rPr>
              <a:t>Assist clinicians in identifying lesions that may require further investigation.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opBar"/>
          <p:cNvSpPr/>
          <p:nvPr/>
        </p:nvSpPr>
        <p:spPr>
          <a:xfrm>
            <a:off x="0" y="0"/>
            <a:ext cx="9144000" cy="960120"/>
          </a:xfrm>
          <a:prstGeom prst="rect">
            <a:avLst/>
          </a:prstGeom>
          <a:solidFill>
            <a:srgbClr val="1A1A1A"/>
          </a:solidFill>
          <a:ln/>
        </p:spPr>
        <p:txBody>
          <a:bodyPr/>
          <a:lstStyle/>
          <a:p>
            <a:endParaRPr lang="en-US"/>
          </a:p>
        </p:txBody>
      </p:sp>
      <p:sp>
        <p:nvSpPr>
          <p:cNvPr id="3" name="OrangeLine"/>
          <p:cNvSpPr/>
          <p:nvPr/>
        </p:nvSpPr>
        <p:spPr>
          <a:xfrm>
            <a:off x="0" y="960120"/>
            <a:ext cx="9144000" cy="54864"/>
          </a:xfrm>
          <a:prstGeom prst="rect">
            <a:avLst/>
          </a:prstGeom>
          <a:solidFill>
            <a:srgbClr val="E8740C"/>
          </a:solidFill>
          <a:ln/>
        </p:spPr>
        <p:txBody>
          <a:bodyPr/>
          <a:lstStyle/>
          <a:p>
            <a:endParaRPr lang="en-US"/>
          </a:p>
        </p:txBody>
      </p:sp>
      <p:sp>
        <p:nvSpPr>
          <p:cNvPr id="4" name="Title"/>
          <p:cNvSpPr/>
          <p:nvPr/>
        </p:nvSpPr>
        <p:spPr>
          <a:xfrm>
            <a:off x="548640" y="137160"/>
            <a:ext cx="7772400" cy="430000"/>
          </a:xfrm>
          <a:prstGeom prst="rect">
            <a:avLst/>
          </a:prstGeom>
          <a:noFill/>
          <a:ln/>
        </p:spPr>
        <p:txBody>
          <a:bodyPr wrap="square" lIns="0" tIns="0" rIns="0" bIns="0" rtlCol="0" anchor="ctr"/>
          <a:lstStyle/>
          <a:p>
            <a:pPr marL="0" indent="0">
              <a:buNone/>
            </a:pPr>
            <a:r>
              <a:rPr lang="en-US" sz="2000" b="1">
                <a:solidFill>
                  <a:srgbClr val="FFFFFF"/>
                </a:solidFill>
                <a:latin typeface="Arial Black"/>
              </a:rPr>
              <a:t>POTENTIAL AI APPLICATIONS</a:t>
            </a:r>
          </a:p>
        </p:txBody>
      </p:sp>
      <p:sp>
        <p:nvSpPr>
          <p:cNvPr id="5" name="Subtitle"/>
          <p:cNvSpPr/>
          <p:nvPr/>
        </p:nvSpPr>
        <p:spPr>
          <a:xfrm>
            <a:off x="548640" y="566928"/>
            <a:ext cx="7772400" cy="320040"/>
          </a:xfrm>
          <a:prstGeom prst="rect">
            <a:avLst/>
          </a:prstGeom>
          <a:noFill/>
          <a:ln/>
        </p:spPr>
        <p:txBody>
          <a:bodyPr wrap="square" lIns="0" tIns="0" rIns="0" bIns="0" rtlCol="0" anchor="ctr"/>
          <a:lstStyle/>
          <a:p>
            <a:pPr marL="0" indent="0">
              <a:buNone/>
            </a:pPr>
            <a:r>
              <a:rPr lang="en-US" sz="1200">
                <a:solidFill>
                  <a:srgbClr val="E8740C"/>
                </a:solidFill>
                <a:latin typeface="Calibri"/>
              </a:rPr>
              <a:t>From Structured Data to AI-Driven Healthcare Solutions</a:t>
            </a:r>
          </a:p>
        </p:txBody>
      </p:sp>
      <p:sp>
        <p:nvSpPr>
          <p:cNvPr id="6" name="PageNum"/>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a:solidFill>
                  <a:srgbClr val="666666"/>
                </a:solidFill>
                <a:latin typeface="Calibri"/>
              </a:rPr>
              <a:t>30 / 32</a:t>
            </a:r>
          </a:p>
        </p:txBody>
      </p:sp>
      <p:sp>
        <p:nvSpPr>
          <p:cNvPr id="7" name="Footer"/>
          <p:cNvSpPr/>
          <p:nvPr/>
        </p:nvSpPr>
        <p:spPr>
          <a:xfrm>
            <a:off x="548640" y="4800600"/>
            <a:ext cx="3657600" cy="274320"/>
          </a:xfrm>
          <a:prstGeom prst="rect">
            <a:avLst/>
          </a:prstGeom>
          <a:noFill/>
          <a:ln/>
        </p:spPr>
        <p:txBody>
          <a:bodyPr wrap="square" lIns="0" tIns="0" rIns="0" bIns="0" rtlCol="0" anchor="ctr"/>
          <a:lstStyle/>
          <a:p>
            <a:pPr marL="0" indent="0">
              <a:buNone/>
            </a:pPr>
            <a:r>
              <a:rPr lang="en-US" sz="900">
                <a:solidFill>
                  <a:srgbClr val="666666"/>
                </a:solidFill>
                <a:latin typeface="Calibri"/>
              </a:rPr>
              <a:t>Pod Polaris  |  10Alytics</a:t>
            </a:r>
          </a:p>
        </p:txBody>
      </p:sp>
      <p:sp>
        <p:nvSpPr>
          <p:cNvPr id="10" name="E1Label"/>
          <p:cNvSpPr/>
          <p:nvPr/>
        </p:nvSpPr>
        <p:spPr>
          <a:xfrm>
            <a:off x="548640" y="1130000"/>
            <a:ext cx="3962400" cy="240000"/>
          </a:xfrm>
          <a:prstGeom prst="rect">
            <a:avLst/>
          </a:prstGeom>
          <a:noFill/>
          <a:ln/>
        </p:spPr>
        <p:txBody>
          <a:bodyPr wrap="square" lIns="0" tIns="0" rIns="0" bIns="0" rtlCol="0" anchor="ctr"/>
          <a:lstStyle/>
          <a:p>
            <a:pPr marL="0" indent="0">
              <a:buNone/>
            </a:pPr>
            <a:r>
              <a:rPr lang="en-US" sz="1100" b="1">
                <a:solidFill>
                  <a:srgbClr val="E8740C"/>
                </a:solidFill>
                <a:latin typeface="Arial Black"/>
              </a:rPr>
              <a:t>EXAMPLE 3</a:t>
            </a:r>
          </a:p>
        </p:txBody>
      </p:sp>
      <p:sp>
        <p:nvSpPr>
          <p:cNvPr id="11" name="E1HeadBg"/>
          <p:cNvSpPr/>
          <p:nvPr/>
        </p:nvSpPr>
        <p:spPr>
          <a:xfrm>
            <a:off x="548640" y="1395000"/>
            <a:ext cx="3962400" cy="370000"/>
          </a:xfrm>
          <a:prstGeom prst="rect">
            <a:avLst/>
          </a:prstGeom>
          <a:solidFill>
            <a:srgbClr val="1A1A1A"/>
          </a:solidFill>
          <a:ln/>
        </p:spPr>
        <p:txBody>
          <a:bodyPr wrap="square" lIns="120000" tIns="0" rIns="120000" bIns="0" rtlCol="0" anchor="ctr"/>
          <a:lstStyle/>
          <a:p>
            <a:pPr marL="0" indent="0">
              <a:buNone/>
            </a:pPr>
            <a:r>
              <a:rPr lang="en-US" sz="1300" b="1">
                <a:solidFill>
                  <a:srgbClr val="FFFFFF"/>
                </a:solidFill>
                <a:latin typeface="Arial Black"/>
              </a:rPr>
              <a:t>HIGH-RISK PATIENT ID</a:t>
            </a:r>
          </a:p>
        </p:txBody>
      </p:sp>
      <p:sp>
        <p:nvSpPr>
          <p:cNvPr id="12" name="E1InputBox"/>
          <p:cNvSpPr/>
          <p:nvPr/>
        </p:nvSpPr>
        <p:spPr>
          <a:xfrm>
            <a:off x="548640" y="1790000"/>
            <a:ext cx="3962400" cy="1500000"/>
          </a:xfrm>
          <a:prstGeom prst="rect">
            <a:avLst/>
          </a:prstGeom>
          <a:solidFill>
            <a:srgbClr val="FFF3E6"/>
          </a:solidFill>
          <a:ln/>
        </p:spPr>
        <p:txBody>
          <a:bodyPr wrap="square" lIns="120000" tIns="100000" rIns="120000" bIns="100000" rtlCol="0" anchor="t"/>
          <a:lstStyle/>
          <a:p>
            <a:pPr marL="0" indent="0">
              <a:spcAft>
                <a:spcPts val="300"/>
              </a:spcAft>
              <a:buNone/>
            </a:pPr>
            <a:r>
              <a:rPr lang="en-US" sz="1000" b="1">
                <a:solidFill>
                  <a:srgbClr val="666666"/>
                </a:solidFill>
                <a:latin typeface="Arial Black"/>
              </a:rPr>
              <a:t>INPUT</a:t>
            </a:r>
          </a:p>
          <a:p>
            <a:pPr marL="0" indent="0">
              <a:spcAft>
                <a:spcPts val="200"/>
              </a:spcAft>
              <a:buNone/>
            </a:pPr>
            <a:r>
              <a:rPr lang="en-US" sz="1000">
                <a:solidFill>
                  <a:srgbClr val="666666"/>
                </a:solidFill>
                <a:latin typeface="Calibri"/>
              </a:rPr>
              <a:t>Age: </a:t>
            </a:r>
            <a:r>
              <a:rPr lang="en-US" sz="1000" b="1">
                <a:solidFill>
                  <a:srgbClr val="1A1A1A"/>
                </a:solidFill>
                <a:latin typeface="Calibri"/>
              </a:rPr>
              <a:t>70</a:t>
            </a:r>
          </a:p>
          <a:p>
            <a:pPr marL="0" indent="0">
              <a:spcAft>
                <a:spcPts val="200"/>
              </a:spcAft>
              <a:buNone/>
            </a:pPr>
            <a:r>
              <a:rPr lang="en-US" sz="1000">
                <a:solidFill>
                  <a:srgbClr val="666666"/>
                </a:solidFill>
                <a:latin typeface="Calibri"/>
              </a:rPr>
              <a:t>Gender: </a:t>
            </a:r>
            <a:r>
              <a:rPr lang="en-US" sz="1000" b="1">
                <a:solidFill>
                  <a:srgbClr val="1A1A1A"/>
                </a:solidFill>
                <a:latin typeface="Calibri"/>
              </a:rPr>
              <a:t>Male</a:t>
            </a:r>
          </a:p>
          <a:p>
            <a:pPr marL="0" indent="0">
              <a:spcAft>
                <a:spcPts val="200"/>
              </a:spcAft>
              <a:buNone/>
            </a:pPr>
            <a:r>
              <a:rPr lang="en-US" sz="1000">
                <a:solidFill>
                  <a:srgbClr val="666666"/>
                </a:solidFill>
                <a:latin typeface="Calibri"/>
              </a:rPr>
              <a:t>Risk Profile: </a:t>
            </a:r>
            <a:r>
              <a:rPr lang="en-US" sz="1000" b="1">
                <a:solidFill>
                  <a:srgbClr val="1A1A1A"/>
                </a:solidFill>
                <a:latin typeface="Calibri"/>
              </a:rPr>
              <a:t>Yes</a:t>
            </a:r>
          </a:p>
          <a:p>
            <a:pPr marL="0" indent="0">
              <a:spcAft>
                <a:spcPts val="200"/>
              </a:spcAft>
              <a:buNone/>
            </a:pPr>
            <a:r>
              <a:rPr lang="en-US" sz="1000">
                <a:solidFill>
                  <a:srgbClr val="666666"/>
                </a:solidFill>
                <a:latin typeface="Calibri"/>
              </a:rPr>
              <a:t>Pesticide Exposure: </a:t>
            </a:r>
            <a:r>
              <a:rPr lang="en-US" sz="1000" b="1">
                <a:solidFill>
                  <a:srgbClr val="1A1A1A"/>
                </a:solidFill>
                <a:latin typeface="Calibri"/>
              </a:rPr>
              <a:t>Yes</a:t>
            </a:r>
          </a:p>
          <a:p>
            <a:pPr marL="0" indent="0">
              <a:buNone/>
            </a:pPr>
            <a:r>
              <a:rPr lang="en-US" sz="1000">
                <a:solidFill>
                  <a:srgbClr val="666666"/>
                </a:solidFill>
                <a:latin typeface="Calibri"/>
              </a:rPr>
              <a:t>Smoking: </a:t>
            </a:r>
            <a:r>
              <a:rPr lang="en-US" sz="1000" b="1">
                <a:solidFill>
                  <a:srgbClr val="1A1A1A"/>
                </a:solidFill>
                <a:latin typeface="Calibri"/>
              </a:rPr>
              <a:t>Elevated</a:t>
            </a:r>
          </a:p>
        </p:txBody>
      </p:sp>
      <p:sp>
        <p:nvSpPr>
          <p:cNvPr id="13" name="E1PredBg"/>
          <p:cNvSpPr/>
          <p:nvPr/>
        </p:nvSpPr>
        <p:spPr>
          <a:xfrm>
            <a:off x="548640" y="3320000"/>
            <a:ext cx="3962400" cy="370000"/>
          </a:xfrm>
          <a:prstGeom prst="rect">
            <a:avLst/>
          </a:prstGeom>
          <a:solidFill>
            <a:srgbClr val="1A1A1A"/>
          </a:solidFill>
          <a:ln/>
        </p:spPr>
        <p:txBody>
          <a:bodyPr wrap="square" lIns="120000" tIns="0" rIns="120000" bIns="0" rtlCol="0" anchor="ctr"/>
          <a:lstStyle/>
          <a:p>
            <a:pPr marL="0" indent="0">
              <a:buNone/>
            </a:pPr>
            <a:r>
              <a:rPr lang="en-US" sz="1100" b="1">
                <a:solidFill>
                  <a:srgbClr val="FFFFFF"/>
                </a:solidFill>
                <a:latin typeface="Arial Black"/>
              </a:rPr>
              <a:t>AI PREDICTION: </a:t>
            </a:r>
            <a:r>
              <a:rPr lang="en-US" sz="1100" b="1">
                <a:solidFill>
                  <a:srgbClr val="E8740C"/>
                </a:solidFill>
                <a:latin typeface="Arial Black"/>
              </a:rPr>
              <a:t>HIGH-RISK PATIENT</a:t>
            </a:r>
          </a:p>
        </p:txBody>
      </p:sp>
      <p:sp>
        <p:nvSpPr>
          <p:cNvPr id="14" name="E1Purpose"/>
          <p:cNvSpPr/>
          <p:nvPr/>
        </p:nvSpPr>
        <p:spPr>
          <a:xfrm>
            <a:off x="548640" y="3740000"/>
            <a:ext cx="3962400" cy="900000"/>
          </a:xfrm>
          <a:prstGeom prst="rect">
            <a:avLst/>
          </a:prstGeom>
          <a:noFill/>
          <a:ln/>
        </p:spPr>
        <p:txBody>
          <a:bodyPr wrap="square" lIns="0" tIns="0" rIns="0" bIns="0" rtlCol="0" anchor="t"/>
          <a:lstStyle/>
          <a:p>
            <a:pPr marL="0" indent="0">
              <a:lnSpc>
                <a:spcPct val="130000"/>
              </a:lnSpc>
              <a:buNone/>
            </a:pPr>
            <a:r>
              <a:rPr lang="en-US" sz="1000" b="1">
                <a:solidFill>
                  <a:srgbClr val="666666"/>
                </a:solidFill>
                <a:latin typeface="Calibri"/>
              </a:rPr>
              <a:t>Purpose: </a:t>
            </a:r>
            <a:r>
              <a:rPr lang="en-US" sz="1000">
                <a:solidFill>
                  <a:srgbClr val="333333"/>
                </a:solidFill>
                <a:latin typeface="Calibri"/>
              </a:rPr>
              <a:t>Support preventive screening and early intervention for at-risk patients.</a:t>
            </a:r>
          </a:p>
        </p:txBody>
      </p:sp>
      <p:sp>
        <p:nvSpPr>
          <p:cNvPr id="20" name="E2Label"/>
          <p:cNvSpPr/>
          <p:nvPr/>
        </p:nvSpPr>
        <p:spPr>
          <a:xfrm>
            <a:off x="4632960" y="1130000"/>
            <a:ext cx="3962400" cy="240000"/>
          </a:xfrm>
          <a:prstGeom prst="rect">
            <a:avLst/>
          </a:prstGeom>
          <a:noFill/>
          <a:ln/>
        </p:spPr>
        <p:txBody>
          <a:bodyPr wrap="square" lIns="0" tIns="0" rIns="0" bIns="0" rtlCol="0" anchor="ctr"/>
          <a:lstStyle/>
          <a:p>
            <a:pPr marL="0" indent="0">
              <a:buNone/>
            </a:pPr>
            <a:r>
              <a:rPr lang="en-US" sz="1100" b="1">
                <a:solidFill>
                  <a:srgbClr val="E8740C"/>
                </a:solidFill>
                <a:latin typeface="Arial Black"/>
              </a:rPr>
              <a:t>EXAMPLE 4</a:t>
            </a:r>
          </a:p>
        </p:txBody>
      </p:sp>
      <p:sp>
        <p:nvSpPr>
          <p:cNvPr id="21" name="E2HeadBg"/>
          <p:cNvSpPr/>
          <p:nvPr/>
        </p:nvSpPr>
        <p:spPr>
          <a:xfrm>
            <a:off x="4632960" y="1395000"/>
            <a:ext cx="3962400" cy="370000"/>
          </a:xfrm>
          <a:prstGeom prst="rect">
            <a:avLst/>
          </a:prstGeom>
          <a:solidFill>
            <a:srgbClr val="1A1A1A"/>
          </a:solidFill>
          <a:ln/>
        </p:spPr>
        <p:txBody>
          <a:bodyPr wrap="square" lIns="120000" tIns="0" rIns="120000" bIns="0" rtlCol="0" anchor="ctr"/>
          <a:lstStyle/>
          <a:p>
            <a:pPr marL="0" indent="0">
              <a:buNone/>
            </a:pPr>
            <a:r>
              <a:rPr lang="en-US" sz="1300" b="1">
                <a:solidFill>
                  <a:srgbClr val="FFFFFF"/>
                </a:solidFill>
                <a:latin typeface="Arial Black"/>
              </a:rPr>
              <a:t>LESION LOCATION PREDICTION</a:t>
            </a:r>
          </a:p>
        </p:txBody>
      </p:sp>
      <p:sp>
        <p:nvSpPr>
          <p:cNvPr id="22" name="E2InputBox"/>
          <p:cNvSpPr/>
          <p:nvPr/>
        </p:nvSpPr>
        <p:spPr>
          <a:xfrm>
            <a:off x="4632960" y="1790000"/>
            <a:ext cx="3962400" cy="1500000"/>
          </a:xfrm>
          <a:prstGeom prst="rect">
            <a:avLst/>
          </a:prstGeom>
          <a:solidFill>
            <a:srgbClr val="FFF3E6"/>
          </a:solidFill>
          <a:ln/>
        </p:spPr>
        <p:txBody>
          <a:bodyPr wrap="square" lIns="120000" tIns="100000" rIns="120000" bIns="100000" rtlCol="0" anchor="t"/>
          <a:lstStyle/>
          <a:p>
            <a:pPr marL="0" indent="0">
              <a:spcAft>
                <a:spcPts val="300"/>
              </a:spcAft>
              <a:buNone/>
            </a:pPr>
            <a:r>
              <a:rPr lang="en-US" sz="1000" b="1">
                <a:solidFill>
                  <a:srgbClr val="666666"/>
                </a:solidFill>
                <a:latin typeface="Arial Black"/>
              </a:rPr>
              <a:t>INPUT</a:t>
            </a:r>
          </a:p>
          <a:p>
            <a:pPr marL="0" indent="0">
              <a:spcAft>
                <a:spcPts val="200"/>
              </a:spcAft>
              <a:buNone/>
            </a:pPr>
            <a:r>
              <a:rPr lang="en-US" sz="1000">
                <a:solidFill>
                  <a:srgbClr val="666666"/>
                </a:solidFill>
                <a:latin typeface="Calibri"/>
              </a:rPr>
              <a:t>Age: </a:t>
            </a:r>
            <a:r>
              <a:rPr lang="en-US" sz="1000" b="1">
                <a:solidFill>
                  <a:srgbClr val="1A1A1A"/>
                </a:solidFill>
                <a:latin typeface="Calibri"/>
              </a:rPr>
              <a:t>65</a:t>
            </a:r>
          </a:p>
          <a:p>
            <a:pPr marL="0" indent="0">
              <a:spcAft>
                <a:spcPts val="200"/>
              </a:spcAft>
              <a:buNone/>
            </a:pPr>
            <a:r>
              <a:rPr lang="en-US" sz="1000">
                <a:solidFill>
                  <a:srgbClr val="666666"/>
                </a:solidFill>
                <a:latin typeface="Calibri"/>
              </a:rPr>
              <a:t>Gender: </a:t>
            </a:r>
            <a:r>
              <a:rPr lang="en-US" sz="1000" b="1">
                <a:solidFill>
                  <a:srgbClr val="1A1A1A"/>
                </a:solidFill>
                <a:latin typeface="Calibri"/>
              </a:rPr>
              <a:t>Male</a:t>
            </a:r>
          </a:p>
          <a:p>
            <a:pPr marL="0" indent="0">
              <a:spcAft>
                <a:spcPts val="200"/>
              </a:spcAft>
              <a:buNone/>
            </a:pPr>
            <a:r>
              <a:rPr lang="en-US" sz="1000">
                <a:solidFill>
                  <a:srgbClr val="666666"/>
                </a:solidFill>
                <a:latin typeface="Calibri"/>
              </a:rPr>
              <a:t>Lesion Size: </a:t>
            </a:r>
            <a:r>
              <a:rPr lang="en-US" sz="1000" b="1">
                <a:solidFill>
                  <a:srgbClr val="1A1A1A"/>
                </a:solidFill>
                <a:latin typeface="Calibri"/>
              </a:rPr>
              <a:t>ACK</a:t>
            </a:r>
          </a:p>
          <a:p>
            <a:pPr marL="0" indent="0">
              <a:spcAft>
                <a:spcPts val="200"/>
              </a:spcAft>
              <a:buNone/>
            </a:pPr>
            <a:r>
              <a:rPr lang="en-US" sz="1000">
                <a:solidFill>
                  <a:srgbClr val="666666"/>
                </a:solidFill>
                <a:latin typeface="Calibri"/>
              </a:rPr>
              <a:t>Diagnosis: </a:t>
            </a:r>
            <a:r>
              <a:rPr lang="en-US" sz="1000" b="1">
                <a:solidFill>
                  <a:srgbClr val="1A1A1A"/>
                </a:solidFill>
                <a:latin typeface="Calibri"/>
              </a:rPr>
              <a:t>8.0 mm</a:t>
            </a:r>
          </a:p>
          <a:p>
            <a:pPr marL="0" indent="0">
              <a:buNone/>
            </a:pPr>
            <a:r>
              <a:rPr lang="en-US" sz="1000">
                <a:solidFill>
                  <a:srgbClr val="666666"/>
                </a:solidFill>
                <a:latin typeface="Calibri"/>
              </a:rPr>
              <a:t>Smoking: </a:t>
            </a:r>
            <a:r>
              <a:rPr lang="en-US" sz="1000" b="1">
                <a:solidFill>
                  <a:srgbClr val="1A1A1A"/>
                </a:solidFill>
                <a:latin typeface="Calibri"/>
              </a:rPr>
              <a:t>—</a:t>
            </a:r>
          </a:p>
        </p:txBody>
      </p:sp>
      <p:sp>
        <p:nvSpPr>
          <p:cNvPr id="23" name="E2PredBg"/>
          <p:cNvSpPr/>
          <p:nvPr/>
        </p:nvSpPr>
        <p:spPr>
          <a:xfrm>
            <a:off x="4632960" y="3320000"/>
            <a:ext cx="3962400" cy="370000"/>
          </a:xfrm>
          <a:prstGeom prst="rect">
            <a:avLst/>
          </a:prstGeom>
          <a:solidFill>
            <a:srgbClr val="1A1A1A"/>
          </a:solidFill>
          <a:ln/>
        </p:spPr>
        <p:txBody>
          <a:bodyPr wrap="square" lIns="120000" tIns="0" rIns="120000" bIns="0" rtlCol="0" anchor="ctr"/>
          <a:lstStyle/>
          <a:p>
            <a:pPr marL="0" indent="0">
              <a:buNone/>
            </a:pPr>
            <a:r>
              <a:rPr lang="en-US" sz="1100" b="1">
                <a:solidFill>
                  <a:srgbClr val="FFFFFF"/>
                </a:solidFill>
                <a:latin typeface="Arial Black"/>
              </a:rPr>
              <a:t>AI PREDICTION: </a:t>
            </a:r>
            <a:r>
              <a:rPr lang="en-US" sz="1100" b="1">
                <a:solidFill>
                  <a:srgbClr val="E8740C"/>
                </a:solidFill>
                <a:latin typeface="Arial Black"/>
              </a:rPr>
              <a:t>REGION: FACE</a:t>
            </a:r>
          </a:p>
        </p:txBody>
      </p:sp>
      <p:sp>
        <p:nvSpPr>
          <p:cNvPr id="24" name="E2Purpose"/>
          <p:cNvSpPr/>
          <p:nvPr/>
        </p:nvSpPr>
        <p:spPr>
          <a:xfrm>
            <a:off x="4632960" y="3740000"/>
            <a:ext cx="3962400" cy="900000"/>
          </a:xfrm>
          <a:prstGeom prst="rect">
            <a:avLst/>
          </a:prstGeom>
          <a:noFill/>
          <a:ln/>
        </p:spPr>
        <p:txBody>
          <a:bodyPr wrap="square" lIns="0" tIns="0" rIns="0" bIns="0" rtlCol="0" anchor="t"/>
          <a:lstStyle/>
          <a:p>
            <a:pPr marL="0" indent="0">
              <a:lnSpc>
                <a:spcPct val="130000"/>
              </a:lnSpc>
              <a:buNone/>
            </a:pPr>
            <a:r>
              <a:rPr lang="en-US" sz="1000" b="1">
                <a:solidFill>
                  <a:srgbClr val="666666"/>
                </a:solidFill>
                <a:latin typeface="Calibri"/>
              </a:rPr>
              <a:t>Purpose: </a:t>
            </a:r>
            <a:r>
              <a:rPr lang="en-US" sz="1000">
                <a:solidFill>
                  <a:srgbClr val="333333"/>
                </a:solidFill>
                <a:latin typeface="Calibri"/>
              </a:rPr>
              <a:t>Support research into lesion distribution patterns and disease presentation.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1A1A"/>
          </a:solidFill>
          <a:ln/>
        </p:spPr>
        <p:txBody>
          <a:bodyPr/>
          <a:lstStyle/>
          <a:p>
            <a:endParaRPr lang="en-US"/>
          </a:p>
        </p:txBody>
      </p:sp>
      <p:sp>
        <p:nvSpPr>
          <p:cNvPr id="3" name="Shape 1"/>
          <p:cNvSpPr/>
          <p:nvPr/>
        </p:nvSpPr>
        <p:spPr>
          <a:xfrm>
            <a:off x="0" y="960120"/>
            <a:ext cx="9144000" cy="54864"/>
          </a:xfrm>
          <a:prstGeom prst="rect">
            <a:avLst/>
          </a:prstGeom>
          <a:solidFill>
            <a:srgbClr val="E8740C"/>
          </a:solidFill>
          <a:ln/>
        </p:spPr>
        <p:txBody>
          <a:bodyPr/>
          <a:lstStyle/>
          <a:p>
            <a:endParaRPr lang="en-US"/>
          </a:p>
        </p:txBody>
      </p:sp>
      <p:sp>
        <p:nvSpPr>
          <p:cNvPr id="4" name="Text 2"/>
          <p:cNvSpPr/>
          <p:nvPr/>
        </p:nvSpPr>
        <p:spPr>
          <a:xfrm>
            <a:off x="548640" y="137160"/>
            <a:ext cx="7772400" cy="50292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CONCLUSION</a:t>
            </a:r>
            <a:endParaRPr lang="en-US" sz="2200" dirty="0"/>
          </a:p>
        </p:txBody>
      </p:sp>
      <p:sp>
        <p:nvSpPr>
          <p:cNvPr id="5" name="Text 3"/>
          <p:cNvSpPr/>
          <p:nvPr/>
        </p:nvSpPr>
        <p:spPr>
          <a:xfrm>
            <a:off x="548640" y="566928"/>
            <a:ext cx="7772400" cy="320040"/>
          </a:xfrm>
          <a:prstGeom prst="rect">
            <a:avLst/>
          </a:prstGeom>
          <a:noFill/>
          <a:ln/>
        </p:spPr>
        <p:txBody>
          <a:bodyPr wrap="square" lIns="0" tIns="0" rIns="0" bIns="0" rtlCol="0" anchor="ctr"/>
          <a:lstStyle/>
          <a:p>
            <a:pPr marL="0" indent="0">
              <a:buNone/>
            </a:pPr>
            <a:r>
              <a:rPr lang="en-US" sz="1200" dirty="0">
                <a:solidFill>
                  <a:srgbClr val="E8740C"/>
                </a:solidFill>
                <a:latin typeface="Calibri" pitchFamily="34" charset="0"/>
                <a:ea typeface="Calibri" pitchFamily="34" charset="-122"/>
                <a:cs typeface="Calibri" pitchFamily="34" charset="-120"/>
              </a:rPr>
              <a:t>Project Summary &amp; Impact</a:t>
            </a:r>
            <a:endParaRPr lang="en-US" sz="1200" dirty="0"/>
          </a:p>
        </p:txBody>
      </p:sp>
      <p:sp>
        <p:nvSpPr>
          <p:cNvPr id="8" name="Text 6"/>
          <p:cNvSpPr/>
          <p:nvPr/>
        </p:nvSpPr>
        <p:spPr>
          <a:xfrm>
            <a:off x="914400" y="1737360"/>
            <a:ext cx="7315200" cy="2514600"/>
          </a:xfrm>
          <a:prstGeom prst="rect">
            <a:avLst/>
          </a:prstGeom>
          <a:noFill/>
          <a:ln/>
        </p:spPr>
        <p:txBody>
          <a:bodyPr wrap="square" lIns="91440" tIns="45720" rIns="91440" bIns="45720" rtlCol="0" anchor="ctr"/>
          <a:lstStyle/>
          <a:p>
            <a:pPr marL="0" indent="0" algn="ctr">
              <a:lnSpc>
                <a:spcPct val="160000"/>
              </a:lnSpc>
              <a:buNone/>
            </a:pPr>
            <a:r>
              <a:rPr lang="en-US" sz="1300">
                <a:solidFill>
                  <a:srgbClr val="333333"/>
                </a:solidFill>
                <a:latin typeface="Calibri" pitchFamily="34" charset="0"/>
                <a:ea typeface="Calibri" pitchFamily="34" charset="-122"/>
                <a:cs typeface="Calibri" pitchFamily="34" charset="-120"/>
              </a:rPr>
              <a:t>This project successfully used SQL to analyze skin lesion data and identify patterns in diagnoses, demographics, risk factors, lesion characteristics, and biopsy status. The findings showed that ACK was the most common lesion type, melanoma had the largest average lesion size, and lesions were more frequently observed among males, older adults, and in the face and forearm regions. Patterns related to smoking status, pesticide exposure, and biopsy confirmation provided additional insights into factors associated with skin lesions. Overall, the project demonstrates the value of SQL in supporting healthcare data analysis, dermatological research, and future machine learning applications.</a:t>
            </a:r>
            <a:endParaRPr lang="en-US" sz="1300"/>
          </a:p>
        </p:txBody>
      </p:sp>
      <p:sp>
        <p:nvSpPr>
          <p:cNvPr id="6" name="Text 4"/>
          <p:cNvSpPr/>
          <p:nvPr/>
        </p:nvSpPr>
        <p:spPr>
          <a:xfrm>
            <a:off x="7772400" y="4800600"/>
            <a:ext cx="914400" cy="274320"/>
          </a:xfrm>
          <a:prstGeom prst="rect">
            <a:avLst/>
          </a:prstGeom>
          <a:noFill/>
          <a:ln/>
        </p:spPr>
        <p:txBody>
          <a:bodyPr wrap="square" lIns="0" tIns="0" rIns="0" bIns="0" rtlCol="0" anchor="ctr"/>
          <a:lstStyle/>
          <a:p>
            <a:pPr marL="0" indent="0" algn="r">
              <a:buNone/>
            </a:pPr>
            <a:r>
              <a:rPr lang="en-US" sz="900">
                <a:solidFill>
                  <a:srgbClr val="666666"/>
                </a:solidFill>
                <a:latin typeface="Calibri" pitchFamily="34" charset="0"/>
                <a:ea typeface="Calibri" pitchFamily="34" charset="-122"/>
                <a:cs typeface="Calibri" pitchFamily="34" charset="-120"/>
              </a:rPr>
              <a:t>31 </a:t>
            </a:r>
            <a:r>
              <a:rPr lang="en-US" sz="900" dirty="0">
                <a:solidFill>
                  <a:srgbClr val="666666"/>
                </a:solidFill>
                <a:latin typeface="Calibri" pitchFamily="34" charset="0"/>
                <a:ea typeface="Calibri" pitchFamily="34" charset="-122"/>
                <a:cs typeface="Calibri" pitchFamily="34" charset="-120"/>
              </a:rPr>
              <a:t>/ </a:t>
            </a:r>
            <a:r>
              <a:rPr lang="en-US" sz="900">
                <a:solidFill>
                  <a:srgbClr val="666666"/>
                </a:solidFill>
                <a:latin typeface="Calibri" pitchFamily="34" charset="0"/>
                <a:ea typeface="Calibri" pitchFamily="34" charset="-122"/>
                <a:cs typeface="Calibri" pitchFamily="34" charset="-120"/>
              </a:rPr>
              <a:t>32</a:t>
            </a:r>
            <a:endParaRPr lang="en-US" sz="900" dirty="0"/>
          </a:p>
        </p:txBody>
      </p:sp>
      <p:sp>
        <p:nvSpPr>
          <p:cNvPr id="7" name="Text 5"/>
          <p:cNvSpPr/>
          <p:nvPr/>
        </p:nvSpPr>
        <p:spPr>
          <a:xfrm>
            <a:off x="548640" y="480060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Pod Polaris  |  10Alytics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8740C"/>
          </a:solidFill>
          <a:ln/>
        </p:spPr>
        <p:txBody>
          <a:bodyPr/>
          <a:lstStyle/>
          <a:p>
            <a:endParaRPr lang="en-US"/>
          </a:p>
        </p:txBody>
      </p:sp>
      <p:sp>
        <p:nvSpPr>
          <p:cNvPr id="3" name="Shape 1"/>
          <p:cNvSpPr/>
          <p:nvPr/>
        </p:nvSpPr>
        <p:spPr>
          <a:xfrm>
            <a:off x="0" y="5070348"/>
            <a:ext cx="9144000" cy="73152"/>
          </a:xfrm>
          <a:prstGeom prst="rect">
            <a:avLst/>
          </a:prstGeom>
          <a:solidFill>
            <a:srgbClr val="E8740C"/>
          </a:solidFill>
          <a:ln/>
        </p:spPr>
        <p:txBody>
          <a:bodyPr/>
          <a:lstStyle/>
          <a:p>
            <a:endParaRPr lang="en-US"/>
          </a:p>
        </p:txBody>
      </p:sp>
      <p:sp>
        <p:nvSpPr>
          <p:cNvPr id="4" name="Shape 2"/>
          <p:cNvSpPr/>
          <p:nvPr/>
        </p:nvSpPr>
        <p:spPr>
          <a:xfrm>
            <a:off x="5669280" y="274320"/>
            <a:ext cx="457200" cy="457200"/>
          </a:xfrm>
          <a:prstGeom prst="rect">
            <a:avLst/>
          </a:prstGeom>
          <a:solidFill>
            <a:srgbClr val="E8740C">
              <a:alpha val="15000"/>
            </a:srgbClr>
          </a:solidFill>
          <a:ln/>
        </p:spPr>
        <p:txBody>
          <a:bodyPr/>
          <a:lstStyle/>
          <a:p>
            <a:endParaRPr lang="en-US"/>
          </a:p>
        </p:txBody>
      </p:sp>
      <p:sp>
        <p:nvSpPr>
          <p:cNvPr id="5" name="Shape 3"/>
          <p:cNvSpPr/>
          <p:nvPr/>
        </p:nvSpPr>
        <p:spPr>
          <a:xfrm>
            <a:off x="6309360" y="731520"/>
            <a:ext cx="457200" cy="457200"/>
          </a:xfrm>
          <a:prstGeom prst="rect">
            <a:avLst/>
          </a:prstGeom>
          <a:solidFill>
            <a:srgbClr val="E8740C">
              <a:alpha val="15000"/>
            </a:srgbClr>
          </a:solidFill>
          <a:ln/>
        </p:spPr>
        <p:txBody>
          <a:bodyPr/>
          <a:lstStyle/>
          <a:p>
            <a:endParaRPr lang="en-US"/>
          </a:p>
        </p:txBody>
      </p:sp>
      <p:sp>
        <p:nvSpPr>
          <p:cNvPr id="6" name="Shape 4"/>
          <p:cNvSpPr/>
          <p:nvPr/>
        </p:nvSpPr>
        <p:spPr>
          <a:xfrm>
            <a:off x="6949440" y="1188720"/>
            <a:ext cx="457200" cy="457200"/>
          </a:xfrm>
          <a:prstGeom prst="rect">
            <a:avLst/>
          </a:prstGeom>
          <a:solidFill>
            <a:srgbClr val="E8740C">
              <a:alpha val="15000"/>
            </a:srgbClr>
          </a:solidFill>
          <a:ln/>
        </p:spPr>
        <p:txBody>
          <a:bodyPr/>
          <a:lstStyle/>
          <a:p>
            <a:endParaRPr lang="en-US"/>
          </a:p>
        </p:txBody>
      </p:sp>
      <p:sp>
        <p:nvSpPr>
          <p:cNvPr id="7" name="Shape 5"/>
          <p:cNvSpPr/>
          <p:nvPr/>
        </p:nvSpPr>
        <p:spPr>
          <a:xfrm>
            <a:off x="7589520" y="1645920"/>
            <a:ext cx="457200" cy="457200"/>
          </a:xfrm>
          <a:prstGeom prst="rect">
            <a:avLst/>
          </a:prstGeom>
          <a:solidFill>
            <a:srgbClr val="E8740C">
              <a:alpha val="15000"/>
            </a:srgbClr>
          </a:solidFill>
          <a:ln/>
        </p:spPr>
        <p:txBody>
          <a:bodyPr/>
          <a:lstStyle/>
          <a:p>
            <a:endParaRPr lang="en-US"/>
          </a:p>
        </p:txBody>
      </p:sp>
      <p:sp>
        <p:nvSpPr>
          <p:cNvPr id="8" name="Shape 6"/>
          <p:cNvSpPr/>
          <p:nvPr/>
        </p:nvSpPr>
        <p:spPr>
          <a:xfrm>
            <a:off x="8229600" y="2103120"/>
            <a:ext cx="457200" cy="457200"/>
          </a:xfrm>
          <a:prstGeom prst="rect">
            <a:avLst/>
          </a:prstGeom>
          <a:solidFill>
            <a:srgbClr val="E8740C">
              <a:alpha val="15000"/>
            </a:srgbClr>
          </a:solidFill>
          <a:ln/>
        </p:spPr>
        <p:txBody>
          <a:bodyPr/>
          <a:lstStyle/>
          <a:p>
            <a:endParaRPr lang="en-US"/>
          </a:p>
        </p:txBody>
      </p:sp>
      <p:sp>
        <p:nvSpPr>
          <p:cNvPr id="9" name="Text 7"/>
          <p:cNvSpPr/>
          <p:nvPr/>
        </p:nvSpPr>
        <p:spPr>
          <a:xfrm>
            <a:off x="731520" y="1371600"/>
            <a:ext cx="7680960" cy="914400"/>
          </a:xfrm>
          <a:prstGeom prst="rect">
            <a:avLst/>
          </a:prstGeom>
          <a:noFill/>
          <a:ln/>
        </p:spPr>
        <p:txBody>
          <a:bodyPr wrap="square" lIns="0" tIns="0" rIns="0" bIns="0" rtlCol="0" anchor="ctr"/>
          <a:lstStyle/>
          <a:p>
            <a:pPr marL="0" indent="0">
              <a:buNone/>
            </a:pPr>
            <a:r>
              <a:rPr lang="en-US" sz="4400" b="1" dirty="0">
                <a:solidFill>
                  <a:srgbClr val="FFFFFF"/>
                </a:solidFill>
                <a:latin typeface="Arial Black" pitchFamily="34" charset="0"/>
                <a:ea typeface="Arial Black" pitchFamily="34" charset="-122"/>
                <a:cs typeface="Arial Black" pitchFamily="34" charset="-120"/>
              </a:rPr>
              <a:t>THANK YOU</a:t>
            </a:r>
            <a:endParaRPr lang="en-US" sz="4400" dirty="0"/>
          </a:p>
        </p:txBody>
      </p:sp>
      <p:sp>
        <p:nvSpPr>
          <p:cNvPr id="10" name="Shape 8"/>
          <p:cNvSpPr/>
          <p:nvPr/>
        </p:nvSpPr>
        <p:spPr>
          <a:xfrm>
            <a:off x="731520" y="2423160"/>
            <a:ext cx="2286000" cy="36576"/>
          </a:xfrm>
          <a:prstGeom prst="rect">
            <a:avLst/>
          </a:prstGeom>
          <a:solidFill>
            <a:srgbClr val="E8740C"/>
          </a:solidFill>
          <a:ln/>
        </p:spPr>
        <p:txBody>
          <a:bodyPr/>
          <a:lstStyle/>
          <a:p>
            <a:endParaRPr lang="en-US"/>
          </a:p>
        </p:txBody>
      </p:sp>
      <p:sp>
        <p:nvSpPr>
          <p:cNvPr id="11" name="Text 9"/>
          <p:cNvSpPr/>
          <p:nvPr/>
        </p:nvSpPr>
        <p:spPr>
          <a:xfrm>
            <a:off x="731520" y="2743200"/>
            <a:ext cx="4572000" cy="3657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Pod Polaris</a:t>
            </a:r>
            <a:endParaRPr lang="en-US" sz="1800" dirty="0"/>
          </a:p>
        </p:txBody>
      </p:sp>
      <p:sp>
        <p:nvSpPr>
          <p:cNvPr id="12" name="Text 10"/>
          <p:cNvSpPr/>
          <p:nvPr/>
        </p:nvSpPr>
        <p:spPr>
          <a:xfrm>
            <a:off x="731520" y="3154680"/>
            <a:ext cx="4572000" cy="320040"/>
          </a:xfrm>
          <a:prstGeom prst="rect">
            <a:avLst/>
          </a:prstGeom>
          <a:noFill/>
          <a:ln/>
        </p:spPr>
        <p:txBody>
          <a:bodyPr wrap="square" lIns="0" tIns="0" rIns="0" bIns="0" rtlCol="0" anchor="ctr"/>
          <a:lstStyle/>
          <a:p>
            <a:pPr marL="0" indent="0">
              <a:buNone/>
            </a:pPr>
            <a:r>
              <a:rPr lang="en-US" sz="1400" dirty="0">
                <a:solidFill>
                  <a:srgbClr val="E8740C"/>
                </a:solidFill>
                <a:latin typeface="Calibri" pitchFamily="34" charset="0"/>
                <a:ea typeface="Calibri" pitchFamily="34" charset="-122"/>
                <a:cs typeface="Calibri" pitchFamily="34" charset="-120"/>
              </a:rPr>
              <a:t>10Alytics Data Scientist Program</a:t>
            </a:r>
            <a:endParaRPr lang="en-US" sz="1400" dirty="0"/>
          </a:p>
        </p:txBody>
      </p:sp>
      <p:sp>
        <p:nvSpPr>
          <p:cNvPr id="13" name="Text 11"/>
          <p:cNvSpPr/>
          <p:nvPr/>
        </p:nvSpPr>
        <p:spPr>
          <a:xfrm>
            <a:off x="731520" y="3657600"/>
            <a:ext cx="4572000" cy="548640"/>
          </a:xfrm>
          <a:prstGeom prst="rect">
            <a:avLst/>
          </a:prstGeom>
          <a:noFill/>
          <a:ln/>
        </p:spPr>
        <p:txBody>
          <a:bodyPr wrap="square" lIns="0" tIns="0" rIns="0" bIns="0" rtlCol="0" anchor="ctr"/>
          <a:lstStyle/>
          <a:p>
            <a:pPr marL="0" indent="0">
              <a:buNone/>
            </a:pPr>
            <a:r>
              <a:rPr lang="en-US" sz="1200" dirty="0">
                <a:solidFill>
                  <a:srgbClr val="666666"/>
                </a:solidFill>
                <a:latin typeface="Calibri" pitchFamily="34" charset="0"/>
                <a:ea typeface="Calibri" pitchFamily="34" charset="-122"/>
                <a:cs typeface="Calibri" pitchFamily="34" charset="-120"/>
              </a:rPr>
              <a:t>SQL-Based Analysis of Skin Cancer Lesions</a:t>
            </a:r>
            <a:endParaRPr lang="en-US" sz="1200" dirty="0"/>
          </a:p>
          <a:p>
            <a:pPr marL="0" indent="0">
              <a:buNone/>
            </a:pPr>
            <a:endParaRPr lang="en-US" sz="1200" dirty="0"/>
          </a:p>
        </p:txBody>
      </p:sp>
      <p:sp>
        <p:nvSpPr>
          <p:cNvPr id="14" name="Text 12"/>
          <p:cNvSpPr/>
          <p:nvPr/>
        </p:nvSpPr>
        <p:spPr>
          <a:xfrm>
            <a:off x="731520" y="3881628"/>
            <a:ext cx="4572000" cy="274320"/>
          </a:xfrm>
          <a:prstGeom prst="rect">
            <a:avLst/>
          </a:prstGeom>
          <a:noFill/>
          <a:ln/>
        </p:spPr>
        <p:txBody>
          <a:bodyPr wrap="square" lIns="0" tIns="0" rIns="0" bIns="0" rtlCol="0" anchor="ctr"/>
          <a:lstStyle/>
          <a:p>
            <a:pPr marL="0" indent="0">
              <a:buNone/>
            </a:pPr>
            <a:r>
              <a:rPr lang="en-US" sz="1200" dirty="0">
                <a:solidFill>
                  <a:srgbClr val="666666"/>
                </a:solidFill>
                <a:latin typeface="Calibri" pitchFamily="34" charset="0"/>
                <a:ea typeface="Calibri" pitchFamily="34" charset="-122"/>
                <a:cs typeface="Calibri" pitchFamily="34" charset="-120"/>
              </a:rPr>
              <a:t>June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2977</TotalTime>
  <Words>3986</Words>
  <Application>Microsoft Office PowerPoint</Application>
  <PresentationFormat>On-screen Show (16:9)</PresentationFormat>
  <Paragraphs>915</Paragraphs>
  <Slides>32</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Setorwu Yaa Adevor</dc:creator>
  <cp:lastModifiedBy>Setorwu Yaa Adevor</cp:lastModifiedBy>
  <cp:revision>4</cp:revision>
  <dcterms:created xsi:type="dcterms:W3CDTF">2026-06-02T16:51:53Z</dcterms:created>
  <dcterms:modified xsi:type="dcterms:W3CDTF">2026-06-09T23:00:45Z</dcterms:modified>
</cp:coreProperties>
</file>